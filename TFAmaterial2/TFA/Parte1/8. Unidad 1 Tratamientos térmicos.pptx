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4.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comments/comment1.xml" ContentType="application/vnd.openxmlformats-officedocument.presentationml.comments+xml"/>
  <Override PartName="/ppt/comments/comment2.xml" ContentType="application/vnd.openxmlformats-officedocument.presentationml.comment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77" r:id="rId5"/>
    <p:sldMasterId id="2147483665" r:id="rId6"/>
    <p:sldMasterId id="2147483671" r:id="rId7"/>
    <p:sldMasterId id="2147483687" r:id="rId8"/>
  </p:sldMasterIdLst>
  <p:notesMasterIdLst>
    <p:notesMasterId r:id="rId19"/>
  </p:notesMasterIdLst>
  <p:handoutMasterIdLst>
    <p:handoutMasterId r:id="rId20"/>
  </p:handoutMasterIdLst>
  <p:sldIdLst>
    <p:sldId id="259" r:id="rId9"/>
    <p:sldId id="624" r:id="rId10"/>
    <p:sldId id="648" r:id="rId11"/>
    <p:sldId id="617" r:id="rId12"/>
    <p:sldId id="646" r:id="rId13"/>
    <p:sldId id="622" r:id="rId14"/>
    <p:sldId id="605" r:id="rId15"/>
    <p:sldId id="650" r:id="rId16"/>
    <p:sldId id="581" r:id="rId17"/>
    <p:sldId id="649" r:id="rId18"/>
  </p:sldIdLst>
  <p:sldSz cx="12192000" cy="6858000"/>
  <p:notesSz cx="6858000" cy="9144000"/>
  <p:defaultText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rla Siri Silva Ramos" initials="PSSR" lastIdx="5" clrIdx="0">
    <p:extLst>
      <p:ext uri="{19B8F6BF-5375-455C-9EA6-DF929625EA0E}">
        <p15:presenceInfo xmlns:p15="http://schemas.microsoft.com/office/powerpoint/2012/main" userId="Perla Siri Silva Ramo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C1F1C"/>
    <a:srgbClr val="502F57"/>
    <a:srgbClr val="6B3F74"/>
    <a:srgbClr val="49100F"/>
    <a:srgbClr val="003863"/>
    <a:srgbClr val="00467A"/>
    <a:srgbClr val="F5F5F5"/>
    <a:srgbClr val="071321"/>
    <a:srgbClr val="2D2D2D"/>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52" autoAdjust="0"/>
    <p:restoredTop sz="75639" autoAdjust="0"/>
  </p:normalViewPr>
  <p:slideViewPr>
    <p:cSldViewPr snapToGrid="0" snapToObjects="1">
      <p:cViewPr varScale="1">
        <p:scale>
          <a:sx n="39" d="100"/>
          <a:sy n="39" d="100"/>
        </p:scale>
        <p:origin x="40" y="284"/>
      </p:cViewPr>
      <p:guideLst/>
    </p:cSldViewPr>
  </p:slideViewPr>
  <p:notesTextViewPr>
    <p:cViewPr>
      <p:scale>
        <a:sx n="1" d="1"/>
        <a:sy n="1" d="1"/>
      </p:scale>
      <p:origin x="0" y="0"/>
    </p:cViewPr>
  </p:notesTextViewPr>
  <p:notesViewPr>
    <p:cSldViewPr snapToGrid="0" snapToObjects="1">
      <p:cViewPr varScale="1">
        <p:scale>
          <a:sx n="135" d="100"/>
          <a:sy n="135" d="100"/>
        </p:scale>
        <p:origin x="4768" y="1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slide" Target="slides/slide10.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viewProps" Target="viewProps.xml"/><Relationship Id="rId10" Type="http://schemas.openxmlformats.org/officeDocument/2006/relationships/slide" Target="slides/slide2.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1-09-16T00:45:03.498" idx="1">
    <p:pos x="4711" y="1152"/>
    <p:text>gráfico temperatura - tiempo</p:text>
    <p:extLst>
      <p:ext uri="{C676402C-5697-4E1C-873F-D02D1690AC5C}">
        <p15:threadingInfo xmlns:p15="http://schemas.microsoft.com/office/powerpoint/2012/main" timeZoneBias="300"/>
      </p:ext>
    </p:extLst>
  </p:cm>
  <p:cm authorId="1" dt="2021-09-16T00:45:24.614" idx="2">
    <p:pos x="6305" y="761"/>
    <p:text>recomendación de tiempo en el horno: 1 hora por pulagado de espesor</p:text>
    <p:extLst>
      <p:ext uri="{C676402C-5697-4E1C-873F-D02D1690AC5C}">
        <p15:threadingInfo xmlns:p15="http://schemas.microsoft.com/office/powerpoint/2012/main" timeZoneBias="30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1-09-16T00:50:08.588" idx="3">
    <p:pos x="5082" y="926"/>
    <p:text>la temperatura crítica depende del material y el diagrama me dice cuál es para cada aleación específica</p:text>
    <p:extLst>
      <p:ext uri="{C676402C-5697-4E1C-873F-D02D1690AC5C}">
        <p15:threadingInfo xmlns:p15="http://schemas.microsoft.com/office/powerpoint/2012/main" timeZoneBias="300"/>
      </p:ext>
    </p:extLst>
  </p:cm>
  <p:cm authorId="1" dt="2021-09-16T00:53:39.382" idx="4">
    <p:pos x="2725" y="2685"/>
    <p:text>RECODIDO -&gt; calentamiento a alta temperatura y un enfriamiento lento, generalmente ablandan los materiales metálicos</p:text>
    <p:extLst>
      <p:ext uri="{C676402C-5697-4E1C-873F-D02D1690AC5C}">
        <p15:threadingInfo xmlns:p15="http://schemas.microsoft.com/office/powerpoint/2012/main" timeZoneBias="300"/>
      </p:ext>
    </p:extLst>
  </p:cm>
  <p:cm authorId="1" dt="2021-09-16T00:55:11.124" idx="5">
    <p:pos x="2600" y="3478"/>
    <p:text>TEMPLE -&gt; Calentamiento a alta temperatura y un enfriamiento rápido</p:text>
    <p:extLst>
      <p:ext uri="{C676402C-5697-4E1C-873F-D02D1690AC5C}">
        <p15:threadingInfo xmlns:p15="http://schemas.microsoft.com/office/powerpoint/2012/main" timeZoneBias="30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_tradnl"/>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DCE8EB5-DE48-F24A-B215-EF730B6D3427}" type="datetimeFigureOut">
              <a:rPr lang="es-ES_tradnl" smtClean="0"/>
              <a:t>16/09/2021</a:t>
            </a:fld>
            <a:endParaRPr lang="es-ES_tradnl"/>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s-ES_tradnl"/>
              <a:t>NOMBRE DEL CURSO</a:t>
            </a:r>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2EE056A-1C47-B447-B8E2-AF77A5E3D297}" type="slidenum">
              <a:rPr lang="es-ES_tradnl" smtClean="0"/>
              <a:t>‹Nº›</a:t>
            </a:fld>
            <a:endParaRPr lang="es-ES_tradnl"/>
          </a:p>
        </p:txBody>
      </p:sp>
    </p:spTree>
    <p:extLst>
      <p:ext uri="{BB962C8B-B14F-4D97-AF65-F5344CB8AC3E}">
        <p14:creationId xmlns:p14="http://schemas.microsoft.com/office/powerpoint/2010/main" val="117282308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_tradn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461A33-96CE-D140-AE12-CADEA53986D9}" type="datetimeFigureOut">
              <a:rPr lang="es-ES_tradnl" smtClean="0"/>
              <a:t>16/09/2021</a:t>
            </a:fld>
            <a:endParaRPr lang="es-ES_tradn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_tradn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s-ES_tradnl"/>
              <a:t>NOMBRE DEL CURSO</a:t>
            </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7BA044-50DB-F44C-B114-6D0E1C923AFF}" type="slidenum">
              <a:rPr lang="es-ES_tradnl" smtClean="0"/>
              <a:t>‹Nº›</a:t>
            </a:fld>
            <a:endParaRPr lang="es-ES_tradnl"/>
          </a:p>
        </p:txBody>
      </p:sp>
    </p:spTree>
    <p:extLst>
      <p:ext uri="{BB962C8B-B14F-4D97-AF65-F5344CB8AC3E}">
        <p14:creationId xmlns:p14="http://schemas.microsoft.com/office/powerpoint/2010/main" val="52290385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9CC06726-C4DA-4966-92CE-C9413327AA4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defRPr>
                <a:solidFill>
                  <a:schemeClr val="tx1"/>
                </a:solidFill>
                <a:latin typeface="Arial" panose="020B0604020202020204" pitchFamily="34" charset="0"/>
              </a:defRPr>
            </a:lvl1pPr>
            <a:lvl2pPr marL="742950" indent="-285750" defTabSz="942975">
              <a:defRPr>
                <a:solidFill>
                  <a:schemeClr val="tx1"/>
                </a:solidFill>
                <a:latin typeface="Arial" panose="020B0604020202020204" pitchFamily="34" charset="0"/>
              </a:defRPr>
            </a:lvl2pPr>
            <a:lvl3pPr marL="1143000" indent="-228600" defTabSz="942975">
              <a:defRPr>
                <a:solidFill>
                  <a:schemeClr val="tx1"/>
                </a:solidFill>
                <a:latin typeface="Arial" panose="020B0604020202020204" pitchFamily="34" charset="0"/>
              </a:defRPr>
            </a:lvl3pPr>
            <a:lvl4pPr marL="1600200" indent="-228600" defTabSz="942975">
              <a:defRPr>
                <a:solidFill>
                  <a:schemeClr val="tx1"/>
                </a:solidFill>
                <a:latin typeface="Arial" panose="020B0604020202020204" pitchFamily="34" charset="0"/>
              </a:defRPr>
            </a:lvl4pPr>
            <a:lvl5pPr marL="2057400" indent="-228600" defTabSz="942975">
              <a:defRPr>
                <a:solidFill>
                  <a:schemeClr val="tx1"/>
                </a:solidFill>
                <a:latin typeface="Arial" panose="020B0604020202020204" pitchFamily="34" charset="0"/>
              </a:defRPr>
            </a:lvl5pPr>
            <a:lvl6pPr marL="2514600" indent="-228600" defTabSz="942975" eaLnBrk="0" fontAlgn="base" hangingPunct="0">
              <a:spcBef>
                <a:spcPct val="0"/>
              </a:spcBef>
              <a:spcAft>
                <a:spcPct val="0"/>
              </a:spcAft>
              <a:defRPr>
                <a:solidFill>
                  <a:schemeClr val="tx1"/>
                </a:solidFill>
                <a:latin typeface="Arial" panose="020B0604020202020204" pitchFamily="34" charset="0"/>
              </a:defRPr>
            </a:lvl6pPr>
            <a:lvl7pPr marL="2971800" indent="-228600" defTabSz="942975" eaLnBrk="0" fontAlgn="base" hangingPunct="0">
              <a:spcBef>
                <a:spcPct val="0"/>
              </a:spcBef>
              <a:spcAft>
                <a:spcPct val="0"/>
              </a:spcAft>
              <a:defRPr>
                <a:solidFill>
                  <a:schemeClr val="tx1"/>
                </a:solidFill>
                <a:latin typeface="Arial" panose="020B0604020202020204" pitchFamily="34" charset="0"/>
              </a:defRPr>
            </a:lvl7pPr>
            <a:lvl8pPr marL="3429000" indent="-228600" defTabSz="942975" eaLnBrk="0" fontAlgn="base" hangingPunct="0">
              <a:spcBef>
                <a:spcPct val="0"/>
              </a:spcBef>
              <a:spcAft>
                <a:spcPct val="0"/>
              </a:spcAft>
              <a:defRPr>
                <a:solidFill>
                  <a:schemeClr val="tx1"/>
                </a:solidFill>
                <a:latin typeface="Arial" panose="020B0604020202020204" pitchFamily="34" charset="0"/>
              </a:defRPr>
            </a:lvl8pPr>
            <a:lvl9pPr marL="3886200" indent="-228600" defTabSz="942975" eaLnBrk="0" fontAlgn="base" hangingPunct="0">
              <a:spcBef>
                <a:spcPct val="0"/>
              </a:spcBef>
              <a:spcAft>
                <a:spcPct val="0"/>
              </a:spcAft>
              <a:defRPr>
                <a:solidFill>
                  <a:schemeClr val="tx1"/>
                </a:solidFill>
                <a:latin typeface="Arial" panose="020B0604020202020204" pitchFamily="34" charset="0"/>
              </a:defRPr>
            </a:lvl9pPr>
          </a:lstStyle>
          <a:p>
            <a:fld id="{799A8E89-ADFC-4D3F-AF0E-BC74ACF6CFB6}" type="slidenum">
              <a:rPr lang="en-GB" altLang="es-PE" smtClean="0"/>
              <a:pPr/>
              <a:t>4</a:t>
            </a:fld>
            <a:endParaRPr lang="en-GB" altLang="es-PE"/>
          </a:p>
        </p:txBody>
      </p:sp>
      <p:sp>
        <p:nvSpPr>
          <p:cNvPr id="14339" name="Rectangle 2">
            <a:extLst>
              <a:ext uri="{FF2B5EF4-FFF2-40B4-BE49-F238E27FC236}">
                <a16:creationId xmlns:a16="http://schemas.microsoft.com/office/drawing/2014/main" id="{04243E20-2E5C-442A-BCEA-A16AFC78A6AB}"/>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id="{999D60FE-E607-4A9B-B224-F8CF96DA09C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s-PE">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Tanto recubrimientos como procesos termoquímicos son tratamientos que nos permiten diferenciar un comportamiento periférico, respecto del comportamiento interno de la pieza.</a:t>
            </a:r>
          </a:p>
          <a:p>
            <a:r>
              <a:rPr lang="es-MX" dirty="0"/>
              <a:t>Recubrimientos: Proteger contra la corrosión, inclemencias o exigencias del medio ambiente que rodea a la pieza o para dar una mejor apariencia. algunos influyen en una mejora de propiedades de la pieza internamente</a:t>
            </a:r>
          </a:p>
          <a:p>
            <a:endParaRPr lang="es-PE" dirty="0"/>
          </a:p>
        </p:txBody>
      </p:sp>
      <p:sp>
        <p:nvSpPr>
          <p:cNvPr id="4" name="Marcador de número de diapositiva 3"/>
          <p:cNvSpPr>
            <a:spLocks noGrp="1"/>
          </p:cNvSpPr>
          <p:nvPr>
            <p:ph type="sldNum" sz="quarter" idx="5"/>
          </p:nvPr>
        </p:nvSpPr>
        <p:spPr/>
        <p:txBody>
          <a:bodyPr/>
          <a:lstStyle/>
          <a:p>
            <a:fld id="{847BA044-50DB-F44C-B114-6D0E1C923AFF}" type="slidenum">
              <a:rPr lang="es-ES_tradnl" smtClean="0"/>
              <a:t>8</a:t>
            </a:fld>
            <a:endParaRPr lang="es-ES_tradnl"/>
          </a:p>
        </p:txBody>
      </p:sp>
    </p:spTree>
    <p:extLst>
      <p:ext uri="{BB962C8B-B14F-4D97-AF65-F5344CB8AC3E}">
        <p14:creationId xmlns:p14="http://schemas.microsoft.com/office/powerpoint/2010/main" val="3864840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D38B9290-48CD-4D50-BD5E-5051D26229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defRPr>
                <a:solidFill>
                  <a:schemeClr val="tx1"/>
                </a:solidFill>
                <a:latin typeface="Arial" panose="020B0604020202020204" pitchFamily="34" charset="0"/>
              </a:defRPr>
            </a:lvl1pPr>
            <a:lvl2pPr marL="742950" indent="-285750" defTabSz="942975">
              <a:defRPr>
                <a:solidFill>
                  <a:schemeClr val="tx1"/>
                </a:solidFill>
                <a:latin typeface="Arial" panose="020B0604020202020204" pitchFamily="34" charset="0"/>
              </a:defRPr>
            </a:lvl2pPr>
            <a:lvl3pPr marL="1143000" indent="-228600" defTabSz="942975">
              <a:defRPr>
                <a:solidFill>
                  <a:schemeClr val="tx1"/>
                </a:solidFill>
                <a:latin typeface="Arial" panose="020B0604020202020204" pitchFamily="34" charset="0"/>
              </a:defRPr>
            </a:lvl3pPr>
            <a:lvl4pPr marL="1600200" indent="-228600" defTabSz="942975">
              <a:defRPr>
                <a:solidFill>
                  <a:schemeClr val="tx1"/>
                </a:solidFill>
                <a:latin typeface="Arial" panose="020B0604020202020204" pitchFamily="34" charset="0"/>
              </a:defRPr>
            </a:lvl4pPr>
            <a:lvl5pPr marL="2057400" indent="-228600" defTabSz="942975">
              <a:defRPr>
                <a:solidFill>
                  <a:schemeClr val="tx1"/>
                </a:solidFill>
                <a:latin typeface="Arial" panose="020B0604020202020204" pitchFamily="34" charset="0"/>
              </a:defRPr>
            </a:lvl5pPr>
            <a:lvl6pPr marL="2514600" indent="-228600" defTabSz="942975" eaLnBrk="0" fontAlgn="base" hangingPunct="0">
              <a:spcBef>
                <a:spcPct val="0"/>
              </a:spcBef>
              <a:spcAft>
                <a:spcPct val="0"/>
              </a:spcAft>
              <a:defRPr>
                <a:solidFill>
                  <a:schemeClr val="tx1"/>
                </a:solidFill>
                <a:latin typeface="Arial" panose="020B0604020202020204" pitchFamily="34" charset="0"/>
              </a:defRPr>
            </a:lvl6pPr>
            <a:lvl7pPr marL="2971800" indent="-228600" defTabSz="942975" eaLnBrk="0" fontAlgn="base" hangingPunct="0">
              <a:spcBef>
                <a:spcPct val="0"/>
              </a:spcBef>
              <a:spcAft>
                <a:spcPct val="0"/>
              </a:spcAft>
              <a:defRPr>
                <a:solidFill>
                  <a:schemeClr val="tx1"/>
                </a:solidFill>
                <a:latin typeface="Arial" panose="020B0604020202020204" pitchFamily="34" charset="0"/>
              </a:defRPr>
            </a:lvl7pPr>
            <a:lvl8pPr marL="3429000" indent="-228600" defTabSz="942975" eaLnBrk="0" fontAlgn="base" hangingPunct="0">
              <a:spcBef>
                <a:spcPct val="0"/>
              </a:spcBef>
              <a:spcAft>
                <a:spcPct val="0"/>
              </a:spcAft>
              <a:defRPr>
                <a:solidFill>
                  <a:schemeClr val="tx1"/>
                </a:solidFill>
                <a:latin typeface="Arial" panose="020B0604020202020204" pitchFamily="34" charset="0"/>
              </a:defRPr>
            </a:lvl8pPr>
            <a:lvl9pPr marL="3886200" indent="-228600" defTabSz="942975" eaLnBrk="0" fontAlgn="base" hangingPunct="0">
              <a:spcBef>
                <a:spcPct val="0"/>
              </a:spcBef>
              <a:spcAft>
                <a:spcPct val="0"/>
              </a:spcAft>
              <a:defRPr>
                <a:solidFill>
                  <a:schemeClr val="tx1"/>
                </a:solidFill>
                <a:latin typeface="Arial" panose="020B0604020202020204" pitchFamily="34" charset="0"/>
              </a:defRPr>
            </a:lvl9pPr>
          </a:lstStyle>
          <a:p>
            <a:fld id="{F27F85BF-0C59-4BA5-9221-58895B9E7C21}" type="slidenum">
              <a:rPr lang="en-GB" altLang="es-PE" smtClean="0"/>
              <a:pPr/>
              <a:t>9</a:t>
            </a:fld>
            <a:endParaRPr lang="en-GB" altLang="es-PE"/>
          </a:p>
        </p:txBody>
      </p:sp>
      <p:sp>
        <p:nvSpPr>
          <p:cNvPr id="16387" name="Rectangle 2">
            <a:extLst>
              <a:ext uri="{FF2B5EF4-FFF2-40B4-BE49-F238E27FC236}">
                <a16:creationId xmlns:a16="http://schemas.microsoft.com/office/drawing/2014/main" id="{EDD67B22-6748-4142-95D5-F52A6783FAD8}"/>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3E8B74BE-F21E-4FAA-888D-41B06F6407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s-PE">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rtada">
    <p:spTree>
      <p:nvGrpSpPr>
        <p:cNvPr id="1" name=""/>
        <p:cNvGrpSpPr/>
        <p:nvPr/>
      </p:nvGrpSpPr>
      <p:grpSpPr>
        <a:xfrm>
          <a:off x="0" y="0"/>
          <a:ext cx="0" cy="0"/>
          <a:chOff x="0" y="0"/>
          <a:chExt cx="0" cy="0"/>
        </a:xfrm>
      </p:grpSpPr>
      <p:pic>
        <p:nvPicPr>
          <p:cNvPr id="16" name="Imagen 1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2000" cy="6858000"/>
          </a:xfrm>
          <a:prstGeom prst="rect">
            <a:avLst/>
          </a:prstGeom>
        </p:spPr>
      </p:pic>
      <p:sp>
        <p:nvSpPr>
          <p:cNvPr id="13" name="Título 1"/>
          <p:cNvSpPr>
            <a:spLocks noGrp="1"/>
          </p:cNvSpPr>
          <p:nvPr>
            <p:ph type="ctrTitle" hasCustomPrompt="1"/>
          </p:nvPr>
        </p:nvSpPr>
        <p:spPr>
          <a:xfrm>
            <a:off x="611974" y="2388977"/>
            <a:ext cx="8024025" cy="2338544"/>
          </a:xfrm>
        </p:spPr>
        <p:txBody>
          <a:bodyPr anchor="b"/>
          <a:lstStyle>
            <a:lvl1pPr algn="l">
              <a:defRPr sz="6000">
                <a:solidFill>
                  <a:schemeClr val="bg1"/>
                </a:solidFill>
                <a:latin typeface="Georgia" charset="0"/>
                <a:ea typeface="Georgia" charset="0"/>
                <a:cs typeface="Georgia" charset="0"/>
              </a:defRPr>
            </a:lvl1pPr>
          </a:lstStyle>
          <a:p>
            <a:r>
              <a:rPr lang="es-ES_tradnl" dirty="0"/>
              <a:t>Título de portada</a:t>
            </a:r>
          </a:p>
        </p:txBody>
      </p:sp>
      <p:pic>
        <p:nvPicPr>
          <p:cNvPr id="17" name="Imagen 1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0587" y="527319"/>
            <a:ext cx="2051823" cy="738574"/>
          </a:xfrm>
          <a:prstGeom prst="rect">
            <a:avLst/>
          </a:prstGeom>
        </p:spPr>
      </p:pic>
      <p:sp>
        <p:nvSpPr>
          <p:cNvPr id="7" name="Subtítulo 2">
            <a:extLst>
              <a:ext uri="{FF2B5EF4-FFF2-40B4-BE49-F238E27FC236}">
                <a16:creationId xmlns:a16="http://schemas.microsoft.com/office/drawing/2014/main" id="{BA89B800-8001-774E-957C-AC625B32D680}"/>
              </a:ext>
            </a:extLst>
          </p:cNvPr>
          <p:cNvSpPr>
            <a:spLocks noGrp="1"/>
          </p:cNvSpPr>
          <p:nvPr>
            <p:ph type="subTitle" idx="1" hasCustomPrompt="1"/>
          </p:nvPr>
        </p:nvSpPr>
        <p:spPr>
          <a:xfrm>
            <a:off x="611975" y="4868652"/>
            <a:ext cx="6725171" cy="866465"/>
          </a:xfrm>
        </p:spPr>
        <p:txBody>
          <a:bodyPr/>
          <a:lstStyle>
            <a:lvl1pPr marL="0" indent="0" algn="l">
              <a:buFont typeface="Arial" panose="020B0604020202020204" pitchFamily="34" charset="0"/>
              <a:buNone/>
              <a:defRPr sz="2400">
                <a:solidFill>
                  <a:schemeClr val="bg1">
                    <a:lumMod val="85000"/>
                  </a:schemeClr>
                </a:solidFill>
                <a:latin typeface="Georgia" charset="0"/>
                <a:ea typeface="Georgia" charset="0"/>
                <a:cs typeface="Georgia"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_tradnl" dirty="0"/>
              <a:t>Subtítulo de portada</a:t>
            </a:r>
          </a:p>
          <a:p>
            <a:endParaRPr lang="es-ES_tradnl" dirty="0"/>
          </a:p>
        </p:txBody>
      </p:sp>
      <p:sp>
        <p:nvSpPr>
          <p:cNvPr id="8" name="Text Placeholder 3">
            <a:extLst>
              <a:ext uri="{FF2B5EF4-FFF2-40B4-BE49-F238E27FC236}">
                <a16:creationId xmlns:a16="http://schemas.microsoft.com/office/drawing/2014/main" id="{2C5C12C1-19D7-734A-8EC1-F26342F028B1}"/>
              </a:ext>
            </a:extLst>
          </p:cNvPr>
          <p:cNvSpPr>
            <a:spLocks noGrp="1"/>
          </p:cNvSpPr>
          <p:nvPr>
            <p:ph type="body" sz="quarter" idx="12" hasCustomPrompt="1"/>
          </p:nvPr>
        </p:nvSpPr>
        <p:spPr>
          <a:xfrm>
            <a:off x="611974" y="6129862"/>
            <a:ext cx="6725171" cy="401637"/>
          </a:xfrm>
        </p:spPr>
        <p:txBody>
          <a:bodyPr anchor="ctr">
            <a:normAutofit/>
          </a:bodyPr>
          <a:lstStyle>
            <a:lvl1pPr marL="0" indent="0">
              <a:buNone/>
              <a:defRPr sz="1600">
                <a:solidFill>
                  <a:srgbClr val="CFCFCF"/>
                </a:solidFill>
                <a:latin typeface="Arial" panose="020B0604020202020204" pitchFamily="34" charset="0"/>
                <a:cs typeface="Arial" panose="020B0604020202020204" pitchFamily="34" charset="0"/>
              </a:defRPr>
            </a:lvl1pPr>
          </a:lstStyle>
          <a:p>
            <a:pPr lvl="0"/>
            <a:r>
              <a:rPr lang="en-US" dirty="0" err="1"/>
              <a:t>Información</a:t>
            </a:r>
            <a:r>
              <a:rPr lang="en-US" dirty="0"/>
              <a:t> </a:t>
            </a:r>
            <a:r>
              <a:rPr lang="en-US" dirty="0" err="1"/>
              <a:t>adicional</a:t>
            </a:r>
            <a:r>
              <a:rPr lang="en-US" dirty="0"/>
              <a:t> de </a:t>
            </a:r>
            <a:r>
              <a:rPr lang="en-US" dirty="0" err="1"/>
              <a:t>portada</a:t>
            </a:r>
            <a:endParaRPr lang="en-PE" dirty="0"/>
          </a:p>
        </p:txBody>
      </p:sp>
      <p:sp>
        <p:nvSpPr>
          <p:cNvPr id="10" name="Triangle 9">
            <a:extLst>
              <a:ext uri="{FF2B5EF4-FFF2-40B4-BE49-F238E27FC236}">
                <a16:creationId xmlns:a16="http://schemas.microsoft.com/office/drawing/2014/main" id="{5B98496C-96FD-CC47-9A44-3FA071B821A8}"/>
              </a:ext>
            </a:extLst>
          </p:cNvPr>
          <p:cNvSpPr/>
          <p:nvPr userDrawn="1"/>
        </p:nvSpPr>
        <p:spPr>
          <a:xfrm>
            <a:off x="8895908" y="0"/>
            <a:ext cx="3296091" cy="6858000"/>
          </a:xfrm>
          <a:prstGeom prst="triangle">
            <a:avLst>
              <a:gd name="adj" fmla="val 100000"/>
            </a:avLst>
          </a:prstGeom>
          <a:solidFill>
            <a:srgbClr val="8C1F1C"/>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E"/>
          </a:p>
        </p:txBody>
      </p:sp>
      <p:sp>
        <p:nvSpPr>
          <p:cNvPr id="14" name="Paralelogramo 2">
            <a:extLst>
              <a:ext uri="{FF2B5EF4-FFF2-40B4-BE49-F238E27FC236}">
                <a16:creationId xmlns:a16="http://schemas.microsoft.com/office/drawing/2014/main" id="{D1B66DAF-BAB9-408F-978D-AC2DF62C28AE}"/>
              </a:ext>
            </a:extLst>
          </p:cNvPr>
          <p:cNvSpPr/>
          <p:nvPr userDrawn="1"/>
        </p:nvSpPr>
        <p:spPr>
          <a:xfrm flipV="1">
            <a:off x="8895908" y="6531492"/>
            <a:ext cx="3296093" cy="326491"/>
          </a:xfrm>
          <a:custGeom>
            <a:avLst/>
            <a:gdLst>
              <a:gd name="connsiteX0" fmla="*/ 0 w 3296093"/>
              <a:gd name="connsiteY0" fmla="*/ 613956 h 613956"/>
              <a:gd name="connsiteX1" fmla="*/ 153489 w 3296093"/>
              <a:gd name="connsiteY1" fmla="*/ 0 h 613956"/>
              <a:gd name="connsiteX2" fmla="*/ 3296093 w 3296093"/>
              <a:gd name="connsiteY2" fmla="*/ 0 h 613956"/>
              <a:gd name="connsiteX3" fmla="*/ 3142604 w 3296093"/>
              <a:gd name="connsiteY3" fmla="*/ 613956 h 613956"/>
              <a:gd name="connsiteX4" fmla="*/ 0 w 3296093"/>
              <a:gd name="connsiteY4" fmla="*/ 613956 h 613956"/>
              <a:gd name="connsiteX0" fmla="*/ 0 w 3296093"/>
              <a:gd name="connsiteY0" fmla="*/ 613956 h 623481"/>
              <a:gd name="connsiteX1" fmla="*/ 153489 w 3296093"/>
              <a:gd name="connsiteY1" fmla="*/ 0 h 623481"/>
              <a:gd name="connsiteX2" fmla="*/ 3296093 w 3296093"/>
              <a:gd name="connsiteY2" fmla="*/ 0 h 623481"/>
              <a:gd name="connsiteX3" fmla="*/ 3295004 w 3296093"/>
              <a:gd name="connsiteY3" fmla="*/ 623481 h 623481"/>
              <a:gd name="connsiteX4" fmla="*/ 0 w 3296093"/>
              <a:gd name="connsiteY4" fmla="*/ 613956 h 623481"/>
              <a:gd name="connsiteX0" fmla="*/ 0 w 3296093"/>
              <a:gd name="connsiteY0" fmla="*/ 613956 h 623481"/>
              <a:gd name="connsiteX1" fmla="*/ 296364 w 3296093"/>
              <a:gd name="connsiteY1" fmla="*/ 47625 h 623481"/>
              <a:gd name="connsiteX2" fmla="*/ 3296093 w 3296093"/>
              <a:gd name="connsiteY2" fmla="*/ 0 h 623481"/>
              <a:gd name="connsiteX3" fmla="*/ 3295004 w 3296093"/>
              <a:gd name="connsiteY3" fmla="*/ 623481 h 623481"/>
              <a:gd name="connsiteX4" fmla="*/ 0 w 3296093"/>
              <a:gd name="connsiteY4" fmla="*/ 613956 h 623481"/>
              <a:gd name="connsiteX0" fmla="*/ 0 w 3296093"/>
              <a:gd name="connsiteY0" fmla="*/ 613956 h 623481"/>
              <a:gd name="connsiteX1" fmla="*/ 258264 w 3296093"/>
              <a:gd name="connsiteY1" fmla="*/ 38100 h 623481"/>
              <a:gd name="connsiteX2" fmla="*/ 3296093 w 3296093"/>
              <a:gd name="connsiteY2" fmla="*/ 0 h 623481"/>
              <a:gd name="connsiteX3" fmla="*/ 3295004 w 3296093"/>
              <a:gd name="connsiteY3" fmla="*/ 623481 h 623481"/>
              <a:gd name="connsiteX4" fmla="*/ 0 w 3296093"/>
              <a:gd name="connsiteY4" fmla="*/ 613956 h 623481"/>
              <a:gd name="connsiteX0" fmla="*/ 0 w 3296093"/>
              <a:gd name="connsiteY0" fmla="*/ 613956 h 623481"/>
              <a:gd name="connsiteX1" fmla="*/ 267789 w 3296093"/>
              <a:gd name="connsiteY1" fmla="*/ 38100 h 623481"/>
              <a:gd name="connsiteX2" fmla="*/ 3296093 w 3296093"/>
              <a:gd name="connsiteY2" fmla="*/ 0 h 623481"/>
              <a:gd name="connsiteX3" fmla="*/ 3295004 w 3296093"/>
              <a:gd name="connsiteY3" fmla="*/ 623481 h 623481"/>
              <a:gd name="connsiteX4" fmla="*/ 0 w 3296093"/>
              <a:gd name="connsiteY4" fmla="*/ 613956 h 623481"/>
              <a:gd name="connsiteX0" fmla="*/ 0 w 3296093"/>
              <a:gd name="connsiteY0" fmla="*/ 613956 h 623481"/>
              <a:gd name="connsiteX1" fmla="*/ 296364 w 3296093"/>
              <a:gd name="connsiteY1" fmla="*/ 28575 h 623481"/>
              <a:gd name="connsiteX2" fmla="*/ 3296093 w 3296093"/>
              <a:gd name="connsiteY2" fmla="*/ 0 h 623481"/>
              <a:gd name="connsiteX3" fmla="*/ 3295004 w 3296093"/>
              <a:gd name="connsiteY3" fmla="*/ 623481 h 623481"/>
              <a:gd name="connsiteX4" fmla="*/ 0 w 3296093"/>
              <a:gd name="connsiteY4" fmla="*/ 613956 h 623481"/>
              <a:gd name="connsiteX0" fmla="*/ 0 w 3296093"/>
              <a:gd name="connsiteY0" fmla="*/ 633006 h 642531"/>
              <a:gd name="connsiteX1" fmla="*/ 124914 w 3296093"/>
              <a:gd name="connsiteY1" fmla="*/ 0 h 642531"/>
              <a:gd name="connsiteX2" fmla="*/ 3296093 w 3296093"/>
              <a:gd name="connsiteY2" fmla="*/ 19050 h 642531"/>
              <a:gd name="connsiteX3" fmla="*/ 3295004 w 3296093"/>
              <a:gd name="connsiteY3" fmla="*/ 642531 h 642531"/>
              <a:gd name="connsiteX4" fmla="*/ 0 w 3296093"/>
              <a:gd name="connsiteY4" fmla="*/ 633006 h 642531"/>
              <a:gd name="connsiteX0" fmla="*/ 113211 w 3171179"/>
              <a:gd name="connsiteY0" fmla="*/ 633006 h 642531"/>
              <a:gd name="connsiteX1" fmla="*/ 0 w 3171179"/>
              <a:gd name="connsiteY1" fmla="*/ 0 h 642531"/>
              <a:gd name="connsiteX2" fmla="*/ 3171179 w 3171179"/>
              <a:gd name="connsiteY2" fmla="*/ 19050 h 642531"/>
              <a:gd name="connsiteX3" fmla="*/ 3170090 w 3171179"/>
              <a:gd name="connsiteY3" fmla="*/ 642531 h 642531"/>
              <a:gd name="connsiteX4" fmla="*/ 113211 w 3171179"/>
              <a:gd name="connsiteY4" fmla="*/ 633006 h 642531"/>
              <a:gd name="connsiteX0" fmla="*/ 284661 w 3171179"/>
              <a:gd name="connsiteY0" fmla="*/ 623481 h 642531"/>
              <a:gd name="connsiteX1" fmla="*/ 0 w 3171179"/>
              <a:gd name="connsiteY1" fmla="*/ 0 h 642531"/>
              <a:gd name="connsiteX2" fmla="*/ 3171179 w 3171179"/>
              <a:gd name="connsiteY2" fmla="*/ 19050 h 642531"/>
              <a:gd name="connsiteX3" fmla="*/ 3170090 w 3171179"/>
              <a:gd name="connsiteY3" fmla="*/ 642531 h 642531"/>
              <a:gd name="connsiteX4" fmla="*/ 284661 w 3171179"/>
              <a:gd name="connsiteY4" fmla="*/ 623481 h 642531"/>
              <a:gd name="connsiteX0" fmla="*/ 466614 w 3353132"/>
              <a:gd name="connsiteY0" fmla="*/ 623481 h 642531"/>
              <a:gd name="connsiteX1" fmla="*/ 0 w 3353132"/>
              <a:gd name="connsiteY1" fmla="*/ 0 h 642531"/>
              <a:gd name="connsiteX2" fmla="*/ 3353132 w 3353132"/>
              <a:gd name="connsiteY2" fmla="*/ 19050 h 642531"/>
              <a:gd name="connsiteX3" fmla="*/ 3352043 w 3353132"/>
              <a:gd name="connsiteY3" fmla="*/ 642531 h 642531"/>
              <a:gd name="connsiteX4" fmla="*/ 466614 w 3353132"/>
              <a:gd name="connsiteY4" fmla="*/ 623481 h 642531"/>
              <a:gd name="connsiteX0" fmla="*/ 466614 w 3353132"/>
              <a:gd name="connsiteY0" fmla="*/ 623481 h 642531"/>
              <a:gd name="connsiteX1" fmla="*/ 0 w 3353132"/>
              <a:gd name="connsiteY1" fmla="*/ 0 h 642531"/>
              <a:gd name="connsiteX2" fmla="*/ 3353132 w 3353132"/>
              <a:gd name="connsiteY2" fmla="*/ 19050 h 642531"/>
              <a:gd name="connsiteX3" fmla="*/ 3352043 w 3353132"/>
              <a:gd name="connsiteY3" fmla="*/ 642531 h 642531"/>
              <a:gd name="connsiteX4" fmla="*/ 466614 w 3353132"/>
              <a:gd name="connsiteY4" fmla="*/ 623481 h 642531"/>
              <a:gd name="connsiteX0" fmla="*/ 509936 w 3353132"/>
              <a:gd name="connsiteY0" fmla="*/ 638719 h 642531"/>
              <a:gd name="connsiteX1" fmla="*/ 0 w 3353132"/>
              <a:gd name="connsiteY1" fmla="*/ 0 h 642531"/>
              <a:gd name="connsiteX2" fmla="*/ 3353132 w 3353132"/>
              <a:gd name="connsiteY2" fmla="*/ 19050 h 642531"/>
              <a:gd name="connsiteX3" fmla="*/ 3352043 w 3353132"/>
              <a:gd name="connsiteY3" fmla="*/ 642531 h 642531"/>
              <a:gd name="connsiteX4" fmla="*/ 509936 w 3353132"/>
              <a:gd name="connsiteY4" fmla="*/ 638719 h 642531"/>
              <a:gd name="connsiteX0" fmla="*/ 723113 w 3353132"/>
              <a:gd name="connsiteY0" fmla="*/ 638719 h 642531"/>
              <a:gd name="connsiteX1" fmla="*/ 0 w 3353132"/>
              <a:gd name="connsiteY1" fmla="*/ 0 h 642531"/>
              <a:gd name="connsiteX2" fmla="*/ 3353132 w 3353132"/>
              <a:gd name="connsiteY2" fmla="*/ 19050 h 642531"/>
              <a:gd name="connsiteX3" fmla="*/ 3352043 w 3353132"/>
              <a:gd name="connsiteY3" fmla="*/ 642531 h 642531"/>
              <a:gd name="connsiteX4" fmla="*/ 723113 w 3353132"/>
              <a:gd name="connsiteY4" fmla="*/ 638719 h 6425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3132" h="642531">
                <a:moveTo>
                  <a:pt x="723113" y="638719"/>
                </a:moveTo>
                <a:lnTo>
                  <a:pt x="0" y="0"/>
                </a:lnTo>
                <a:lnTo>
                  <a:pt x="3353132" y="19050"/>
                </a:lnTo>
                <a:lnTo>
                  <a:pt x="3352043" y="642531"/>
                </a:lnTo>
                <a:lnTo>
                  <a:pt x="723113" y="638719"/>
                </a:lnTo>
                <a:close/>
              </a:path>
            </a:pathLst>
          </a:custGeom>
          <a:solidFill>
            <a:srgbClr val="8C1F1C"/>
          </a:solidFill>
          <a:ln>
            <a:noFill/>
          </a:ln>
          <a:effectLst>
            <a:outerShdw blurRad="304800" dist="50800" dir="15120000" algn="ctr" rotWithShape="0">
              <a:schemeClr val="tx1">
                <a:alpha val="5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 name="CuadroTexto 13">
            <a:extLst>
              <a:ext uri="{FF2B5EF4-FFF2-40B4-BE49-F238E27FC236}">
                <a16:creationId xmlns:a16="http://schemas.microsoft.com/office/drawing/2014/main" id="{666E9AA8-EDD6-45ED-9A04-8FFA465576E8}"/>
              </a:ext>
            </a:extLst>
          </p:cNvPr>
          <p:cNvSpPr txBox="1"/>
          <p:nvPr userDrawn="1"/>
        </p:nvSpPr>
        <p:spPr>
          <a:xfrm>
            <a:off x="9591261" y="6531487"/>
            <a:ext cx="2600739" cy="307777"/>
          </a:xfrm>
          <a:prstGeom prst="rect">
            <a:avLst/>
          </a:prstGeom>
          <a:noFill/>
        </p:spPr>
        <p:txBody>
          <a:bodyPr wrap="square" rtlCol="0" anchor="ctr">
            <a:spAutoFit/>
          </a:bodyPr>
          <a:lstStyle/>
          <a:p>
            <a:pPr algn="ctr"/>
            <a:r>
              <a:rPr lang="es-MX" sz="1400" dirty="0">
                <a:solidFill>
                  <a:schemeClr val="bg1"/>
                </a:solidFill>
                <a:latin typeface="Arial" panose="020B0604020202020204" pitchFamily="34" charset="0"/>
                <a:cs typeface="Arial" panose="020B0604020202020204" pitchFamily="34" charset="0"/>
              </a:rPr>
              <a:t>Ingeniería Mecánico-Eléctrica</a:t>
            </a:r>
            <a:endParaRPr lang="es-PE" sz="1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449911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PE"/>
          </a:p>
        </p:txBody>
      </p:sp>
      <p:sp>
        <p:nvSpPr>
          <p:cNvPr id="3" name="2 Marcador de contenido"/>
          <p:cNvSpPr>
            <a:spLocks noGrp="1"/>
          </p:cNvSpPr>
          <p:nvPr>
            <p:ph idx="1"/>
          </p:nvPr>
        </p:nvSpPr>
        <p:spPr/>
        <p:txBody>
          <a:body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pic>
        <p:nvPicPr>
          <p:cNvPr id="4" name="5 Imagen" descr="logo blanco 1.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171517" y="41275"/>
            <a:ext cx="2616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30298758"/>
      </p:ext>
    </p:extLst>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Encabezado de sección">
    <p:spTree>
      <p:nvGrpSpPr>
        <p:cNvPr id="1" name=""/>
        <p:cNvGrpSpPr/>
        <p:nvPr/>
      </p:nvGrpSpPr>
      <p:grpSpPr>
        <a:xfrm>
          <a:off x="0" y="0"/>
          <a:ext cx="0" cy="0"/>
          <a:chOff x="0" y="0"/>
          <a:chExt cx="0" cy="0"/>
        </a:xfrm>
      </p:grpSpPr>
      <p:sp>
        <p:nvSpPr>
          <p:cNvPr id="3" name="2 Marcador de texto"/>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pic>
        <p:nvPicPr>
          <p:cNvPr id="4" name="5 Imagen" descr="logo blanco 1.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171517" y="41275"/>
            <a:ext cx="2616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6 Título"/>
          <p:cNvSpPr>
            <a:spLocks noGrp="1"/>
          </p:cNvSpPr>
          <p:nvPr>
            <p:ph type="title"/>
          </p:nvPr>
        </p:nvSpPr>
        <p:spPr/>
        <p:txBody>
          <a:bodyPr/>
          <a:lstStyle/>
          <a:p>
            <a:r>
              <a:rPr lang="es-ES"/>
              <a:t>Haga clic para modificar el estilo de título del patrón</a:t>
            </a:r>
            <a:endParaRPr lang="es-PE"/>
          </a:p>
        </p:txBody>
      </p:sp>
    </p:spTree>
    <p:extLst>
      <p:ext uri="{BB962C8B-B14F-4D97-AF65-F5344CB8AC3E}">
        <p14:creationId xmlns:p14="http://schemas.microsoft.com/office/powerpoint/2010/main" val="1204822890"/>
      </p:ext>
    </p:extLst>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Diseño personalizad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PE"/>
          </a:p>
        </p:txBody>
      </p:sp>
    </p:spTree>
    <p:extLst>
      <p:ext uri="{BB962C8B-B14F-4D97-AF65-F5344CB8AC3E}">
        <p14:creationId xmlns:p14="http://schemas.microsoft.com/office/powerpoint/2010/main" val="2385712417"/>
      </p:ext>
    </p:extLst>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En blanco">
    <p:spTree>
      <p:nvGrpSpPr>
        <p:cNvPr id="1" name=""/>
        <p:cNvGrpSpPr/>
        <p:nvPr/>
      </p:nvGrpSpPr>
      <p:grpSpPr>
        <a:xfrm>
          <a:off x="0" y="0"/>
          <a:ext cx="0" cy="0"/>
          <a:chOff x="0" y="0"/>
          <a:chExt cx="0" cy="0"/>
        </a:xfrm>
      </p:grpSpPr>
      <p:pic>
        <p:nvPicPr>
          <p:cNvPr id="2" name="5 Imagen" descr="logo blanco 1.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171517" y="41275"/>
            <a:ext cx="2616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83870061"/>
      </p:ext>
    </p:extLst>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fourObj">
  <p:cSld name="Título y 4 objetos">
    <p:spTree>
      <p:nvGrpSpPr>
        <p:cNvPr id="1" name=""/>
        <p:cNvGrpSpPr/>
        <p:nvPr/>
      </p:nvGrpSpPr>
      <p:grpSpPr>
        <a:xfrm>
          <a:off x="0" y="0"/>
          <a:ext cx="0" cy="0"/>
          <a:chOff x="0" y="0"/>
          <a:chExt cx="0" cy="0"/>
        </a:xfrm>
      </p:grpSpPr>
      <p:sp>
        <p:nvSpPr>
          <p:cNvPr id="2" name="1 Título"/>
          <p:cNvSpPr>
            <a:spLocks noGrp="1"/>
          </p:cNvSpPr>
          <p:nvPr>
            <p:ph type="title" sz="quarter"/>
          </p:nvPr>
        </p:nvSpPr>
        <p:spPr>
          <a:xfrm>
            <a:off x="419100" y="622301"/>
            <a:ext cx="11353800" cy="600075"/>
          </a:xfrm>
        </p:spPr>
        <p:txBody>
          <a:bodyPr/>
          <a:lstStyle/>
          <a:p>
            <a:r>
              <a:rPr lang="es-ES"/>
              <a:t>Haga clic para modificar el estilo de título del patrón</a:t>
            </a:r>
            <a:endParaRPr lang="es-PE"/>
          </a:p>
        </p:txBody>
      </p:sp>
      <p:sp>
        <p:nvSpPr>
          <p:cNvPr id="3" name="2 Marcador de contenido"/>
          <p:cNvSpPr>
            <a:spLocks noGrp="1"/>
          </p:cNvSpPr>
          <p:nvPr>
            <p:ph sz="quarter" idx="1"/>
          </p:nvPr>
        </p:nvSpPr>
        <p:spPr>
          <a:xfrm>
            <a:off x="425452" y="1879600"/>
            <a:ext cx="5581649" cy="1938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3 Marcador de contenido"/>
          <p:cNvSpPr>
            <a:spLocks noGrp="1"/>
          </p:cNvSpPr>
          <p:nvPr>
            <p:ph sz="quarter" idx="2"/>
          </p:nvPr>
        </p:nvSpPr>
        <p:spPr>
          <a:xfrm>
            <a:off x="6210300" y="1879600"/>
            <a:ext cx="5581651" cy="1938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4 Marcador de contenido"/>
          <p:cNvSpPr>
            <a:spLocks noGrp="1"/>
          </p:cNvSpPr>
          <p:nvPr>
            <p:ph sz="quarter" idx="3"/>
          </p:nvPr>
        </p:nvSpPr>
        <p:spPr>
          <a:xfrm>
            <a:off x="425452" y="3970339"/>
            <a:ext cx="5581649" cy="1938337"/>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5 Marcador de contenido"/>
          <p:cNvSpPr>
            <a:spLocks noGrp="1"/>
          </p:cNvSpPr>
          <p:nvPr>
            <p:ph sz="quarter" idx="4"/>
          </p:nvPr>
        </p:nvSpPr>
        <p:spPr>
          <a:xfrm>
            <a:off x="6210300" y="3970339"/>
            <a:ext cx="5581651" cy="1938337"/>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Tree>
    <p:extLst>
      <p:ext uri="{BB962C8B-B14F-4D97-AF65-F5344CB8AC3E}">
        <p14:creationId xmlns:p14="http://schemas.microsoft.com/office/powerpoint/2010/main" val="3460522370"/>
      </p:ext>
    </p:extLst>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cSld name="Título, text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609600" y="274638"/>
            <a:ext cx="10972800" cy="1143000"/>
          </a:xfrm>
          <a:prstGeom prst="rect">
            <a:avLst/>
          </a:prstGeom>
        </p:spPr>
        <p:txBody>
          <a:bodyPr/>
          <a:lstStyle/>
          <a:p>
            <a:r>
              <a:rPr lang="es-ES"/>
              <a:t>Haga clic para modificar el estilo de título del patrón</a:t>
            </a:r>
            <a:endParaRPr lang="es-PE"/>
          </a:p>
        </p:txBody>
      </p:sp>
      <p:sp>
        <p:nvSpPr>
          <p:cNvPr id="3" name="2 Marcador de texto"/>
          <p:cNvSpPr>
            <a:spLocks noGrp="1"/>
          </p:cNvSpPr>
          <p:nvPr>
            <p:ph type="body" sz="half" idx="1"/>
          </p:nvPr>
        </p:nvSpPr>
        <p:spPr>
          <a:xfrm>
            <a:off x="609600" y="1600201"/>
            <a:ext cx="5384800" cy="4525963"/>
          </a:xfrm>
          <a:prstGeom prst="rect">
            <a:avLst/>
          </a:prstGeo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3 Marcador de contenido"/>
          <p:cNvSpPr>
            <a:spLocks noGrp="1"/>
          </p:cNvSpPr>
          <p:nvPr>
            <p:ph sz="half" idx="2"/>
          </p:nvPr>
        </p:nvSpPr>
        <p:spPr>
          <a:xfrm>
            <a:off x="6197600" y="1600201"/>
            <a:ext cx="5384800" cy="4525963"/>
          </a:xfrm>
          <a:prstGeom prst="rect">
            <a:avLst/>
          </a:prstGeo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Tree>
    <p:extLst>
      <p:ext uri="{BB962C8B-B14F-4D97-AF65-F5344CB8AC3E}">
        <p14:creationId xmlns:p14="http://schemas.microsoft.com/office/powerpoint/2010/main" val="3094310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PE"/>
          </a:p>
        </p:txBody>
      </p:sp>
      <p:pic>
        <p:nvPicPr>
          <p:cNvPr id="3" name="5 Imagen" descr="logo blanco 1.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171517" y="41275"/>
            <a:ext cx="2616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30749371"/>
      </p:ext>
    </p:extLst>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a:xfrm>
            <a:off x="3876724" y="6360734"/>
            <a:ext cx="5317067" cy="365125"/>
          </a:xfrm>
          <a:prstGeom prst="rect">
            <a:avLst/>
          </a:prstGeom>
        </p:spPr>
        <p:txBody>
          <a:bodyPr/>
          <a:lstStyle>
            <a:lvl1pPr>
              <a:defRPr/>
            </a:lvl1pPr>
          </a:lstStyle>
          <a:p>
            <a:r>
              <a:rPr lang="es-PE" dirty="0"/>
              <a:t>Programa de Actualización  para Titulación 2014</a:t>
            </a:r>
          </a:p>
        </p:txBody>
      </p:sp>
    </p:spTree>
    <p:extLst>
      <p:ext uri="{BB962C8B-B14F-4D97-AF65-F5344CB8AC3E}">
        <p14:creationId xmlns:p14="http://schemas.microsoft.com/office/powerpoint/2010/main" val="3626425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bl">
  <p:cSld name="Título y tabla">
    <p:spTree>
      <p:nvGrpSpPr>
        <p:cNvPr id="1" name=""/>
        <p:cNvGrpSpPr/>
        <p:nvPr/>
      </p:nvGrpSpPr>
      <p:grpSpPr>
        <a:xfrm>
          <a:off x="0" y="0"/>
          <a:ext cx="0" cy="0"/>
          <a:chOff x="0" y="0"/>
          <a:chExt cx="0" cy="0"/>
        </a:xfrm>
      </p:grpSpPr>
      <p:sp>
        <p:nvSpPr>
          <p:cNvPr id="2" name="1 Título"/>
          <p:cNvSpPr>
            <a:spLocks noGrp="1"/>
          </p:cNvSpPr>
          <p:nvPr>
            <p:ph type="title"/>
          </p:nvPr>
        </p:nvSpPr>
        <p:spPr>
          <a:xfrm>
            <a:off x="419100" y="622301"/>
            <a:ext cx="11353800" cy="600075"/>
          </a:xfrm>
        </p:spPr>
        <p:txBody>
          <a:bodyPr/>
          <a:lstStyle/>
          <a:p>
            <a:r>
              <a:rPr lang="es-ES"/>
              <a:t>Haga clic para modificar el estilo de título del patrón</a:t>
            </a:r>
            <a:endParaRPr lang="es-PE"/>
          </a:p>
        </p:txBody>
      </p:sp>
      <p:sp>
        <p:nvSpPr>
          <p:cNvPr id="3" name="2 Marcador de tabla"/>
          <p:cNvSpPr>
            <a:spLocks noGrp="1"/>
          </p:cNvSpPr>
          <p:nvPr>
            <p:ph type="tbl" idx="1"/>
          </p:nvPr>
        </p:nvSpPr>
        <p:spPr>
          <a:xfrm>
            <a:off x="425451" y="1879601"/>
            <a:ext cx="11366500" cy="4029075"/>
          </a:xfrm>
        </p:spPr>
        <p:txBody>
          <a:bodyPr/>
          <a:lstStyle/>
          <a:p>
            <a:pPr lvl="0"/>
            <a:endParaRPr lang="es-PE" noProof="0"/>
          </a:p>
        </p:txBody>
      </p:sp>
    </p:spTree>
    <p:extLst>
      <p:ext uri="{BB962C8B-B14F-4D97-AF65-F5344CB8AC3E}">
        <p14:creationId xmlns:p14="http://schemas.microsoft.com/office/powerpoint/2010/main" val="2297828278"/>
      </p:ext>
    </p:extLst>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PE"/>
          </a:p>
        </p:txBody>
      </p:sp>
      <p:sp>
        <p:nvSpPr>
          <p:cNvPr id="3" name="2 Marcador de contenido"/>
          <p:cNvSpPr>
            <a:spLocks noGrp="1"/>
          </p:cNvSpPr>
          <p:nvPr>
            <p:ph sz="half" idx="1"/>
          </p:nvPr>
        </p:nvSpPr>
        <p:spPr>
          <a:xfrm>
            <a:off x="425452" y="1879601"/>
            <a:ext cx="5581649" cy="4029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3 Marcador de contenido"/>
          <p:cNvSpPr>
            <a:spLocks noGrp="1"/>
          </p:cNvSpPr>
          <p:nvPr>
            <p:ph sz="half" idx="2"/>
          </p:nvPr>
        </p:nvSpPr>
        <p:spPr>
          <a:xfrm>
            <a:off x="6210300" y="1879601"/>
            <a:ext cx="5581651" cy="4029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Tree>
    <p:extLst>
      <p:ext uri="{BB962C8B-B14F-4D97-AF65-F5344CB8AC3E}">
        <p14:creationId xmlns:p14="http://schemas.microsoft.com/office/powerpoint/2010/main" val="524454243"/>
      </p:ext>
    </p:extLst>
  </p:cSld>
  <p:clrMapOvr>
    <a:masterClrMapping/>
  </p:clrMapOvr>
  <p:transition spd="med">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ítulo pequeñ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8200" y="365125"/>
            <a:ext cx="10515600" cy="461493"/>
          </a:xfrm>
        </p:spPr>
        <p:txBody>
          <a:bodyPr/>
          <a:lstStyle>
            <a:lvl1pPr>
              <a:defRPr sz="3000">
                <a:solidFill>
                  <a:srgbClr val="003863"/>
                </a:solidFill>
                <a:latin typeface="Georgia" charset="0"/>
                <a:ea typeface="Georgia" charset="0"/>
                <a:cs typeface="Georgia" charset="0"/>
              </a:defRPr>
            </a:lvl1pPr>
          </a:lstStyle>
          <a:p>
            <a:r>
              <a:rPr lang="es-ES_tradnl" dirty="0"/>
              <a:t>Título</a:t>
            </a:r>
          </a:p>
        </p:txBody>
      </p:sp>
      <p:sp>
        <p:nvSpPr>
          <p:cNvPr id="4" name="Text Placeholder 3">
            <a:extLst>
              <a:ext uri="{FF2B5EF4-FFF2-40B4-BE49-F238E27FC236}">
                <a16:creationId xmlns:a16="http://schemas.microsoft.com/office/drawing/2014/main" id="{97B7DE5B-B126-0B42-B728-A8650A460CC1}"/>
              </a:ext>
            </a:extLst>
          </p:cNvPr>
          <p:cNvSpPr>
            <a:spLocks noGrp="1"/>
          </p:cNvSpPr>
          <p:nvPr>
            <p:ph type="body" sz="quarter" idx="10" hasCustomPrompt="1"/>
          </p:nvPr>
        </p:nvSpPr>
        <p:spPr>
          <a:xfrm>
            <a:off x="838200" y="1053389"/>
            <a:ext cx="10515600" cy="5237874"/>
          </a:xfrm>
        </p:spPr>
        <p:txBody>
          <a:bodyPr/>
          <a:lstStyle>
            <a:lvl1pPr marL="457200" indent="-457200">
              <a:buClr>
                <a:srgbClr val="003863"/>
              </a:buClr>
              <a:buFont typeface="Wingdings" pitchFamily="2" charset="2"/>
              <a:buChar char="§"/>
              <a:defRPr>
                <a:solidFill>
                  <a:schemeClr val="tx1">
                    <a:lumMod val="75000"/>
                    <a:lumOff val="25000"/>
                  </a:schemeClr>
                </a:solidFill>
              </a:defRPr>
            </a:lvl1pPr>
            <a:lvl2pPr marL="685800" indent="-228600">
              <a:buClr>
                <a:srgbClr val="003863"/>
              </a:buClr>
              <a:buFont typeface="Arial" panose="020B0604020202020204" pitchFamily="34" charset="0"/>
              <a:buChar char="•"/>
              <a:defRPr>
                <a:solidFill>
                  <a:schemeClr val="tx1">
                    <a:lumMod val="75000"/>
                    <a:lumOff val="25000"/>
                  </a:schemeClr>
                </a:solidFill>
              </a:defRPr>
            </a:lvl2pPr>
            <a:lvl3pPr marL="1143000" indent="-228600">
              <a:buClr>
                <a:srgbClr val="003863"/>
              </a:buClr>
              <a:buFont typeface="Arial" panose="020B0604020202020204" pitchFamily="34" charset="0"/>
              <a:buChar char="•"/>
              <a:defRPr>
                <a:solidFill>
                  <a:schemeClr val="tx1">
                    <a:lumMod val="75000"/>
                    <a:lumOff val="25000"/>
                  </a:schemeClr>
                </a:solidFill>
              </a:defRPr>
            </a:lvl3pPr>
            <a:lvl4pPr marL="1600200" indent="-228600">
              <a:buClr>
                <a:srgbClr val="003863"/>
              </a:buClr>
              <a:buFont typeface="Arial" panose="020B0604020202020204" pitchFamily="34" charset="0"/>
              <a:buChar char="•"/>
              <a:defRPr>
                <a:solidFill>
                  <a:schemeClr val="tx1">
                    <a:lumMod val="75000"/>
                    <a:lumOff val="25000"/>
                  </a:schemeClr>
                </a:solidFill>
              </a:defRPr>
            </a:lvl4pPr>
          </a:lstStyle>
          <a:p>
            <a:pPr lvl="0"/>
            <a:r>
              <a:rPr lang="en-US" dirty="0" err="1"/>
              <a:t>Contenido</a:t>
            </a:r>
            <a:r>
              <a:rPr lang="en-US" dirty="0"/>
              <a:t> primer </a:t>
            </a:r>
            <a:r>
              <a:rPr lang="en-US" dirty="0" err="1"/>
              <a:t>nivel</a:t>
            </a:r>
            <a:endParaRPr lang="en-US" dirty="0"/>
          </a:p>
          <a:p>
            <a:pPr lvl="1"/>
            <a:r>
              <a:rPr lang="en-US" dirty="0" err="1"/>
              <a:t>Contenido</a:t>
            </a:r>
            <a:r>
              <a:rPr lang="en-US" dirty="0"/>
              <a:t> </a:t>
            </a:r>
            <a:r>
              <a:rPr lang="en-US" dirty="0" err="1"/>
              <a:t>segundo</a:t>
            </a:r>
            <a:r>
              <a:rPr lang="en-US" dirty="0"/>
              <a:t> </a:t>
            </a:r>
            <a:r>
              <a:rPr lang="en-US" dirty="0" err="1"/>
              <a:t>nivel</a:t>
            </a:r>
            <a:endParaRPr lang="en-US" dirty="0"/>
          </a:p>
          <a:p>
            <a:pPr lvl="2"/>
            <a:r>
              <a:rPr lang="en-US" dirty="0" err="1"/>
              <a:t>Contenido</a:t>
            </a:r>
            <a:r>
              <a:rPr lang="en-US" dirty="0"/>
              <a:t> </a:t>
            </a:r>
            <a:r>
              <a:rPr lang="en-US" dirty="0" err="1"/>
              <a:t>tercer</a:t>
            </a:r>
            <a:r>
              <a:rPr lang="en-US" dirty="0"/>
              <a:t> </a:t>
            </a:r>
            <a:r>
              <a:rPr lang="en-US" dirty="0" err="1"/>
              <a:t>nivel</a:t>
            </a:r>
            <a:endParaRPr lang="en-US" dirty="0"/>
          </a:p>
          <a:p>
            <a:pPr lvl="3"/>
            <a:r>
              <a:rPr lang="en-US" dirty="0" err="1"/>
              <a:t>Contenido</a:t>
            </a:r>
            <a:r>
              <a:rPr lang="en-US" dirty="0"/>
              <a:t> </a:t>
            </a:r>
            <a:r>
              <a:rPr lang="en-US" dirty="0" err="1"/>
              <a:t>cuarto</a:t>
            </a:r>
            <a:r>
              <a:rPr lang="en-US" dirty="0"/>
              <a:t> </a:t>
            </a:r>
            <a:r>
              <a:rPr lang="en-US" dirty="0" err="1"/>
              <a:t>nivel</a:t>
            </a:r>
            <a:endParaRPr lang="en-PE" dirty="0"/>
          </a:p>
        </p:txBody>
      </p:sp>
    </p:spTree>
    <p:extLst>
      <p:ext uri="{BB962C8B-B14F-4D97-AF65-F5344CB8AC3E}">
        <p14:creationId xmlns:p14="http://schemas.microsoft.com/office/powerpoint/2010/main" val="8079743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Vacía">
    <p:spTree>
      <p:nvGrpSpPr>
        <p:cNvPr id="1" name=""/>
        <p:cNvGrpSpPr/>
        <p:nvPr/>
      </p:nvGrpSpPr>
      <p:grpSpPr>
        <a:xfrm>
          <a:off x="0" y="0"/>
          <a:ext cx="0" cy="0"/>
          <a:chOff x="0" y="0"/>
          <a:chExt cx="0" cy="0"/>
        </a:xfrm>
      </p:grpSpPr>
    </p:spTree>
    <p:extLst>
      <p:ext uri="{BB962C8B-B14F-4D97-AF65-F5344CB8AC3E}">
        <p14:creationId xmlns:p14="http://schemas.microsoft.com/office/powerpoint/2010/main" val="5920377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magen y contenid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EBE1EA9-4E43-5048-806C-A530FF888981}"/>
              </a:ext>
            </a:extLst>
          </p:cNvPr>
          <p:cNvSpPr>
            <a:spLocks noGrp="1"/>
          </p:cNvSpPr>
          <p:nvPr>
            <p:ph type="pic" sz="quarter" idx="10" hasCustomPrompt="1"/>
          </p:nvPr>
        </p:nvSpPr>
        <p:spPr>
          <a:xfrm>
            <a:off x="4607442" y="0"/>
            <a:ext cx="7584558" cy="6709943"/>
          </a:xfrm>
        </p:spPr>
        <p:txBody>
          <a:bodyPr/>
          <a:lstStyle>
            <a:lvl1pPr marL="0" indent="0">
              <a:buNone/>
              <a:defRPr/>
            </a:lvl1pPr>
          </a:lstStyle>
          <a:p>
            <a:r>
              <a:rPr lang="en-PE" dirty="0"/>
              <a:t>Imagen</a:t>
            </a:r>
          </a:p>
        </p:txBody>
      </p:sp>
      <p:sp>
        <p:nvSpPr>
          <p:cNvPr id="6" name="Título 1">
            <a:extLst>
              <a:ext uri="{FF2B5EF4-FFF2-40B4-BE49-F238E27FC236}">
                <a16:creationId xmlns:a16="http://schemas.microsoft.com/office/drawing/2014/main" id="{D6FB2F2C-340B-BB41-8807-1EBD1D08572F}"/>
              </a:ext>
            </a:extLst>
          </p:cNvPr>
          <p:cNvSpPr>
            <a:spLocks noGrp="1"/>
          </p:cNvSpPr>
          <p:nvPr>
            <p:ph type="title" hasCustomPrompt="1"/>
          </p:nvPr>
        </p:nvSpPr>
        <p:spPr>
          <a:xfrm>
            <a:off x="106326" y="762074"/>
            <a:ext cx="4373525" cy="620159"/>
          </a:xfrm>
        </p:spPr>
        <p:txBody>
          <a:bodyPr/>
          <a:lstStyle>
            <a:lvl1pPr algn="ctr">
              <a:defRPr sz="3000">
                <a:solidFill>
                  <a:srgbClr val="003863"/>
                </a:solidFill>
                <a:latin typeface="Georgia" charset="0"/>
                <a:ea typeface="Georgia" charset="0"/>
                <a:cs typeface="Georgia" charset="0"/>
              </a:defRPr>
            </a:lvl1pPr>
          </a:lstStyle>
          <a:p>
            <a:r>
              <a:rPr lang="es-ES_tradnl" dirty="0"/>
              <a:t>Título</a:t>
            </a:r>
          </a:p>
        </p:txBody>
      </p:sp>
      <p:sp>
        <p:nvSpPr>
          <p:cNvPr id="7" name="Text Placeholder 3">
            <a:extLst>
              <a:ext uri="{FF2B5EF4-FFF2-40B4-BE49-F238E27FC236}">
                <a16:creationId xmlns:a16="http://schemas.microsoft.com/office/drawing/2014/main" id="{CEC67945-2D2A-4049-B6EE-C5C1BC241BD8}"/>
              </a:ext>
            </a:extLst>
          </p:cNvPr>
          <p:cNvSpPr>
            <a:spLocks noGrp="1"/>
          </p:cNvSpPr>
          <p:nvPr>
            <p:ph type="body" sz="quarter" idx="11" hasCustomPrompt="1"/>
          </p:nvPr>
        </p:nvSpPr>
        <p:spPr>
          <a:xfrm>
            <a:off x="106326" y="1609059"/>
            <a:ext cx="4373525" cy="4682203"/>
          </a:xfrm>
        </p:spPr>
        <p:txBody>
          <a:bodyPr/>
          <a:lstStyle>
            <a:lvl1pPr marL="457200" indent="-457200">
              <a:buClr>
                <a:srgbClr val="003863"/>
              </a:buClr>
              <a:buFont typeface="Wingdings" pitchFamily="2" charset="2"/>
              <a:buChar char="§"/>
              <a:defRPr>
                <a:solidFill>
                  <a:schemeClr val="tx1">
                    <a:lumMod val="75000"/>
                    <a:lumOff val="25000"/>
                  </a:schemeClr>
                </a:solidFill>
              </a:defRPr>
            </a:lvl1pPr>
            <a:lvl2pPr marL="685800" indent="-228600">
              <a:buClr>
                <a:srgbClr val="003863"/>
              </a:buClr>
              <a:buFont typeface="Arial" panose="020B0604020202020204" pitchFamily="34" charset="0"/>
              <a:buChar char="•"/>
              <a:defRPr>
                <a:solidFill>
                  <a:schemeClr val="tx1">
                    <a:lumMod val="75000"/>
                    <a:lumOff val="25000"/>
                  </a:schemeClr>
                </a:solidFill>
              </a:defRPr>
            </a:lvl2pPr>
            <a:lvl3pPr marL="1143000" indent="-228600">
              <a:buClr>
                <a:srgbClr val="003863"/>
              </a:buClr>
              <a:buFont typeface="Arial" panose="020B0604020202020204" pitchFamily="34" charset="0"/>
              <a:buChar char="•"/>
              <a:defRPr>
                <a:solidFill>
                  <a:schemeClr val="tx1">
                    <a:lumMod val="75000"/>
                    <a:lumOff val="25000"/>
                  </a:schemeClr>
                </a:solidFill>
              </a:defRPr>
            </a:lvl3pPr>
            <a:lvl4pPr marL="1600200" indent="-228600">
              <a:buClr>
                <a:srgbClr val="003863"/>
              </a:buClr>
              <a:buFont typeface="Arial" panose="020B0604020202020204" pitchFamily="34" charset="0"/>
              <a:buChar char="•"/>
              <a:defRPr>
                <a:solidFill>
                  <a:schemeClr val="tx1">
                    <a:lumMod val="75000"/>
                    <a:lumOff val="25000"/>
                  </a:schemeClr>
                </a:solidFill>
              </a:defRPr>
            </a:lvl4pPr>
          </a:lstStyle>
          <a:p>
            <a:pPr lvl="0"/>
            <a:r>
              <a:rPr lang="en-US" dirty="0" err="1"/>
              <a:t>Contenido</a:t>
            </a:r>
            <a:r>
              <a:rPr lang="en-US" dirty="0"/>
              <a:t> primer </a:t>
            </a:r>
            <a:r>
              <a:rPr lang="en-US" dirty="0" err="1"/>
              <a:t>nivel</a:t>
            </a:r>
            <a:endParaRPr lang="en-US" dirty="0"/>
          </a:p>
          <a:p>
            <a:pPr lvl="1"/>
            <a:r>
              <a:rPr lang="en-US" dirty="0" err="1"/>
              <a:t>Contenido</a:t>
            </a:r>
            <a:r>
              <a:rPr lang="en-US" dirty="0"/>
              <a:t> </a:t>
            </a:r>
            <a:r>
              <a:rPr lang="en-US" dirty="0" err="1"/>
              <a:t>segundo</a:t>
            </a:r>
            <a:r>
              <a:rPr lang="en-US" dirty="0"/>
              <a:t> </a:t>
            </a:r>
            <a:r>
              <a:rPr lang="en-US" dirty="0" err="1"/>
              <a:t>nivel</a:t>
            </a:r>
            <a:endParaRPr lang="en-US" dirty="0"/>
          </a:p>
          <a:p>
            <a:pPr lvl="2"/>
            <a:r>
              <a:rPr lang="en-US" dirty="0" err="1"/>
              <a:t>Contenido</a:t>
            </a:r>
            <a:r>
              <a:rPr lang="en-US" dirty="0"/>
              <a:t> </a:t>
            </a:r>
            <a:r>
              <a:rPr lang="en-US" dirty="0" err="1"/>
              <a:t>tercer</a:t>
            </a:r>
            <a:r>
              <a:rPr lang="en-US" dirty="0"/>
              <a:t> </a:t>
            </a:r>
            <a:r>
              <a:rPr lang="en-US" dirty="0" err="1"/>
              <a:t>nivel</a:t>
            </a:r>
            <a:endParaRPr lang="en-US" dirty="0"/>
          </a:p>
          <a:p>
            <a:pPr lvl="3"/>
            <a:r>
              <a:rPr lang="en-US" dirty="0" err="1"/>
              <a:t>Contenido</a:t>
            </a:r>
            <a:r>
              <a:rPr lang="en-US" dirty="0"/>
              <a:t> </a:t>
            </a:r>
            <a:r>
              <a:rPr lang="en-US" dirty="0" err="1"/>
              <a:t>cuarto</a:t>
            </a:r>
            <a:r>
              <a:rPr lang="en-US" dirty="0"/>
              <a:t> </a:t>
            </a:r>
            <a:r>
              <a:rPr lang="en-US" dirty="0" err="1"/>
              <a:t>nivel</a:t>
            </a:r>
            <a:endParaRPr lang="en-PE" dirty="0"/>
          </a:p>
        </p:txBody>
      </p:sp>
    </p:spTree>
    <p:extLst>
      <p:ext uri="{BB962C8B-B14F-4D97-AF65-F5344CB8AC3E}">
        <p14:creationId xmlns:p14="http://schemas.microsoft.com/office/powerpoint/2010/main" val="31535812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ítulo de sección">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EAB234F9-9B24-1348-A6E2-02133E575E7D}"/>
              </a:ext>
            </a:extLst>
          </p:cNvPr>
          <p:cNvSpPr>
            <a:spLocks noGrp="1"/>
          </p:cNvSpPr>
          <p:nvPr>
            <p:ph type="title" hasCustomPrompt="1"/>
          </p:nvPr>
        </p:nvSpPr>
        <p:spPr>
          <a:xfrm>
            <a:off x="838200" y="1762328"/>
            <a:ext cx="10515600" cy="1325563"/>
          </a:xfrm>
        </p:spPr>
        <p:txBody>
          <a:bodyPr/>
          <a:lstStyle>
            <a:lvl1pPr algn="ctr">
              <a:defRPr>
                <a:solidFill>
                  <a:srgbClr val="003863"/>
                </a:solidFill>
                <a:latin typeface="Georgia" charset="0"/>
                <a:ea typeface="Georgia" charset="0"/>
                <a:cs typeface="Georgia" charset="0"/>
              </a:defRPr>
            </a:lvl1pPr>
          </a:lstStyle>
          <a:p>
            <a:r>
              <a:rPr lang="es-ES_tradnl" dirty="0"/>
              <a:t>Título de sección</a:t>
            </a:r>
          </a:p>
        </p:txBody>
      </p:sp>
      <p:sp>
        <p:nvSpPr>
          <p:cNvPr id="3" name="Text Placeholder 2">
            <a:extLst>
              <a:ext uri="{FF2B5EF4-FFF2-40B4-BE49-F238E27FC236}">
                <a16:creationId xmlns:a16="http://schemas.microsoft.com/office/drawing/2014/main" id="{1F07DE41-49D2-3248-A4E2-68DDDC3818E7}"/>
              </a:ext>
            </a:extLst>
          </p:cNvPr>
          <p:cNvSpPr>
            <a:spLocks noGrp="1"/>
          </p:cNvSpPr>
          <p:nvPr>
            <p:ph type="body" sz="quarter" idx="10" hasCustomPrompt="1"/>
          </p:nvPr>
        </p:nvSpPr>
        <p:spPr>
          <a:xfrm>
            <a:off x="2175891" y="3611877"/>
            <a:ext cx="7840218" cy="924388"/>
          </a:xfrm>
        </p:spPr>
        <p:txBody>
          <a:bodyPr anchor="ctr"/>
          <a:lstStyle>
            <a:lvl1pPr marL="0" indent="0" algn="ctr">
              <a:buNone/>
              <a:defRPr>
                <a:solidFill>
                  <a:schemeClr val="tx1">
                    <a:lumMod val="75000"/>
                    <a:lumOff val="25000"/>
                  </a:schemeClr>
                </a:solidFill>
                <a:latin typeface="Georgia" panose="02040502050405020303" pitchFamily="18" charset="0"/>
              </a:defRPr>
            </a:lvl1pPr>
          </a:lstStyle>
          <a:p>
            <a:pPr lvl="0"/>
            <a:r>
              <a:rPr lang="en-PE" dirty="0"/>
              <a:t>Subtítulo de sección</a:t>
            </a:r>
          </a:p>
        </p:txBody>
      </p:sp>
    </p:spTree>
    <p:extLst>
      <p:ext uri="{BB962C8B-B14F-4D97-AF65-F5344CB8AC3E}">
        <p14:creationId xmlns:p14="http://schemas.microsoft.com/office/powerpoint/2010/main" val="7844814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ítulo grande">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lvl1pPr>
              <a:defRPr>
                <a:solidFill>
                  <a:srgbClr val="003863"/>
                </a:solidFill>
                <a:latin typeface="Georgia" charset="0"/>
                <a:ea typeface="Georgia" charset="0"/>
                <a:cs typeface="Georgia" charset="0"/>
              </a:defRPr>
            </a:lvl1pPr>
          </a:lstStyle>
          <a:p>
            <a:r>
              <a:rPr lang="es-ES_tradnl" dirty="0"/>
              <a:t>Título</a:t>
            </a:r>
          </a:p>
        </p:txBody>
      </p:sp>
      <p:sp>
        <p:nvSpPr>
          <p:cNvPr id="4" name="Text Placeholder 3">
            <a:extLst>
              <a:ext uri="{FF2B5EF4-FFF2-40B4-BE49-F238E27FC236}">
                <a16:creationId xmlns:a16="http://schemas.microsoft.com/office/drawing/2014/main" id="{97B7DE5B-B126-0B42-B728-A8650A460CC1}"/>
              </a:ext>
            </a:extLst>
          </p:cNvPr>
          <p:cNvSpPr>
            <a:spLocks noGrp="1"/>
          </p:cNvSpPr>
          <p:nvPr>
            <p:ph type="body" sz="quarter" idx="10" hasCustomPrompt="1"/>
          </p:nvPr>
        </p:nvSpPr>
        <p:spPr>
          <a:xfrm>
            <a:off x="838200" y="1960563"/>
            <a:ext cx="10515600" cy="4330700"/>
          </a:xfrm>
        </p:spPr>
        <p:txBody>
          <a:bodyPr/>
          <a:lstStyle>
            <a:lvl1pPr marL="457200" indent="-457200">
              <a:buClr>
                <a:srgbClr val="003863"/>
              </a:buClr>
              <a:buFont typeface="Wingdings" pitchFamily="2" charset="2"/>
              <a:buChar char="§"/>
              <a:defRPr>
                <a:solidFill>
                  <a:schemeClr val="tx1">
                    <a:lumMod val="75000"/>
                    <a:lumOff val="25000"/>
                  </a:schemeClr>
                </a:solidFill>
              </a:defRPr>
            </a:lvl1pPr>
            <a:lvl2pPr marL="685800" indent="-228600">
              <a:buClr>
                <a:srgbClr val="003863"/>
              </a:buClr>
              <a:buFont typeface="Arial" panose="020B0604020202020204" pitchFamily="34" charset="0"/>
              <a:buChar char="•"/>
              <a:defRPr>
                <a:solidFill>
                  <a:schemeClr val="tx1">
                    <a:lumMod val="75000"/>
                    <a:lumOff val="25000"/>
                  </a:schemeClr>
                </a:solidFill>
              </a:defRPr>
            </a:lvl2pPr>
            <a:lvl3pPr marL="1143000" indent="-228600">
              <a:buClr>
                <a:srgbClr val="003863"/>
              </a:buClr>
              <a:buFont typeface="Arial" panose="020B0604020202020204" pitchFamily="34" charset="0"/>
              <a:buChar char="•"/>
              <a:defRPr>
                <a:solidFill>
                  <a:schemeClr val="tx1">
                    <a:lumMod val="75000"/>
                    <a:lumOff val="25000"/>
                  </a:schemeClr>
                </a:solidFill>
              </a:defRPr>
            </a:lvl3pPr>
            <a:lvl4pPr marL="1600200" indent="-228600">
              <a:buClr>
                <a:srgbClr val="003863"/>
              </a:buClr>
              <a:buFont typeface="Arial" panose="020B0604020202020204" pitchFamily="34" charset="0"/>
              <a:buChar char="•"/>
              <a:defRPr>
                <a:solidFill>
                  <a:schemeClr val="tx1">
                    <a:lumMod val="75000"/>
                    <a:lumOff val="25000"/>
                  </a:schemeClr>
                </a:solidFill>
              </a:defRPr>
            </a:lvl4pPr>
          </a:lstStyle>
          <a:p>
            <a:pPr lvl="0"/>
            <a:r>
              <a:rPr lang="en-US" dirty="0" err="1"/>
              <a:t>Contenido</a:t>
            </a:r>
            <a:r>
              <a:rPr lang="en-US" dirty="0"/>
              <a:t> primer </a:t>
            </a:r>
            <a:r>
              <a:rPr lang="en-US" dirty="0" err="1"/>
              <a:t>nivel</a:t>
            </a:r>
            <a:endParaRPr lang="en-US" dirty="0"/>
          </a:p>
          <a:p>
            <a:pPr lvl="1"/>
            <a:r>
              <a:rPr lang="en-US" dirty="0" err="1"/>
              <a:t>Contenido</a:t>
            </a:r>
            <a:r>
              <a:rPr lang="en-US" dirty="0"/>
              <a:t> </a:t>
            </a:r>
            <a:r>
              <a:rPr lang="en-US" dirty="0" err="1"/>
              <a:t>segundo</a:t>
            </a:r>
            <a:r>
              <a:rPr lang="en-US" dirty="0"/>
              <a:t> </a:t>
            </a:r>
            <a:r>
              <a:rPr lang="en-US" dirty="0" err="1"/>
              <a:t>nivel</a:t>
            </a:r>
            <a:endParaRPr lang="en-US" dirty="0"/>
          </a:p>
          <a:p>
            <a:pPr lvl="2"/>
            <a:r>
              <a:rPr lang="en-US" dirty="0" err="1"/>
              <a:t>Contenido</a:t>
            </a:r>
            <a:r>
              <a:rPr lang="en-US" dirty="0"/>
              <a:t> </a:t>
            </a:r>
            <a:r>
              <a:rPr lang="en-US" dirty="0" err="1"/>
              <a:t>tercer</a:t>
            </a:r>
            <a:r>
              <a:rPr lang="en-US" dirty="0"/>
              <a:t> </a:t>
            </a:r>
            <a:r>
              <a:rPr lang="en-US" dirty="0" err="1"/>
              <a:t>nivel</a:t>
            </a:r>
            <a:endParaRPr lang="en-US" dirty="0"/>
          </a:p>
          <a:p>
            <a:pPr lvl="3"/>
            <a:r>
              <a:rPr lang="en-US" dirty="0" err="1"/>
              <a:t>Contenido</a:t>
            </a:r>
            <a:r>
              <a:rPr lang="en-US" dirty="0"/>
              <a:t> </a:t>
            </a:r>
            <a:r>
              <a:rPr lang="en-US" dirty="0" err="1"/>
              <a:t>cuarto</a:t>
            </a:r>
            <a:r>
              <a:rPr lang="en-US" dirty="0"/>
              <a:t> </a:t>
            </a:r>
            <a:r>
              <a:rPr lang="en-US" dirty="0" err="1"/>
              <a:t>nivel</a:t>
            </a:r>
            <a:endParaRPr lang="en-PE" dirty="0"/>
          </a:p>
        </p:txBody>
      </p:sp>
    </p:spTree>
    <p:extLst>
      <p:ext uri="{BB962C8B-B14F-4D97-AF65-F5344CB8AC3E}">
        <p14:creationId xmlns:p14="http://schemas.microsoft.com/office/powerpoint/2010/main" val="9990160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ítulo pequeñ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8200" y="365125"/>
            <a:ext cx="10515600" cy="461493"/>
          </a:xfrm>
        </p:spPr>
        <p:txBody>
          <a:bodyPr/>
          <a:lstStyle>
            <a:lvl1pPr>
              <a:defRPr sz="3000">
                <a:solidFill>
                  <a:srgbClr val="003863"/>
                </a:solidFill>
                <a:latin typeface="Georgia" charset="0"/>
                <a:ea typeface="Georgia" charset="0"/>
                <a:cs typeface="Georgia" charset="0"/>
              </a:defRPr>
            </a:lvl1pPr>
          </a:lstStyle>
          <a:p>
            <a:r>
              <a:rPr lang="es-ES_tradnl" dirty="0"/>
              <a:t>Título</a:t>
            </a:r>
          </a:p>
        </p:txBody>
      </p:sp>
      <p:sp>
        <p:nvSpPr>
          <p:cNvPr id="4" name="Text Placeholder 3">
            <a:extLst>
              <a:ext uri="{FF2B5EF4-FFF2-40B4-BE49-F238E27FC236}">
                <a16:creationId xmlns:a16="http://schemas.microsoft.com/office/drawing/2014/main" id="{97B7DE5B-B126-0B42-B728-A8650A460CC1}"/>
              </a:ext>
            </a:extLst>
          </p:cNvPr>
          <p:cNvSpPr>
            <a:spLocks noGrp="1"/>
          </p:cNvSpPr>
          <p:nvPr>
            <p:ph type="body" sz="quarter" idx="10" hasCustomPrompt="1"/>
          </p:nvPr>
        </p:nvSpPr>
        <p:spPr>
          <a:xfrm>
            <a:off x="838200" y="1053389"/>
            <a:ext cx="10515600" cy="5237874"/>
          </a:xfrm>
        </p:spPr>
        <p:txBody>
          <a:bodyPr/>
          <a:lstStyle>
            <a:lvl1pPr marL="457200" indent="-457200">
              <a:buClr>
                <a:srgbClr val="003863"/>
              </a:buClr>
              <a:buFont typeface="Wingdings" pitchFamily="2" charset="2"/>
              <a:buChar char="§"/>
              <a:defRPr>
                <a:solidFill>
                  <a:schemeClr val="tx1">
                    <a:lumMod val="75000"/>
                    <a:lumOff val="25000"/>
                  </a:schemeClr>
                </a:solidFill>
              </a:defRPr>
            </a:lvl1pPr>
            <a:lvl2pPr marL="685800" indent="-228600">
              <a:buClr>
                <a:srgbClr val="003863"/>
              </a:buClr>
              <a:buFont typeface="Arial" panose="020B0604020202020204" pitchFamily="34" charset="0"/>
              <a:buChar char="•"/>
              <a:defRPr>
                <a:solidFill>
                  <a:schemeClr val="tx1">
                    <a:lumMod val="75000"/>
                    <a:lumOff val="25000"/>
                  </a:schemeClr>
                </a:solidFill>
              </a:defRPr>
            </a:lvl2pPr>
            <a:lvl3pPr marL="1143000" indent="-228600">
              <a:buClr>
                <a:srgbClr val="003863"/>
              </a:buClr>
              <a:buFont typeface="Arial" panose="020B0604020202020204" pitchFamily="34" charset="0"/>
              <a:buChar char="•"/>
              <a:defRPr>
                <a:solidFill>
                  <a:schemeClr val="tx1">
                    <a:lumMod val="75000"/>
                    <a:lumOff val="25000"/>
                  </a:schemeClr>
                </a:solidFill>
              </a:defRPr>
            </a:lvl3pPr>
            <a:lvl4pPr marL="1600200" indent="-228600">
              <a:buClr>
                <a:srgbClr val="003863"/>
              </a:buClr>
              <a:buFont typeface="Arial" panose="020B0604020202020204" pitchFamily="34" charset="0"/>
              <a:buChar char="•"/>
              <a:defRPr>
                <a:solidFill>
                  <a:schemeClr val="tx1">
                    <a:lumMod val="75000"/>
                    <a:lumOff val="25000"/>
                  </a:schemeClr>
                </a:solidFill>
              </a:defRPr>
            </a:lvl4pPr>
          </a:lstStyle>
          <a:p>
            <a:pPr lvl="0"/>
            <a:r>
              <a:rPr lang="en-US" dirty="0" err="1"/>
              <a:t>Contenido</a:t>
            </a:r>
            <a:r>
              <a:rPr lang="en-US" dirty="0"/>
              <a:t> primer </a:t>
            </a:r>
            <a:r>
              <a:rPr lang="en-US" dirty="0" err="1"/>
              <a:t>nivel</a:t>
            </a:r>
            <a:endParaRPr lang="en-US" dirty="0"/>
          </a:p>
          <a:p>
            <a:pPr lvl="1"/>
            <a:r>
              <a:rPr lang="en-US" dirty="0" err="1"/>
              <a:t>Contenido</a:t>
            </a:r>
            <a:r>
              <a:rPr lang="en-US" dirty="0"/>
              <a:t> </a:t>
            </a:r>
            <a:r>
              <a:rPr lang="en-US" dirty="0" err="1"/>
              <a:t>segundo</a:t>
            </a:r>
            <a:r>
              <a:rPr lang="en-US" dirty="0"/>
              <a:t> </a:t>
            </a:r>
            <a:r>
              <a:rPr lang="en-US" dirty="0" err="1"/>
              <a:t>nivel</a:t>
            </a:r>
            <a:endParaRPr lang="en-US" dirty="0"/>
          </a:p>
          <a:p>
            <a:pPr lvl="2"/>
            <a:r>
              <a:rPr lang="en-US" dirty="0" err="1"/>
              <a:t>Contenido</a:t>
            </a:r>
            <a:r>
              <a:rPr lang="en-US" dirty="0"/>
              <a:t> </a:t>
            </a:r>
            <a:r>
              <a:rPr lang="en-US" dirty="0" err="1"/>
              <a:t>tercer</a:t>
            </a:r>
            <a:r>
              <a:rPr lang="en-US" dirty="0"/>
              <a:t> </a:t>
            </a:r>
            <a:r>
              <a:rPr lang="en-US" dirty="0" err="1"/>
              <a:t>nivel</a:t>
            </a:r>
            <a:endParaRPr lang="en-US" dirty="0"/>
          </a:p>
          <a:p>
            <a:pPr lvl="3"/>
            <a:r>
              <a:rPr lang="en-US" dirty="0" err="1"/>
              <a:t>Contenido</a:t>
            </a:r>
            <a:r>
              <a:rPr lang="en-US" dirty="0"/>
              <a:t> </a:t>
            </a:r>
            <a:r>
              <a:rPr lang="en-US" dirty="0" err="1"/>
              <a:t>cuarto</a:t>
            </a:r>
            <a:r>
              <a:rPr lang="en-US" dirty="0"/>
              <a:t> </a:t>
            </a:r>
            <a:r>
              <a:rPr lang="en-US" dirty="0" err="1"/>
              <a:t>nivel</a:t>
            </a:r>
            <a:endParaRPr lang="en-PE" dirty="0"/>
          </a:p>
        </p:txBody>
      </p:sp>
    </p:spTree>
    <p:extLst>
      <p:ext uri="{BB962C8B-B14F-4D97-AF65-F5344CB8AC3E}">
        <p14:creationId xmlns:p14="http://schemas.microsoft.com/office/powerpoint/2010/main" val="22239151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PE"/>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Tree>
    <p:extLst>
      <p:ext uri="{BB962C8B-B14F-4D97-AF65-F5344CB8AC3E}">
        <p14:creationId xmlns:p14="http://schemas.microsoft.com/office/powerpoint/2010/main" val="374927676"/>
      </p:ext>
    </p:extLst>
  </p:cSld>
  <p:clrMapOvr>
    <a:masterClrMapping/>
  </p:clrMapOvr>
  <p:transition spd="med">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Vacía">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60976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magen y contenid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EBE1EA9-4E43-5048-806C-A530FF888981}"/>
              </a:ext>
            </a:extLst>
          </p:cNvPr>
          <p:cNvSpPr>
            <a:spLocks noGrp="1"/>
          </p:cNvSpPr>
          <p:nvPr>
            <p:ph type="pic" sz="quarter" idx="10" hasCustomPrompt="1"/>
          </p:nvPr>
        </p:nvSpPr>
        <p:spPr>
          <a:xfrm>
            <a:off x="4607442" y="0"/>
            <a:ext cx="7584558" cy="6709943"/>
          </a:xfrm>
        </p:spPr>
        <p:txBody>
          <a:bodyPr/>
          <a:lstStyle>
            <a:lvl1pPr marL="0" indent="0">
              <a:buNone/>
              <a:defRPr/>
            </a:lvl1pPr>
          </a:lstStyle>
          <a:p>
            <a:r>
              <a:rPr lang="en-PE" dirty="0"/>
              <a:t>Imagen</a:t>
            </a:r>
          </a:p>
        </p:txBody>
      </p:sp>
      <p:sp>
        <p:nvSpPr>
          <p:cNvPr id="6" name="Título 1">
            <a:extLst>
              <a:ext uri="{FF2B5EF4-FFF2-40B4-BE49-F238E27FC236}">
                <a16:creationId xmlns:a16="http://schemas.microsoft.com/office/drawing/2014/main" id="{D6FB2F2C-340B-BB41-8807-1EBD1D08572F}"/>
              </a:ext>
            </a:extLst>
          </p:cNvPr>
          <p:cNvSpPr>
            <a:spLocks noGrp="1"/>
          </p:cNvSpPr>
          <p:nvPr>
            <p:ph type="title" hasCustomPrompt="1"/>
          </p:nvPr>
        </p:nvSpPr>
        <p:spPr>
          <a:xfrm>
            <a:off x="106326" y="762074"/>
            <a:ext cx="4373525" cy="620159"/>
          </a:xfrm>
        </p:spPr>
        <p:txBody>
          <a:bodyPr/>
          <a:lstStyle>
            <a:lvl1pPr algn="ctr">
              <a:defRPr sz="3000">
                <a:solidFill>
                  <a:srgbClr val="003863"/>
                </a:solidFill>
                <a:latin typeface="Georgia" charset="0"/>
                <a:ea typeface="Georgia" charset="0"/>
                <a:cs typeface="Georgia" charset="0"/>
              </a:defRPr>
            </a:lvl1pPr>
          </a:lstStyle>
          <a:p>
            <a:r>
              <a:rPr lang="es-ES_tradnl" dirty="0"/>
              <a:t>Título</a:t>
            </a:r>
          </a:p>
        </p:txBody>
      </p:sp>
      <p:sp>
        <p:nvSpPr>
          <p:cNvPr id="7" name="Text Placeholder 3">
            <a:extLst>
              <a:ext uri="{FF2B5EF4-FFF2-40B4-BE49-F238E27FC236}">
                <a16:creationId xmlns:a16="http://schemas.microsoft.com/office/drawing/2014/main" id="{CEC67945-2D2A-4049-B6EE-C5C1BC241BD8}"/>
              </a:ext>
            </a:extLst>
          </p:cNvPr>
          <p:cNvSpPr>
            <a:spLocks noGrp="1"/>
          </p:cNvSpPr>
          <p:nvPr>
            <p:ph type="body" sz="quarter" idx="11" hasCustomPrompt="1"/>
          </p:nvPr>
        </p:nvSpPr>
        <p:spPr>
          <a:xfrm>
            <a:off x="106326" y="1609059"/>
            <a:ext cx="4373525" cy="4682203"/>
          </a:xfrm>
        </p:spPr>
        <p:txBody>
          <a:bodyPr/>
          <a:lstStyle>
            <a:lvl1pPr marL="457200" indent="-457200">
              <a:buClr>
                <a:srgbClr val="003863"/>
              </a:buClr>
              <a:buFont typeface="Wingdings" pitchFamily="2" charset="2"/>
              <a:buChar char="§"/>
              <a:defRPr>
                <a:solidFill>
                  <a:srgbClr val="071321"/>
                </a:solidFill>
              </a:defRPr>
            </a:lvl1pPr>
            <a:lvl2pPr marL="685800" indent="-228600">
              <a:buClr>
                <a:srgbClr val="003863"/>
              </a:buClr>
              <a:buFont typeface="Arial" panose="020B0604020202020204" pitchFamily="34" charset="0"/>
              <a:buChar char="•"/>
              <a:defRPr>
                <a:solidFill>
                  <a:srgbClr val="071321"/>
                </a:solidFill>
              </a:defRPr>
            </a:lvl2pPr>
            <a:lvl3pPr marL="1143000" indent="-228600">
              <a:buClr>
                <a:srgbClr val="003863"/>
              </a:buClr>
              <a:buFont typeface="Arial" panose="020B0604020202020204" pitchFamily="34" charset="0"/>
              <a:buChar char="•"/>
              <a:defRPr>
                <a:solidFill>
                  <a:srgbClr val="071321"/>
                </a:solidFill>
              </a:defRPr>
            </a:lvl3pPr>
            <a:lvl4pPr marL="1600200" indent="-228600">
              <a:buClr>
                <a:srgbClr val="003863"/>
              </a:buClr>
              <a:buFont typeface="Arial" panose="020B0604020202020204" pitchFamily="34" charset="0"/>
              <a:buChar char="•"/>
              <a:defRPr>
                <a:solidFill>
                  <a:srgbClr val="071321"/>
                </a:solidFill>
              </a:defRPr>
            </a:lvl4pPr>
          </a:lstStyle>
          <a:p>
            <a:pPr lvl="0"/>
            <a:r>
              <a:rPr lang="en-US" dirty="0" err="1"/>
              <a:t>Contenido</a:t>
            </a:r>
            <a:r>
              <a:rPr lang="en-US" dirty="0"/>
              <a:t> primer </a:t>
            </a:r>
            <a:r>
              <a:rPr lang="en-US" dirty="0" err="1"/>
              <a:t>nivel</a:t>
            </a:r>
            <a:endParaRPr lang="en-US" dirty="0"/>
          </a:p>
          <a:p>
            <a:pPr lvl="1"/>
            <a:r>
              <a:rPr lang="en-US" dirty="0" err="1"/>
              <a:t>Contenido</a:t>
            </a:r>
            <a:r>
              <a:rPr lang="en-US" dirty="0"/>
              <a:t> </a:t>
            </a:r>
            <a:r>
              <a:rPr lang="en-US" dirty="0" err="1"/>
              <a:t>segundo</a:t>
            </a:r>
            <a:r>
              <a:rPr lang="en-US" dirty="0"/>
              <a:t> </a:t>
            </a:r>
            <a:r>
              <a:rPr lang="en-US" dirty="0" err="1"/>
              <a:t>nivel</a:t>
            </a:r>
            <a:endParaRPr lang="en-US" dirty="0"/>
          </a:p>
          <a:p>
            <a:pPr lvl="2"/>
            <a:r>
              <a:rPr lang="en-US" dirty="0" err="1"/>
              <a:t>Contenido</a:t>
            </a:r>
            <a:r>
              <a:rPr lang="en-US" dirty="0"/>
              <a:t> </a:t>
            </a:r>
            <a:r>
              <a:rPr lang="en-US" dirty="0" err="1"/>
              <a:t>tercer</a:t>
            </a:r>
            <a:r>
              <a:rPr lang="en-US" dirty="0"/>
              <a:t> </a:t>
            </a:r>
            <a:r>
              <a:rPr lang="en-US" dirty="0" err="1"/>
              <a:t>nivel</a:t>
            </a:r>
            <a:endParaRPr lang="en-US" dirty="0"/>
          </a:p>
          <a:p>
            <a:pPr lvl="3"/>
            <a:r>
              <a:rPr lang="en-US" dirty="0" err="1"/>
              <a:t>Contenido</a:t>
            </a:r>
            <a:r>
              <a:rPr lang="en-US" dirty="0"/>
              <a:t> </a:t>
            </a:r>
            <a:r>
              <a:rPr lang="en-US" dirty="0" err="1"/>
              <a:t>cuarto</a:t>
            </a:r>
            <a:r>
              <a:rPr lang="en-US" dirty="0"/>
              <a:t> </a:t>
            </a:r>
            <a:r>
              <a:rPr lang="en-US" dirty="0" err="1"/>
              <a:t>nivel</a:t>
            </a:r>
            <a:endParaRPr lang="en-PE" dirty="0"/>
          </a:p>
        </p:txBody>
      </p:sp>
    </p:spTree>
    <p:extLst>
      <p:ext uri="{BB962C8B-B14F-4D97-AF65-F5344CB8AC3E}">
        <p14:creationId xmlns:p14="http://schemas.microsoft.com/office/powerpoint/2010/main" val="1332414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ítulo de sección">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EAB234F9-9B24-1348-A6E2-02133E575E7D}"/>
              </a:ext>
            </a:extLst>
          </p:cNvPr>
          <p:cNvSpPr>
            <a:spLocks noGrp="1"/>
          </p:cNvSpPr>
          <p:nvPr>
            <p:ph type="title" hasCustomPrompt="1"/>
          </p:nvPr>
        </p:nvSpPr>
        <p:spPr>
          <a:xfrm>
            <a:off x="838200" y="1762328"/>
            <a:ext cx="10515600" cy="1325563"/>
          </a:xfrm>
        </p:spPr>
        <p:txBody>
          <a:bodyPr/>
          <a:lstStyle>
            <a:lvl1pPr algn="ctr">
              <a:defRPr>
                <a:solidFill>
                  <a:srgbClr val="003863"/>
                </a:solidFill>
                <a:latin typeface="Georgia" charset="0"/>
                <a:ea typeface="Georgia" charset="0"/>
                <a:cs typeface="Georgia" charset="0"/>
              </a:defRPr>
            </a:lvl1pPr>
          </a:lstStyle>
          <a:p>
            <a:r>
              <a:rPr lang="es-ES_tradnl" dirty="0"/>
              <a:t>Título de sección</a:t>
            </a:r>
          </a:p>
        </p:txBody>
      </p:sp>
      <p:sp>
        <p:nvSpPr>
          <p:cNvPr id="3" name="Text Placeholder 2">
            <a:extLst>
              <a:ext uri="{FF2B5EF4-FFF2-40B4-BE49-F238E27FC236}">
                <a16:creationId xmlns:a16="http://schemas.microsoft.com/office/drawing/2014/main" id="{1F07DE41-49D2-3248-A4E2-68DDDC3818E7}"/>
              </a:ext>
            </a:extLst>
          </p:cNvPr>
          <p:cNvSpPr>
            <a:spLocks noGrp="1"/>
          </p:cNvSpPr>
          <p:nvPr>
            <p:ph type="body" sz="quarter" idx="10" hasCustomPrompt="1"/>
          </p:nvPr>
        </p:nvSpPr>
        <p:spPr>
          <a:xfrm>
            <a:off x="2175891" y="3611877"/>
            <a:ext cx="7840218" cy="924388"/>
          </a:xfrm>
        </p:spPr>
        <p:txBody>
          <a:bodyPr anchor="ctr"/>
          <a:lstStyle>
            <a:lvl1pPr marL="0" indent="0" algn="ctr">
              <a:buNone/>
              <a:defRPr>
                <a:solidFill>
                  <a:srgbClr val="071321"/>
                </a:solidFill>
                <a:latin typeface="Georgia" panose="02040502050405020303" pitchFamily="18" charset="0"/>
              </a:defRPr>
            </a:lvl1pPr>
          </a:lstStyle>
          <a:p>
            <a:pPr lvl="0"/>
            <a:r>
              <a:rPr lang="en-PE" dirty="0"/>
              <a:t>Subtítulo de sección</a:t>
            </a:r>
          </a:p>
        </p:txBody>
      </p:sp>
    </p:spTree>
    <p:extLst>
      <p:ext uri="{BB962C8B-B14F-4D97-AF65-F5344CB8AC3E}">
        <p14:creationId xmlns:p14="http://schemas.microsoft.com/office/powerpoint/2010/main" val="19545631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ítulo grande">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lvl1pPr>
              <a:defRPr>
                <a:solidFill>
                  <a:srgbClr val="003863"/>
                </a:solidFill>
                <a:latin typeface="Georgia" charset="0"/>
                <a:ea typeface="Georgia" charset="0"/>
                <a:cs typeface="Georgia" charset="0"/>
              </a:defRPr>
            </a:lvl1pPr>
          </a:lstStyle>
          <a:p>
            <a:r>
              <a:rPr lang="es-ES_tradnl" dirty="0"/>
              <a:t>Título</a:t>
            </a:r>
          </a:p>
        </p:txBody>
      </p:sp>
      <p:sp>
        <p:nvSpPr>
          <p:cNvPr id="4" name="Text Placeholder 3">
            <a:extLst>
              <a:ext uri="{FF2B5EF4-FFF2-40B4-BE49-F238E27FC236}">
                <a16:creationId xmlns:a16="http://schemas.microsoft.com/office/drawing/2014/main" id="{97B7DE5B-B126-0B42-B728-A8650A460CC1}"/>
              </a:ext>
            </a:extLst>
          </p:cNvPr>
          <p:cNvSpPr>
            <a:spLocks noGrp="1"/>
          </p:cNvSpPr>
          <p:nvPr>
            <p:ph type="body" sz="quarter" idx="10" hasCustomPrompt="1"/>
          </p:nvPr>
        </p:nvSpPr>
        <p:spPr>
          <a:xfrm>
            <a:off x="838200" y="1960563"/>
            <a:ext cx="10515600" cy="4330700"/>
          </a:xfrm>
        </p:spPr>
        <p:txBody>
          <a:bodyPr/>
          <a:lstStyle>
            <a:lvl1pPr marL="457200" indent="-457200">
              <a:buClr>
                <a:srgbClr val="003863"/>
              </a:buClr>
              <a:buFont typeface="Wingdings" pitchFamily="2" charset="2"/>
              <a:buChar char="§"/>
              <a:defRPr>
                <a:solidFill>
                  <a:srgbClr val="071321"/>
                </a:solidFill>
              </a:defRPr>
            </a:lvl1pPr>
            <a:lvl2pPr marL="685800" indent="-228600">
              <a:buClr>
                <a:srgbClr val="003863"/>
              </a:buClr>
              <a:buFont typeface="Arial" panose="020B0604020202020204" pitchFamily="34" charset="0"/>
              <a:buChar char="•"/>
              <a:defRPr>
                <a:solidFill>
                  <a:srgbClr val="071321"/>
                </a:solidFill>
              </a:defRPr>
            </a:lvl2pPr>
            <a:lvl3pPr marL="1143000" indent="-228600">
              <a:buClr>
                <a:srgbClr val="003863"/>
              </a:buClr>
              <a:buFont typeface="Arial" panose="020B0604020202020204" pitchFamily="34" charset="0"/>
              <a:buChar char="•"/>
              <a:defRPr>
                <a:solidFill>
                  <a:srgbClr val="071321"/>
                </a:solidFill>
              </a:defRPr>
            </a:lvl3pPr>
            <a:lvl4pPr marL="1600200" indent="-228600">
              <a:buClr>
                <a:srgbClr val="003863"/>
              </a:buClr>
              <a:buFont typeface="Arial" panose="020B0604020202020204" pitchFamily="34" charset="0"/>
              <a:buChar char="•"/>
              <a:defRPr>
                <a:solidFill>
                  <a:srgbClr val="071321"/>
                </a:solidFill>
              </a:defRPr>
            </a:lvl4pPr>
          </a:lstStyle>
          <a:p>
            <a:pPr lvl="0"/>
            <a:r>
              <a:rPr lang="en-US" dirty="0" err="1"/>
              <a:t>Contenido</a:t>
            </a:r>
            <a:r>
              <a:rPr lang="en-US" dirty="0"/>
              <a:t> primer </a:t>
            </a:r>
            <a:r>
              <a:rPr lang="en-US" dirty="0" err="1"/>
              <a:t>nivel</a:t>
            </a:r>
            <a:endParaRPr lang="en-US" dirty="0"/>
          </a:p>
          <a:p>
            <a:pPr lvl="1"/>
            <a:r>
              <a:rPr lang="en-US" dirty="0" err="1"/>
              <a:t>Contenido</a:t>
            </a:r>
            <a:r>
              <a:rPr lang="en-US" dirty="0"/>
              <a:t> </a:t>
            </a:r>
            <a:r>
              <a:rPr lang="en-US" dirty="0" err="1"/>
              <a:t>segundo</a:t>
            </a:r>
            <a:r>
              <a:rPr lang="en-US" dirty="0"/>
              <a:t> </a:t>
            </a:r>
            <a:r>
              <a:rPr lang="en-US" dirty="0" err="1"/>
              <a:t>nivel</a:t>
            </a:r>
            <a:endParaRPr lang="en-US" dirty="0"/>
          </a:p>
          <a:p>
            <a:pPr lvl="2"/>
            <a:r>
              <a:rPr lang="en-US" dirty="0" err="1"/>
              <a:t>Contenido</a:t>
            </a:r>
            <a:r>
              <a:rPr lang="en-US" dirty="0"/>
              <a:t> </a:t>
            </a:r>
            <a:r>
              <a:rPr lang="en-US" dirty="0" err="1"/>
              <a:t>tercer</a:t>
            </a:r>
            <a:r>
              <a:rPr lang="en-US" dirty="0"/>
              <a:t> </a:t>
            </a:r>
            <a:r>
              <a:rPr lang="en-US" dirty="0" err="1"/>
              <a:t>nivel</a:t>
            </a:r>
            <a:endParaRPr lang="en-US" dirty="0"/>
          </a:p>
          <a:p>
            <a:pPr lvl="3"/>
            <a:r>
              <a:rPr lang="en-US" dirty="0" err="1"/>
              <a:t>Contenido</a:t>
            </a:r>
            <a:r>
              <a:rPr lang="en-US" dirty="0"/>
              <a:t> </a:t>
            </a:r>
            <a:r>
              <a:rPr lang="en-US" dirty="0" err="1"/>
              <a:t>cuarto</a:t>
            </a:r>
            <a:r>
              <a:rPr lang="en-US" dirty="0"/>
              <a:t> </a:t>
            </a:r>
            <a:r>
              <a:rPr lang="en-US" dirty="0" err="1"/>
              <a:t>nivel</a:t>
            </a:r>
            <a:endParaRPr lang="en-PE" dirty="0"/>
          </a:p>
        </p:txBody>
      </p:sp>
    </p:spTree>
    <p:extLst>
      <p:ext uri="{BB962C8B-B14F-4D97-AF65-F5344CB8AC3E}">
        <p14:creationId xmlns:p14="http://schemas.microsoft.com/office/powerpoint/2010/main" val="18783122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ítulo pequeñ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8200" y="365125"/>
            <a:ext cx="10515600" cy="461493"/>
          </a:xfrm>
        </p:spPr>
        <p:txBody>
          <a:bodyPr/>
          <a:lstStyle>
            <a:lvl1pPr>
              <a:defRPr sz="3000">
                <a:solidFill>
                  <a:srgbClr val="003863"/>
                </a:solidFill>
                <a:latin typeface="Georgia" charset="0"/>
                <a:ea typeface="Georgia" charset="0"/>
                <a:cs typeface="Georgia" charset="0"/>
              </a:defRPr>
            </a:lvl1pPr>
          </a:lstStyle>
          <a:p>
            <a:r>
              <a:rPr lang="es-ES_tradnl" dirty="0"/>
              <a:t>Título</a:t>
            </a:r>
          </a:p>
        </p:txBody>
      </p:sp>
      <p:sp>
        <p:nvSpPr>
          <p:cNvPr id="4" name="Text Placeholder 3">
            <a:extLst>
              <a:ext uri="{FF2B5EF4-FFF2-40B4-BE49-F238E27FC236}">
                <a16:creationId xmlns:a16="http://schemas.microsoft.com/office/drawing/2014/main" id="{97B7DE5B-B126-0B42-B728-A8650A460CC1}"/>
              </a:ext>
            </a:extLst>
          </p:cNvPr>
          <p:cNvSpPr>
            <a:spLocks noGrp="1"/>
          </p:cNvSpPr>
          <p:nvPr>
            <p:ph type="body" sz="quarter" idx="10" hasCustomPrompt="1"/>
          </p:nvPr>
        </p:nvSpPr>
        <p:spPr>
          <a:xfrm>
            <a:off x="838200" y="1053389"/>
            <a:ext cx="10515600" cy="5237874"/>
          </a:xfrm>
        </p:spPr>
        <p:txBody>
          <a:bodyPr/>
          <a:lstStyle>
            <a:lvl1pPr marL="457200" indent="-457200">
              <a:buClr>
                <a:srgbClr val="003863"/>
              </a:buClr>
              <a:buFont typeface="Wingdings" pitchFamily="2" charset="2"/>
              <a:buChar char="§"/>
              <a:defRPr>
                <a:solidFill>
                  <a:srgbClr val="071321"/>
                </a:solidFill>
              </a:defRPr>
            </a:lvl1pPr>
            <a:lvl2pPr marL="685800" indent="-228600">
              <a:buClr>
                <a:srgbClr val="003863"/>
              </a:buClr>
              <a:buFont typeface="Arial" panose="020B0604020202020204" pitchFamily="34" charset="0"/>
              <a:buChar char="•"/>
              <a:defRPr>
                <a:solidFill>
                  <a:srgbClr val="071321"/>
                </a:solidFill>
              </a:defRPr>
            </a:lvl2pPr>
            <a:lvl3pPr marL="1143000" indent="-228600">
              <a:buClr>
                <a:srgbClr val="003863"/>
              </a:buClr>
              <a:buFont typeface="Arial" panose="020B0604020202020204" pitchFamily="34" charset="0"/>
              <a:buChar char="•"/>
              <a:defRPr>
                <a:solidFill>
                  <a:srgbClr val="071321"/>
                </a:solidFill>
              </a:defRPr>
            </a:lvl3pPr>
            <a:lvl4pPr marL="1600200" indent="-228600">
              <a:buClr>
                <a:srgbClr val="003863"/>
              </a:buClr>
              <a:buFont typeface="Arial" panose="020B0604020202020204" pitchFamily="34" charset="0"/>
              <a:buChar char="•"/>
              <a:defRPr>
                <a:solidFill>
                  <a:srgbClr val="071321"/>
                </a:solidFill>
              </a:defRPr>
            </a:lvl4pPr>
          </a:lstStyle>
          <a:p>
            <a:pPr lvl="0"/>
            <a:r>
              <a:rPr lang="en-US" dirty="0" err="1"/>
              <a:t>Contenido</a:t>
            </a:r>
            <a:r>
              <a:rPr lang="en-US" dirty="0"/>
              <a:t> primer </a:t>
            </a:r>
            <a:r>
              <a:rPr lang="en-US" dirty="0" err="1"/>
              <a:t>nivel</a:t>
            </a:r>
            <a:endParaRPr lang="en-US" dirty="0"/>
          </a:p>
          <a:p>
            <a:pPr lvl="1"/>
            <a:r>
              <a:rPr lang="en-US" dirty="0" err="1"/>
              <a:t>Contenido</a:t>
            </a:r>
            <a:r>
              <a:rPr lang="en-US" dirty="0"/>
              <a:t> </a:t>
            </a:r>
            <a:r>
              <a:rPr lang="en-US" dirty="0" err="1"/>
              <a:t>segundo</a:t>
            </a:r>
            <a:r>
              <a:rPr lang="en-US" dirty="0"/>
              <a:t> </a:t>
            </a:r>
            <a:r>
              <a:rPr lang="en-US" dirty="0" err="1"/>
              <a:t>nivel</a:t>
            </a:r>
            <a:endParaRPr lang="en-US" dirty="0"/>
          </a:p>
          <a:p>
            <a:pPr lvl="2"/>
            <a:r>
              <a:rPr lang="en-US" dirty="0" err="1"/>
              <a:t>Contenido</a:t>
            </a:r>
            <a:r>
              <a:rPr lang="en-US" dirty="0"/>
              <a:t> </a:t>
            </a:r>
            <a:r>
              <a:rPr lang="en-US" dirty="0" err="1"/>
              <a:t>tercer</a:t>
            </a:r>
            <a:r>
              <a:rPr lang="en-US" dirty="0"/>
              <a:t> </a:t>
            </a:r>
            <a:r>
              <a:rPr lang="en-US" dirty="0" err="1"/>
              <a:t>nivel</a:t>
            </a:r>
            <a:endParaRPr lang="en-US" dirty="0"/>
          </a:p>
          <a:p>
            <a:pPr lvl="3"/>
            <a:r>
              <a:rPr lang="en-US" dirty="0" err="1"/>
              <a:t>Contenido</a:t>
            </a:r>
            <a:r>
              <a:rPr lang="en-US" dirty="0"/>
              <a:t> </a:t>
            </a:r>
            <a:r>
              <a:rPr lang="en-US" dirty="0" err="1"/>
              <a:t>cuarto</a:t>
            </a:r>
            <a:r>
              <a:rPr lang="en-US" dirty="0"/>
              <a:t> </a:t>
            </a:r>
            <a:r>
              <a:rPr lang="en-US" dirty="0" err="1"/>
              <a:t>nivel</a:t>
            </a:r>
            <a:endParaRPr lang="en-PE" dirty="0"/>
          </a:p>
        </p:txBody>
      </p:sp>
    </p:spTree>
    <p:extLst>
      <p:ext uri="{BB962C8B-B14F-4D97-AF65-F5344CB8AC3E}">
        <p14:creationId xmlns:p14="http://schemas.microsoft.com/office/powerpoint/2010/main" val="20123304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PE"/>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Tree>
    <p:extLst>
      <p:ext uri="{BB962C8B-B14F-4D97-AF65-F5344CB8AC3E}">
        <p14:creationId xmlns:p14="http://schemas.microsoft.com/office/powerpoint/2010/main" val="1304194802"/>
      </p:ext>
    </p:extLst>
  </p:cSld>
  <p:clrMapOvr>
    <a:masterClrMapping/>
  </p:clrMapOvr>
  <p:transition spd="med">
    <p:wipe dir="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Vacía">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644897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Imagen y contenid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EBE1EA9-4E43-5048-806C-A530FF888981}"/>
              </a:ext>
            </a:extLst>
          </p:cNvPr>
          <p:cNvSpPr>
            <a:spLocks noGrp="1"/>
          </p:cNvSpPr>
          <p:nvPr>
            <p:ph type="pic" sz="quarter" idx="10" hasCustomPrompt="1"/>
          </p:nvPr>
        </p:nvSpPr>
        <p:spPr>
          <a:xfrm>
            <a:off x="4607442" y="0"/>
            <a:ext cx="7584558" cy="6709943"/>
          </a:xfrm>
        </p:spPr>
        <p:txBody>
          <a:bodyPr/>
          <a:lstStyle>
            <a:lvl1pPr marL="0" indent="0">
              <a:buNone/>
              <a:defRPr/>
            </a:lvl1pPr>
          </a:lstStyle>
          <a:p>
            <a:r>
              <a:rPr lang="en-PE" dirty="0"/>
              <a:t>Imagen</a:t>
            </a:r>
          </a:p>
        </p:txBody>
      </p:sp>
      <p:sp>
        <p:nvSpPr>
          <p:cNvPr id="6" name="Título 1">
            <a:extLst>
              <a:ext uri="{FF2B5EF4-FFF2-40B4-BE49-F238E27FC236}">
                <a16:creationId xmlns:a16="http://schemas.microsoft.com/office/drawing/2014/main" id="{D6FB2F2C-340B-BB41-8807-1EBD1D08572F}"/>
              </a:ext>
            </a:extLst>
          </p:cNvPr>
          <p:cNvSpPr>
            <a:spLocks noGrp="1"/>
          </p:cNvSpPr>
          <p:nvPr>
            <p:ph type="title" hasCustomPrompt="1"/>
          </p:nvPr>
        </p:nvSpPr>
        <p:spPr>
          <a:xfrm>
            <a:off x="106326" y="762074"/>
            <a:ext cx="4373525" cy="620159"/>
          </a:xfrm>
        </p:spPr>
        <p:txBody>
          <a:bodyPr/>
          <a:lstStyle>
            <a:lvl1pPr algn="ctr">
              <a:defRPr sz="3000">
                <a:solidFill>
                  <a:schemeClr val="tx1"/>
                </a:solidFill>
                <a:latin typeface="Georgia" charset="0"/>
                <a:ea typeface="Georgia" charset="0"/>
                <a:cs typeface="Georgia" charset="0"/>
              </a:defRPr>
            </a:lvl1pPr>
          </a:lstStyle>
          <a:p>
            <a:r>
              <a:rPr lang="es-ES_tradnl" dirty="0"/>
              <a:t>Título</a:t>
            </a:r>
          </a:p>
        </p:txBody>
      </p:sp>
      <p:sp>
        <p:nvSpPr>
          <p:cNvPr id="10" name="Text Placeholder 3">
            <a:extLst>
              <a:ext uri="{FF2B5EF4-FFF2-40B4-BE49-F238E27FC236}">
                <a16:creationId xmlns:a16="http://schemas.microsoft.com/office/drawing/2014/main" id="{4D65F07F-1598-AA49-8D42-3B267202AE73}"/>
              </a:ext>
            </a:extLst>
          </p:cNvPr>
          <p:cNvSpPr>
            <a:spLocks noGrp="1"/>
          </p:cNvSpPr>
          <p:nvPr>
            <p:ph type="body" sz="quarter" idx="12" hasCustomPrompt="1"/>
          </p:nvPr>
        </p:nvSpPr>
        <p:spPr>
          <a:xfrm>
            <a:off x="106325" y="1609059"/>
            <a:ext cx="4373525" cy="4682203"/>
          </a:xfrm>
        </p:spPr>
        <p:txBody>
          <a:bodyPr/>
          <a:lstStyle>
            <a:lvl1pPr marL="457200" indent="-457200">
              <a:buClr>
                <a:schemeClr val="tx1"/>
              </a:buClr>
              <a:buFont typeface="Wingdings" pitchFamily="2" charset="2"/>
              <a:buChar char="§"/>
              <a:defRPr>
                <a:solidFill>
                  <a:srgbClr val="EAEAEA"/>
                </a:solidFill>
              </a:defRPr>
            </a:lvl1pPr>
            <a:lvl2pPr marL="685800" indent="-228600">
              <a:buClr>
                <a:schemeClr val="tx1"/>
              </a:buClr>
              <a:buFont typeface="Arial" panose="020B0604020202020204" pitchFamily="34" charset="0"/>
              <a:buChar char="•"/>
              <a:defRPr>
                <a:solidFill>
                  <a:srgbClr val="EAEAEA"/>
                </a:solidFill>
              </a:defRPr>
            </a:lvl2pPr>
            <a:lvl3pPr marL="1143000" indent="-228600">
              <a:buClr>
                <a:schemeClr val="tx1"/>
              </a:buClr>
              <a:buFont typeface="Arial" panose="020B0604020202020204" pitchFamily="34" charset="0"/>
              <a:buChar char="•"/>
              <a:defRPr>
                <a:solidFill>
                  <a:srgbClr val="EAEAEA"/>
                </a:solidFill>
              </a:defRPr>
            </a:lvl3pPr>
            <a:lvl4pPr marL="1600200" indent="-228600">
              <a:buClr>
                <a:schemeClr val="tx1"/>
              </a:buClr>
              <a:buFont typeface="Arial" panose="020B0604020202020204" pitchFamily="34" charset="0"/>
              <a:buChar char="•"/>
              <a:defRPr>
                <a:solidFill>
                  <a:srgbClr val="EAEAEA"/>
                </a:solidFill>
              </a:defRPr>
            </a:lvl4pPr>
          </a:lstStyle>
          <a:p>
            <a:pPr lvl="0"/>
            <a:r>
              <a:rPr lang="en-US" dirty="0" err="1"/>
              <a:t>Contenido</a:t>
            </a:r>
            <a:r>
              <a:rPr lang="en-US" dirty="0"/>
              <a:t> primer </a:t>
            </a:r>
            <a:r>
              <a:rPr lang="en-US" dirty="0" err="1"/>
              <a:t>nivel</a:t>
            </a:r>
            <a:endParaRPr lang="en-US" dirty="0"/>
          </a:p>
          <a:p>
            <a:pPr lvl="1"/>
            <a:r>
              <a:rPr lang="en-US" dirty="0" err="1"/>
              <a:t>Contenido</a:t>
            </a:r>
            <a:r>
              <a:rPr lang="en-US" dirty="0"/>
              <a:t> </a:t>
            </a:r>
            <a:r>
              <a:rPr lang="en-US" dirty="0" err="1"/>
              <a:t>segundo</a:t>
            </a:r>
            <a:r>
              <a:rPr lang="en-US" dirty="0"/>
              <a:t> </a:t>
            </a:r>
            <a:r>
              <a:rPr lang="en-US" dirty="0" err="1"/>
              <a:t>nivel</a:t>
            </a:r>
            <a:endParaRPr lang="en-US" dirty="0"/>
          </a:p>
          <a:p>
            <a:pPr lvl="2"/>
            <a:r>
              <a:rPr lang="en-US" dirty="0" err="1"/>
              <a:t>Contenido</a:t>
            </a:r>
            <a:r>
              <a:rPr lang="en-US" dirty="0"/>
              <a:t> </a:t>
            </a:r>
            <a:r>
              <a:rPr lang="en-US" dirty="0" err="1"/>
              <a:t>tercer</a:t>
            </a:r>
            <a:r>
              <a:rPr lang="en-US" dirty="0"/>
              <a:t> </a:t>
            </a:r>
            <a:r>
              <a:rPr lang="en-US" dirty="0" err="1"/>
              <a:t>nivel</a:t>
            </a:r>
            <a:endParaRPr lang="en-US" dirty="0"/>
          </a:p>
          <a:p>
            <a:pPr lvl="3"/>
            <a:r>
              <a:rPr lang="en-US" dirty="0" err="1"/>
              <a:t>Contenido</a:t>
            </a:r>
            <a:r>
              <a:rPr lang="en-US" dirty="0"/>
              <a:t> </a:t>
            </a:r>
            <a:r>
              <a:rPr lang="en-US" dirty="0" err="1"/>
              <a:t>cuarto</a:t>
            </a:r>
            <a:r>
              <a:rPr lang="en-US" dirty="0"/>
              <a:t> </a:t>
            </a:r>
            <a:r>
              <a:rPr lang="en-US" dirty="0" err="1"/>
              <a:t>nivel</a:t>
            </a:r>
            <a:endParaRPr lang="en-PE" dirty="0"/>
          </a:p>
        </p:txBody>
      </p:sp>
    </p:spTree>
    <p:extLst>
      <p:ext uri="{BB962C8B-B14F-4D97-AF65-F5344CB8AC3E}">
        <p14:creationId xmlns:p14="http://schemas.microsoft.com/office/powerpoint/2010/main" val="40245855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ítulo de sección">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EAB234F9-9B24-1348-A6E2-02133E575E7D}"/>
              </a:ext>
            </a:extLst>
          </p:cNvPr>
          <p:cNvSpPr>
            <a:spLocks noGrp="1"/>
          </p:cNvSpPr>
          <p:nvPr>
            <p:ph type="title" hasCustomPrompt="1"/>
          </p:nvPr>
        </p:nvSpPr>
        <p:spPr>
          <a:xfrm>
            <a:off x="838200" y="1762328"/>
            <a:ext cx="10515600" cy="1325563"/>
          </a:xfrm>
        </p:spPr>
        <p:txBody>
          <a:bodyPr/>
          <a:lstStyle>
            <a:lvl1pPr algn="ctr">
              <a:defRPr>
                <a:solidFill>
                  <a:schemeClr val="tx1"/>
                </a:solidFill>
                <a:latin typeface="Georgia" charset="0"/>
                <a:ea typeface="Georgia" charset="0"/>
                <a:cs typeface="Georgia" charset="0"/>
              </a:defRPr>
            </a:lvl1pPr>
          </a:lstStyle>
          <a:p>
            <a:r>
              <a:rPr lang="es-ES_tradnl" dirty="0"/>
              <a:t>Título de sección</a:t>
            </a:r>
          </a:p>
        </p:txBody>
      </p:sp>
      <p:sp>
        <p:nvSpPr>
          <p:cNvPr id="3" name="Text Placeholder 2">
            <a:extLst>
              <a:ext uri="{FF2B5EF4-FFF2-40B4-BE49-F238E27FC236}">
                <a16:creationId xmlns:a16="http://schemas.microsoft.com/office/drawing/2014/main" id="{1F07DE41-49D2-3248-A4E2-68DDDC3818E7}"/>
              </a:ext>
            </a:extLst>
          </p:cNvPr>
          <p:cNvSpPr>
            <a:spLocks noGrp="1"/>
          </p:cNvSpPr>
          <p:nvPr>
            <p:ph type="body" sz="quarter" idx="10" hasCustomPrompt="1"/>
          </p:nvPr>
        </p:nvSpPr>
        <p:spPr>
          <a:xfrm>
            <a:off x="2175891" y="3611877"/>
            <a:ext cx="7840218" cy="924388"/>
          </a:xfrm>
        </p:spPr>
        <p:txBody>
          <a:bodyPr anchor="ctr"/>
          <a:lstStyle>
            <a:lvl1pPr marL="0" indent="0" algn="ctr">
              <a:buNone/>
              <a:defRPr>
                <a:solidFill>
                  <a:srgbClr val="EAEAEA"/>
                </a:solidFill>
                <a:latin typeface="Georgia" panose="02040502050405020303" pitchFamily="18" charset="0"/>
              </a:defRPr>
            </a:lvl1pPr>
          </a:lstStyle>
          <a:p>
            <a:pPr lvl="0"/>
            <a:r>
              <a:rPr lang="en-PE" dirty="0"/>
              <a:t>Subtítulo de sección</a:t>
            </a:r>
          </a:p>
        </p:txBody>
      </p:sp>
    </p:spTree>
    <p:extLst>
      <p:ext uri="{BB962C8B-B14F-4D97-AF65-F5344CB8AC3E}">
        <p14:creationId xmlns:p14="http://schemas.microsoft.com/office/powerpoint/2010/main" val="101556712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ítulo grande">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lvl1pPr>
              <a:defRPr>
                <a:solidFill>
                  <a:schemeClr val="tx1"/>
                </a:solidFill>
                <a:latin typeface="Georgia" charset="0"/>
                <a:ea typeface="Georgia" charset="0"/>
                <a:cs typeface="Georgia" charset="0"/>
              </a:defRPr>
            </a:lvl1pPr>
          </a:lstStyle>
          <a:p>
            <a:r>
              <a:rPr lang="es-ES_tradnl" dirty="0"/>
              <a:t>Título</a:t>
            </a:r>
          </a:p>
        </p:txBody>
      </p:sp>
      <p:sp>
        <p:nvSpPr>
          <p:cNvPr id="4" name="Text Placeholder 3">
            <a:extLst>
              <a:ext uri="{FF2B5EF4-FFF2-40B4-BE49-F238E27FC236}">
                <a16:creationId xmlns:a16="http://schemas.microsoft.com/office/drawing/2014/main" id="{97B7DE5B-B126-0B42-B728-A8650A460CC1}"/>
              </a:ext>
            </a:extLst>
          </p:cNvPr>
          <p:cNvSpPr>
            <a:spLocks noGrp="1"/>
          </p:cNvSpPr>
          <p:nvPr>
            <p:ph type="body" sz="quarter" idx="10" hasCustomPrompt="1"/>
          </p:nvPr>
        </p:nvSpPr>
        <p:spPr>
          <a:xfrm>
            <a:off x="838200" y="1960563"/>
            <a:ext cx="10515600" cy="4330700"/>
          </a:xfrm>
        </p:spPr>
        <p:txBody>
          <a:bodyPr/>
          <a:lstStyle>
            <a:lvl1pPr marL="457200" indent="-457200">
              <a:buClr>
                <a:schemeClr val="tx1"/>
              </a:buClr>
              <a:buFont typeface="Wingdings" pitchFamily="2" charset="2"/>
              <a:buChar char="§"/>
              <a:defRPr>
                <a:solidFill>
                  <a:srgbClr val="EAEAEA"/>
                </a:solidFill>
              </a:defRPr>
            </a:lvl1pPr>
            <a:lvl2pPr marL="685800" indent="-228600">
              <a:buClr>
                <a:schemeClr val="tx1"/>
              </a:buClr>
              <a:buFont typeface="Arial" panose="020B0604020202020204" pitchFamily="34" charset="0"/>
              <a:buChar char="•"/>
              <a:defRPr>
                <a:solidFill>
                  <a:srgbClr val="EAEAEA"/>
                </a:solidFill>
              </a:defRPr>
            </a:lvl2pPr>
            <a:lvl3pPr marL="1143000" indent="-228600">
              <a:buClr>
                <a:schemeClr val="tx1"/>
              </a:buClr>
              <a:buFont typeface="Arial" panose="020B0604020202020204" pitchFamily="34" charset="0"/>
              <a:buChar char="•"/>
              <a:defRPr>
                <a:solidFill>
                  <a:srgbClr val="EAEAEA"/>
                </a:solidFill>
              </a:defRPr>
            </a:lvl3pPr>
            <a:lvl4pPr marL="1600200" indent="-228600">
              <a:buClr>
                <a:schemeClr val="tx1"/>
              </a:buClr>
              <a:buFont typeface="Arial" panose="020B0604020202020204" pitchFamily="34" charset="0"/>
              <a:buChar char="•"/>
              <a:defRPr>
                <a:solidFill>
                  <a:srgbClr val="EAEAEA"/>
                </a:solidFill>
              </a:defRPr>
            </a:lvl4pPr>
          </a:lstStyle>
          <a:p>
            <a:pPr lvl="0"/>
            <a:r>
              <a:rPr lang="en-US" dirty="0" err="1"/>
              <a:t>Contenido</a:t>
            </a:r>
            <a:r>
              <a:rPr lang="en-US" dirty="0"/>
              <a:t> primer </a:t>
            </a:r>
            <a:r>
              <a:rPr lang="en-US" dirty="0" err="1"/>
              <a:t>nivel</a:t>
            </a:r>
            <a:endParaRPr lang="en-US" dirty="0"/>
          </a:p>
          <a:p>
            <a:pPr lvl="1"/>
            <a:r>
              <a:rPr lang="en-US" dirty="0" err="1"/>
              <a:t>Contenido</a:t>
            </a:r>
            <a:r>
              <a:rPr lang="en-US" dirty="0"/>
              <a:t> </a:t>
            </a:r>
            <a:r>
              <a:rPr lang="en-US" dirty="0" err="1"/>
              <a:t>segundo</a:t>
            </a:r>
            <a:r>
              <a:rPr lang="en-US" dirty="0"/>
              <a:t> </a:t>
            </a:r>
            <a:r>
              <a:rPr lang="en-US" dirty="0" err="1"/>
              <a:t>nivel</a:t>
            </a:r>
            <a:endParaRPr lang="en-US" dirty="0"/>
          </a:p>
          <a:p>
            <a:pPr lvl="2"/>
            <a:r>
              <a:rPr lang="en-US" dirty="0" err="1"/>
              <a:t>Contenido</a:t>
            </a:r>
            <a:r>
              <a:rPr lang="en-US" dirty="0"/>
              <a:t> </a:t>
            </a:r>
            <a:r>
              <a:rPr lang="en-US" dirty="0" err="1"/>
              <a:t>tercer</a:t>
            </a:r>
            <a:r>
              <a:rPr lang="en-US" dirty="0"/>
              <a:t> </a:t>
            </a:r>
            <a:r>
              <a:rPr lang="en-US" dirty="0" err="1"/>
              <a:t>nivel</a:t>
            </a:r>
            <a:endParaRPr lang="en-US" dirty="0"/>
          </a:p>
          <a:p>
            <a:pPr lvl="3"/>
            <a:r>
              <a:rPr lang="en-US" dirty="0" err="1"/>
              <a:t>Contenido</a:t>
            </a:r>
            <a:r>
              <a:rPr lang="en-US" dirty="0"/>
              <a:t> </a:t>
            </a:r>
            <a:r>
              <a:rPr lang="en-US" dirty="0" err="1"/>
              <a:t>cuarto</a:t>
            </a:r>
            <a:r>
              <a:rPr lang="en-US" dirty="0"/>
              <a:t> </a:t>
            </a:r>
            <a:r>
              <a:rPr lang="en-US" dirty="0" err="1"/>
              <a:t>nivel</a:t>
            </a:r>
            <a:endParaRPr lang="en-PE" dirty="0"/>
          </a:p>
        </p:txBody>
      </p:sp>
    </p:spTree>
    <p:extLst>
      <p:ext uri="{BB962C8B-B14F-4D97-AF65-F5344CB8AC3E}">
        <p14:creationId xmlns:p14="http://schemas.microsoft.com/office/powerpoint/2010/main" val="126116535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ítulo pequeñ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8200" y="365125"/>
            <a:ext cx="10515600" cy="461493"/>
          </a:xfrm>
        </p:spPr>
        <p:txBody>
          <a:bodyPr/>
          <a:lstStyle>
            <a:lvl1pPr>
              <a:defRPr sz="3000">
                <a:solidFill>
                  <a:schemeClr val="tx1"/>
                </a:solidFill>
                <a:latin typeface="Georgia" charset="0"/>
                <a:ea typeface="Georgia" charset="0"/>
                <a:cs typeface="Georgia" charset="0"/>
              </a:defRPr>
            </a:lvl1pPr>
          </a:lstStyle>
          <a:p>
            <a:r>
              <a:rPr lang="es-ES_tradnl" dirty="0"/>
              <a:t>Título</a:t>
            </a:r>
          </a:p>
        </p:txBody>
      </p:sp>
      <p:sp>
        <p:nvSpPr>
          <p:cNvPr id="4" name="Text Placeholder 3">
            <a:extLst>
              <a:ext uri="{FF2B5EF4-FFF2-40B4-BE49-F238E27FC236}">
                <a16:creationId xmlns:a16="http://schemas.microsoft.com/office/drawing/2014/main" id="{97B7DE5B-B126-0B42-B728-A8650A460CC1}"/>
              </a:ext>
            </a:extLst>
          </p:cNvPr>
          <p:cNvSpPr>
            <a:spLocks noGrp="1"/>
          </p:cNvSpPr>
          <p:nvPr>
            <p:ph type="body" sz="quarter" idx="10" hasCustomPrompt="1"/>
          </p:nvPr>
        </p:nvSpPr>
        <p:spPr>
          <a:xfrm>
            <a:off x="838200" y="1053389"/>
            <a:ext cx="10515600" cy="5237874"/>
          </a:xfrm>
        </p:spPr>
        <p:txBody>
          <a:bodyPr/>
          <a:lstStyle>
            <a:lvl1pPr marL="457200" indent="-457200">
              <a:buClr>
                <a:schemeClr val="tx1"/>
              </a:buClr>
              <a:buFont typeface="Wingdings" pitchFamily="2" charset="2"/>
              <a:buChar char="§"/>
              <a:defRPr>
                <a:solidFill>
                  <a:srgbClr val="EAEAEA"/>
                </a:solidFill>
              </a:defRPr>
            </a:lvl1pPr>
            <a:lvl2pPr marL="685800" indent="-228600">
              <a:buClr>
                <a:schemeClr val="tx1"/>
              </a:buClr>
              <a:buFont typeface="Arial" panose="020B0604020202020204" pitchFamily="34" charset="0"/>
              <a:buChar char="•"/>
              <a:defRPr>
                <a:solidFill>
                  <a:srgbClr val="EAEAEA"/>
                </a:solidFill>
              </a:defRPr>
            </a:lvl2pPr>
            <a:lvl3pPr marL="1143000" indent="-228600">
              <a:buClr>
                <a:schemeClr val="tx1"/>
              </a:buClr>
              <a:buFont typeface="Arial" panose="020B0604020202020204" pitchFamily="34" charset="0"/>
              <a:buChar char="•"/>
              <a:defRPr>
                <a:solidFill>
                  <a:srgbClr val="EAEAEA"/>
                </a:solidFill>
              </a:defRPr>
            </a:lvl3pPr>
            <a:lvl4pPr marL="1600200" indent="-228600">
              <a:buClr>
                <a:schemeClr val="tx1"/>
              </a:buClr>
              <a:buFont typeface="Arial" panose="020B0604020202020204" pitchFamily="34" charset="0"/>
              <a:buChar char="•"/>
              <a:defRPr>
                <a:solidFill>
                  <a:srgbClr val="EAEAEA"/>
                </a:solidFill>
              </a:defRPr>
            </a:lvl4pPr>
          </a:lstStyle>
          <a:p>
            <a:pPr lvl="0"/>
            <a:r>
              <a:rPr lang="en-US" dirty="0" err="1"/>
              <a:t>Contenido</a:t>
            </a:r>
            <a:r>
              <a:rPr lang="en-US" dirty="0"/>
              <a:t> primer </a:t>
            </a:r>
            <a:r>
              <a:rPr lang="en-US" dirty="0" err="1"/>
              <a:t>nivel</a:t>
            </a:r>
            <a:endParaRPr lang="en-US" dirty="0"/>
          </a:p>
          <a:p>
            <a:pPr lvl="1"/>
            <a:r>
              <a:rPr lang="en-US" dirty="0" err="1"/>
              <a:t>Contenido</a:t>
            </a:r>
            <a:r>
              <a:rPr lang="en-US" dirty="0"/>
              <a:t> </a:t>
            </a:r>
            <a:r>
              <a:rPr lang="en-US" dirty="0" err="1"/>
              <a:t>segundo</a:t>
            </a:r>
            <a:r>
              <a:rPr lang="en-US" dirty="0"/>
              <a:t> </a:t>
            </a:r>
            <a:r>
              <a:rPr lang="en-US" dirty="0" err="1"/>
              <a:t>nivel</a:t>
            </a:r>
            <a:endParaRPr lang="en-US" dirty="0"/>
          </a:p>
          <a:p>
            <a:pPr lvl="2"/>
            <a:r>
              <a:rPr lang="en-US" dirty="0" err="1"/>
              <a:t>Contenido</a:t>
            </a:r>
            <a:r>
              <a:rPr lang="en-US" dirty="0"/>
              <a:t> </a:t>
            </a:r>
            <a:r>
              <a:rPr lang="en-US" dirty="0" err="1"/>
              <a:t>tercer</a:t>
            </a:r>
            <a:r>
              <a:rPr lang="en-US" dirty="0"/>
              <a:t> </a:t>
            </a:r>
            <a:r>
              <a:rPr lang="en-US" dirty="0" err="1"/>
              <a:t>nivel</a:t>
            </a:r>
            <a:endParaRPr lang="en-US" dirty="0"/>
          </a:p>
          <a:p>
            <a:pPr lvl="3"/>
            <a:r>
              <a:rPr lang="en-US" dirty="0" err="1"/>
              <a:t>Contenido</a:t>
            </a:r>
            <a:r>
              <a:rPr lang="en-US" dirty="0"/>
              <a:t> </a:t>
            </a:r>
            <a:r>
              <a:rPr lang="en-US" dirty="0" err="1"/>
              <a:t>cuarto</a:t>
            </a:r>
            <a:r>
              <a:rPr lang="en-US" dirty="0"/>
              <a:t> </a:t>
            </a:r>
            <a:r>
              <a:rPr lang="en-US" dirty="0" err="1"/>
              <a:t>nivel</a:t>
            </a:r>
            <a:endParaRPr lang="en-PE" dirty="0"/>
          </a:p>
        </p:txBody>
      </p:sp>
    </p:spTree>
    <p:extLst>
      <p:ext uri="{BB962C8B-B14F-4D97-AF65-F5344CB8AC3E}">
        <p14:creationId xmlns:p14="http://schemas.microsoft.com/office/powerpoint/2010/main" val="381115732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Vacía">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55954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magen y contenid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EBE1EA9-4E43-5048-806C-A530FF888981}"/>
              </a:ext>
            </a:extLst>
          </p:cNvPr>
          <p:cNvSpPr>
            <a:spLocks noGrp="1"/>
          </p:cNvSpPr>
          <p:nvPr>
            <p:ph type="pic" sz="quarter" idx="10" hasCustomPrompt="1"/>
          </p:nvPr>
        </p:nvSpPr>
        <p:spPr>
          <a:xfrm>
            <a:off x="4607442" y="0"/>
            <a:ext cx="7584558" cy="6709943"/>
          </a:xfrm>
        </p:spPr>
        <p:txBody>
          <a:bodyPr/>
          <a:lstStyle>
            <a:lvl1pPr marL="0" indent="0">
              <a:buNone/>
              <a:defRPr/>
            </a:lvl1pPr>
          </a:lstStyle>
          <a:p>
            <a:r>
              <a:rPr lang="en-PE" dirty="0"/>
              <a:t>Imagen</a:t>
            </a:r>
          </a:p>
        </p:txBody>
      </p:sp>
      <p:sp>
        <p:nvSpPr>
          <p:cNvPr id="6" name="Título 1">
            <a:extLst>
              <a:ext uri="{FF2B5EF4-FFF2-40B4-BE49-F238E27FC236}">
                <a16:creationId xmlns:a16="http://schemas.microsoft.com/office/drawing/2014/main" id="{D6FB2F2C-340B-BB41-8807-1EBD1D08572F}"/>
              </a:ext>
            </a:extLst>
          </p:cNvPr>
          <p:cNvSpPr>
            <a:spLocks noGrp="1"/>
          </p:cNvSpPr>
          <p:nvPr>
            <p:ph type="title" hasCustomPrompt="1"/>
          </p:nvPr>
        </p:nvSpPr>
        <p:spPr>
          <a:xfrm>
            <a:off x="106326" y="762074"/>
            <a:ext cx="4373525" cy="620159"/>
          </a:xfrm>
        </p:spPr>
        <p:txBody>
          <a:bodyPr/>
          <a:lstStyle>
            <a:lvl1pPr algn="ctr">
              <a:defRPr sz="3000">
                <a:solidFill>
                  <a:schemeClr val="tx1"/>
                </a:solidFill>
                <a:latin typeface="Georgia" charset="0"/>
                <a:ea typeface="Georgia" charset="0"/>
                <a:cs typeface="Georgia" charset="0"/>
              </a:defRPr>
            </a:lvl1pPr>
          </a:lstStyle>
          <a:p>
            <a:r>
              <a:rPr lang="es-ES_tradnl" dirty="0"/>
              <a:t>Título</a:t>
            </a:r>
          </a:p>
        </p:txBody>
      </p:sp>
      <p:sp>
        <p:nvSpPr>
          <p:cNvPr id="10" name="Text Placeholder 3">
            <a:extLst>
              <a:ext uri="{FF2B5EF4-FFF2-40B4-BE49-F238E27FC236}">
                <a16:creationId xmlns:a16="http://schemas.microsoft.com/office/drawing/2014/main" id="{4D65F07F-1598-AA49-8D42-3B267202AE73}"/>
              </a:ext>
            </a:extLst>
          </p:cNvPr>
          <p:cNvSpPr>
            <a:spLocks noGrp="1"/>
          </p:cNvSpPr>
          <p:nvPr>
            <p:ph type="body" sz="quarter" idx="12" hasCustomPrompt="1"/>
          </p:nvPr>
        </p:nvSpPr>
        <p:spPr>
          <a:xfrm>
            <a:off x="106325" y="1609059"/>
            <a:ext cx="4373525" cy="4682203"/>
          </a:xfrm>
        </p:spPr>
        <p:txBody>
          <a:bodyPr/>
          <a:lstStyle>
            <a:lvl1pPr marL="457200" indent="-457200">
              <a:buClr>
                <a:schemeClr val="tx1"/>
              </a:buClr>
              <a:buFont typeface="Wingdings" pitchFamily="2" charset="2"/>
              <a:buChar char="§"/>
              <a:defRPr>
                <a:solidFill>
                  <a:srgbClr val="EAEAEA"/>
                </a:solidFill>
              </a:defRPr>
            </a:lvl1pPr>
            <a:lvl2pPr marL="685800" indent="-228600">
              <a:buClr>
                <a:schemeClr val="tx1"/>
              </a:buClr>
              <a:buFont typeface="Arial" panose="020B0604020202020204" pitchFamily="34" charset="0"/>
              <a:buChar char="•"/>
              <a:defRPr>
                <a:solidFill>
                  <a:srgbClr val="EAEAEA"/>
                </a:solidFill>
              </a:defRPr>
            </a:lvl2pPr>
            <a:lvl3pPr marL="1143000" indent="-228600">
              <a:buClr>
                <a:schemeClr val="tx1"/>
              </a:buClr>
              <a:buFont typeface="Arial" panose="020B0604020202020204" pitchFamily="34" charset="0"/>
              <a:buChar char="•"/>
              <a:defRPr>
                <a:solidFill>
                  <a:srgbClr val="EAEAEA"/>
                </a:solidFill>
              </a:defRPr>
            </a:lvl3pPr>
            <a:lvl4pPr marL="1600200" indent="-228600">
              <a:buClr>
                <a:schemeClr val="tx1"/>
              </a:buClr>
              <a:buFont typeface="Arial" panose="020B0604020202020204" pitchFamily="34" charset="0"/>
              <a:buChar char="•"/>
              <a:defRPr>
                <a:solidFill>
                  <a:srgbClr val="EAEAEA"/>
                </a:solidFill>
              </a:defRPr>
            </a:lvl4pPr>
          </a:lstStyle>
          <a:p>
            <a:pPr lvl="0"/>
            <a:r>
              <a:rPr lang="en-US" dirty="0" err="1"/>
              <a:t>Contenido</a:t>
            </a:r>
            <a:r>
              <a:rPr lang="en-US" dirty="0"/>
              <a:t> primer </a:t>
            </a:r>
            <a:r>
              <a:rPr lang="en-US" dirty="0" err="1"/>
              <a:t>nivel</a:t>
            </a:r>
            <a:endParaRPr lang="en-US" dirty="0"/>
          </a:p>
          <a:p>
            <a:pPr lvl="1"/>
            <a:r>
              <a:rPr lang="en-US" dirty="0" err="1"/>
              <a:t>Contenido</a:t>
            </a:r>
            <a:r>
              <a:rPr lang="en-US" dirty="0"/>
              <a:t> </a:t>
            </a:r>
            <a:r>
              <a:rPr lang="en-US" dirty="0" err="1"/>
              <a:t>segundo</a:t>
            </a:r>
            <a:r>
              <a:rPr lang="en-US" dirty="0"/>
              <a:t> </a:t>
            </a:r>
            <a:r>
              <a:rPr lang="en-US" dirty="0" err="1"/>
              <a:t>nivel</a:t>
            </a:r>
            <a:endParaRPr lang="en-US" dirty="0"/>
          </a:p>
          <a:p>
            <a:pPr lvl="2"/>
            <a:r>
              <a:rPr lang="en-US" dirty="0" err="1"/>
              <a:t>Contenido</a:t>
            </a:r>
            <a:r>
              <a:rPr lang="en-US" dirty="0"/>
              <a:t> </a:t>
            </a:r>
            <a:r>
              <a:rPr lang="en-US" dirty="0" err="1"/>
              <a:t>tercer</a:t>
            </a:r>
            <a:r>
              <a:rPr lang="en-US" dirty="0"/>
              <a:t> </a:t>
            </a:r>
            <a:r>
              <a:rPr lang="en-US" dirty="0" err="1"/>
              <a:t>nivel</a:t>
            </a:r>
            <a:endParaRPr lang="en-US" dirty="0"/>
          </a:p>
          <a:p>
            <a:pPr lvl="3"/>
            <a:r>
              <a:rPr lang="en-US" dirty="0" err="1"/>
              <a:t>Contenido</a:t>
            </a:r>
            <a:r>
              <a:rPr lang="en-US" dirty="0"/>
              <a:t> </a:t>
            </a:r>
            <a:r>
              <a:rPr lang="en-US" dirty="0" err="1"/>
              <a:t>cuarto</a:t>
            </a:r>
            <a:r>
              <a:rPr lang="en-US" dirty="0"/>
              <a:t> </a:t>
            </a:r>
            <a:r>
              <a:rPr lang="en-US" dirty="0" err="1"/>
              <a:t>nivel</a:t>
            </a:r>
            <a:endParaRPr lang="en-PE" dirty="0"/>
          </a:p>
        </p:txBody>
      </p:sp>
    </p:spTree>
    <p:extLst>
      <p:ext uri="{BB962C8B-B14F-4D97-AF65-F5344CB8AC3E}">
        <p14:creationId xmlns:p14="http://schemas.microsoft.com/office/powerpoint/2010/main" val="201112068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ítulo de sección">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EAB234F9-9B24-1348-A6E2-02133E575E7D}"/>
              </a:ext>
            </a:extLst>
          </p:cNvPr>
          <p:cNvSpPr>
            <a:spLocks noGrp="1"/>
          </p:cNvSpPr>
          <p:nvPr>
            <p:ph type="title" hasCustomPrompt="1"/>
          </p:nvPr>
        </p:nvSpPr>
        <p:spPr>
          <a:xfrm>
            <a:off x="838200" y="1762328"/>
            <a:ext cx="10515600" cy="1325563"/>
          </a:xfrm>
        </p:spPr>
        <p:txBody>
          <a:bodyPr/>
          <a:lstStyle>
            <a:lvl1pPr algn="ctr">
              <a:defRPr>
                <a:solidFill>
                  <a:schemeClr val="tx1"/>
                </a:solidFill>
                <a:latin typeface="Georgia" charset="0"/>
                <a:ea typeface="Georgia" charset="0"/>
                <a:cs typeface="Georgia" charset="0"/>
              </a:defRPr>
            </a:lvl1pPr>
          </a:lstStyle>
          <a:p>
            <a:r>
              <a:rPr lang="es-ES_tradnl" dirty="0"/>
              <a:t>Título de sección</a:t>
            </a:r>
          </a:p>
        </p:txBody>
      </p:sp>
      <p:sp>
        <p:nvSpPr>
          <p:cNvPr id="3" name="Text Placeholder 2">
            <a:extLst>
              <a:ext uri="{FF2B5EF4-FFF2-40B4-BE49-F238E27FC236}">
                <a16:creationId xmlns:a16="http://schemas.microsoft.com/office/drawing/2014/main" id="{1F07DE41-49D2-3248-A4E2-68DDDC3818E7}"/>
              </a:ext>
            </a:extLst>
          </p:cNvPr>
          <p:cNvSpPr>
            <a:spLocks noGrp="1"/>
          </p:cNvSpPr>
          <p:nvPr>
            <p:ph type="body" sz="quarter" idx="10" hasCustomPrompt="1"/>
          </p:nvPr>
        </p:nvSpPr>
        <p:spPr>
          <a:xfrm>
            <a:off x="2175891" y="3611877"/>
            <a:ext cx="7840218" cy="924388"/>
          </a:xfrm>
        </p:spPr>
        <p:txBody>
          <a:bodyPr anchor="ctr"/>
          <a:lstStyle>
            <a:lvl1pPr marL="0" indent="0" algn="ctr">
              <a:buNone/>
              <a:defRPr>
                <a:solidFill>
                  <a:srgbClr val="EAEAEA"/>
                </a:solidFill>
                <a:latin typeface="Georgia" panose="02040502050405020303" pitchFamily="18" charset="0"/>
              </a:defRPr>
            </a:lvl1pPr>
          </a:lstStyle>
          <a:p>
            <a:pPr lvl="0"/>
            <a:r>
              <a:rPr lang="en-PE" dirty="0"/>
              <a:t>Subtítulo de sección</a:t>
            </a:r>
          </a:p>
        </p:txBody>
      </p:sp>
    </p:spTree>
    <p:extLst>
      <p:ext uri="{BB962C8B-B14F-4D97-AF65-F5344CB8AC3E}">
        <p14:creationId xmlns:p14="http://schemas.microsoft.com/office/powerpoint/2010/main" val="363240356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ítulo grande">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lvl1pPr>
              <a:defRPr>
                <a:solidFill>
                  <a:schemeClr val="tx1"/>
                </a:solidFill>
                <a:latin typeface="Georgia" charset="0"/>
                <a:ea typeface="Georgia" charset="0"/>
                <a:cs typeface="Georgia" charset="0"/>
              </a:defRPr>
            </a:lvl1pPr>
          </a:lstStyle>
          <a:p>
            <a:r>
              <a:rPr lang="es-ES_tradnl" dirty="0"/>
              <a:t>Título</a:t>
            </a:r>
          </a:p>
        </p:txBody>
      </p:sp>
      <p:sp>
        <p:nvSpPr>
          <p:cNvPr id="4" name="Text Placeholder 3">
            <a:extLst>
              <a:ext uri="{FF2B5EF4-FFF2-40B4-BE49-F238E27FC236}">
                <a16:creationId xmlns:a16="http://schemas.microsoft.com/office/drawing/2014/main" id="{97B7DE5B-B126-0B42-B728-A8650A460CC1}"/>
              </a:ext>
            </a:extLst>
          </p:cNvPr>
          <p:cNvSpPr>
            <a:spLocks noGrp="1"/>
          </p:cNvSpPr>
          <p:nvPr>
            <p:ph type="body" sz="quarter" idx="10" hasCustomPrompt="1"/>
          </p:nvPr>
        </p:nvSpPr>
        <p:spPr>
          <a:xfrm>
            <a:off x="838200" y="1960563"/>
            <a:ext cx="10515600" cy="4330700"/>
          </a:xfrm>
        </p:spPr>
        <p:txBody>
          <a:bodyPr/>
          <a:lstStyle>
            <a:lvl1pPr marL="457200" indent="-457200">
              <a:buClr>
                <a:schemeClr val="tx1"/>
              </a:buClr>
              <a:buFont typeface="Wingdings" pitchFamily="2" charset="2"/>
              <a:buChar char="§"/>
              <a:defRPr>
                <a:solidFill>
                  <a:srgbClr val="EAEAEA"/>
                </a:solidFill>
              </a:defRPr>
            </a:lvl1pPr>
            <a:lvl2pPr marL="685800" indent="-228600">
              <a:buClr>
                <a:schemeClr val="tx1"/>
              </a:buClr>
              <a:buFont typeface="Arial" panose="020B0604020202020204" pitchFamily="34" charset="0"/>
              <a:buChar char="•"/>
              <a:defRPr>
                <a:solidFill>
                  <a:srgbClr val="EAEAEA"/>
                </a:solidFill>
              </a:defRPr>
            </a:lvl2pPr>
            <a:lvl3pPr marL="1143000" indent="-228600">
              <a:buClr>
                <a:schemeClr val="tx1"/>
              </a:buClr>
              <a:buFont typeface="Arial" panose="020B0604020202020204" pitchFamily="34" charset="0"/>
              <a:buChar char="•"/>
              <a:defRPr>
                <a:solidFill>
                  <a:srgbClr val="EAEAEA"/>
                </a:solidFill>
              </a:defRPr>
            </a:lvl3pPr>
            <a:lvl4pPr marL="1600200" indent="-228600">
              <a:buClr>
                <a:schemeClr val="tx1"/>
              </a:buClr>
              <a:buFont typeface="Arial" panose="020B0604020202020204" pitchFamily="34" charset="0"/>
              <a:buChar char="•"/>
              <a:defRPr>
                <a:solidFill>
                  <a:srgbClr val="EAEAEA"/>
                </a:solidFill>
              </a:defRPr>
            </a:lvl4pPr>
          </a:lstStyle>
          <a:p>
            <a:pPr lvl="0"/>
            <a:r>
              <a:rPr lang="en-US" dirty="0" err="1"/>
              <a:t>Contenido</a:t>
            </a:r>
            <a:r>
              <a:rPr lang="en-US" dirty="0"/>
              <a:t> primer </a:t>
            </a:r>
            <a:r>
              <a:rPr lang="en-US" dirty="0" err="1"/>
              <a:t>nivel</a:t>
            </a:r>
            <a:endParaRPr lang="en-US" dirty="0"/>
          </a:p>
          <a:p>
            <a:pPr lvl="1"/>
            <a:r>
              <a:rPr lang="en-US" dirty="0" err="1"/>
              <a:t>Contenido</a:t>
            </a:r>
            <a:r>
              <a:rPr lang="en-US" dirty="0"/>
              <a:t> </a:t>
            </a:r>
            <a:r>
              <a:rPr lang="en-US" dirty="0" err="1"/>
              <a:t>segundo</a:t>
            </a:r>
            <a:r>
              <a:rPr lang="en-US" dirty="0"/>
              <a:t> </a:t>
            </a:r>
            <a:r>
              <a:rPr lang="en-US" dirty="0" err="1"/>
              <a:t>nivel</a:t>
            </a:r>
            <a:endParaRPr lang="en-US" dirty="0"/>
          </a:p>
          <a:p>
            <a:pPr lvl="2"/>
            <a:r>
              <a:rPr lang="en-US" dirty="0" err="1"/>
              <a:t>Contenido</a:t>
            </a:r>
            <a:r>
              <a:rPr lang="en-US" dirty="0"/>
              <a:t> </a:t>
            </a:r>
            <a:r>
              <a:rPr lang="en-US" dirty="0" err="1"/>
              <a:t>tercer</a:t>
            </a:r>
            <a:r>
              <a:rPr lang="en-US" dirty="0"/>
              <a:t> </a:t>
            </a:r>
            <a:r>
              <a:rPr lang="en-US" dirty="0" err="1"/>
              <a:t>nivel</a:t>
            </a:r>
            <a:endParaRPr lang="en-US" dirty="0"/>
          </a:p>
          <a:p>
            <a:pPr lvl="3"/>
            <a:r>
              <a:rPr lang="en-US" dirty="0" err="1"/>
              <a:t>Contenido</a:t>
            </a:r>
            <a:r>
              <a:rPr lang="en-US" dirty="0"/>
              <a:t> </a:t>
            </a:r>
            <a:r>
              <a:rPr lang="en-US" dirty="0" err="1"/>
              <a:t>cuarto</a:t>
            </a:r>
            <a:r>
              <a:rPr lang="en-US" dirty="0"/>
              <a:t> </a:t>
            </a:r>
            <a:r>
              <a:rPr lang="en-US" dirty="0" err="1"/>
              <a:t>nivel</a:t>
            </a:r>
            <a:endParaRPr lang="en-PE" dirty="0"/>
          </a:p>
        </p:txBody>
      </p:sp>
    </p:spTree>
    <p:extLst>
      <p:ext uri="{BB962C8B-B14F-4D97-AF65-F5344CB8AC3E}">
        <p14:creationId xmlns:p14="http://schemas.microsoft.com/office/powerpoint/2010/main" val="28970488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ítulo pequeñ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8200" y="365125"/>
            <a:ext cx="10515600" cy="461493"/>
          </a:xfrm>
        </p:spPr>
        <p:txBody>
          <a:bodyPr/>
          <a:lstStyle>
            <a:lvl1pPr>
              <a:defRPr sz="3000">
                <a:solidFill>
                  <a:schemeClr val="tx1"/>
                </a:solidFill>
                <a:latin typeface="Georgia" charset="0"/>
                <a:ea typeface="Georgia" charset="0"/>
                <a:cs typeface="Georgia" charset="0"/>
              </a:defRPr>
            </a:lvl1pPr>
          </a:lstStyle>
          <a:p>
            <a:r>
              <a:rPr lang="es-ES_tradnl" dirty="0"/>
              <a:t>Título</a:t>
            </a:r>
          </a:p>
        </p:txBody>
      </p:sp>
      <p:sp>
        <p:nvSpPr>
          <p:cNvPr id="4" name="Text Placeholder 3">
            <a:extLst>
              <a:ext uri="{FF2B5EF4-FFF2-40B4-BE49-F238E27FC236}">
                <a16:creationId xmlns:a16="http://schemas.microsoft.com/office/drawing/2014/main" id="{97B7DE5B-B126-0B42-B728-A8650A460CC1}"/>
              </a:ext>
            </a:extLst>
          </p:cNvPr>
          <p:cNvSpPr>
            <a:spLocks noGrp="1"/>
          </p:cNvSpPr>
          <p:nvPr>
            <p:ph type="body" sz="quarter" idx="10" hasCustomPrompt="1"/>
          </p:nvPr>
        </p:nvSpPr>
        <p:spPr>
          <a:xfrm>
            <a:off x="838200" y="1053389"/>
            <a:ext cx="10515600" cy="5237874"/>
          </a:xfrm>
        </p:spPr>
        <p:txBody>
          <a:bodyPr/>
          <a:lstStyle>
            <a:lvl1pPr marL="457200" indent="-457200">
              <a:buClr>
                <a:schemeClr val="tx1"/>
              </a:buClr>
              <a:buFont typeface="Wingdings" pitchFamily="2" charset="2"/>
              <a:buChar char="§"/>
              <a:defRPr>
                <a:solidFill>
                  <a:srgbClr val="EAEAEA"/>
                </a:solidFill>
              </a:defRPr>
            </a:lvl1pPr>
            <a:lvl2pPr marL="685800" indent="-228600">
              <a:buClr>
                <a:schemeClr val="tx1"/>
              </a:buClr>
              <a:buFont typeface="Arial" panose="020B0604020202020204" pitchFamily="34" charset="0"/>
              <a:buChar char="•"/>
              <a:defRPr>
                <a:solidFill>
                  <a:srgbClr val="EAEAEA"/>
                </a:solidFill>
              </a:defRPr>
            </a:lvl2pPr>
            <a:lvl3pPr marL="1143000" indent="-228600">
              <a:buClr>
                <a:schemeClr val="tx1"/>
              </a:buClr>
              <a:buFont typeface="Arial" panose="020B0604020202020204" pitchFamily="34" charset="0"/>
              <a:buChar char="•"/>
              <a:defRPr>
                <a:solidFill>
                  <a:srgbClr val="EAEAEA"/>
                </a:solidFill>
              </a:defRPr>
            </a:lvl3pPr>
            <a:lvl4pPr marL="1600200" indent="-228600">
              <a:buClr>
                <a:schemeClr val="tx1"/>
              </a:buClr>
              <a:buFont typeface="Arial" panose="020B0604020202020204" pitchFamily="34" charset="0"/>
              <a:buChar char="•"/>
              <a:defRPr>
                <a:solidFill>
                  <a:srgbClr val="EAEAEA"/>
                </a:solidFill>
              </a:defRPr>
            </a:lvl4pPr>
          </a:lstStyle>
          <a:p>
            <a:pPr lvl="0"/>
            <a:r>
              <a:rPr lang="en-US" dirty="0" err="1"/>
              <a:t>Contenido</a:t>
            </a:r>
            <a:r>
              <a:rPr lang="en-US" dirty="0"/>
              <a:t> primer </a:t>
            </a:r>
            <a:r>
              <a:rPr lang="en-US" dirty="0" err="1"/>
              <a:t>nivel</a:t>
            </a:r>
            <a:endParaRPr lang="en-US" dirty="0"/>
          </a:p>
          <a:p>
            <a:pPr lvl="1"/>
            <a:r>
              <a:rPr lang="en-US" dirty="0" err="1"/>
              <a:t>Contenido</a:t>
            </a:r>
            <a:r>
              <a:rPr lang="en-US" dirty="0"/>
              <a:t> </a:t>
            </a:r>
            <a:r>
              <a:rPr lang="en-US" dirty="0" err="1"/>
              <a:t>segundo</a:t>
            </a:r>
            <a:r>
              <a:rPr lang="en-US" dirty="0"/>
              <a:t> </a:t>
            </a:r>
            <a:r>
              <a:rPr lang="en-US" dirty="0" err="1"/>
              <a:t>nivel</a:t>
            </a:r>
            <a:endParaRPr lang="en-US" dirty="0"/>
          </a:p>
          <a:p>
            <a:pPr lvl="2"/>
            <a:r>
              <a:rPr lang="en-US" dirty="0" err="1"/>
              <a:t>Contenido</a:t>
            </a:r>
            <a:r>
              <a:rPr lang="en-US" dirty="0"/>
              <a:t> </a:t>
            </a:r>
            <a:r>
              <a:rPr lang="en-US" dirty="0" err="1"/>
              <a:t>tercer</a:t>
            </a:r>
            <a:r>
              <a:rPr lang="en-US" dirty="0"/>
              <a:t> </a:t>
            </a:r>
            <a:r>
              <a:rPr lang="en-US" dirty="0" err="1"/>
              <a:t>nivel</a:t>
            </a:r>
            <a:endParaRPr lang="en-US" dirty="0"/>
          </a:p>
          <a:p>
            <a:pPr lvl="3"/>
            <a:r>
              <a:rPr lang="en-US" dirty="0" err="1"/>
              <a:t>Contenido</a:t>
            </a:r>
            <a:r>
              <a:rPr lang="en-US" dirty="0"/>
              <a:t> </a:t>
            </a:r>
            <a:r>
              <a:rPr lang="en-US" dirty="0" err="1"/>
              <a:t>cuarto</a:t>
            </a:r>
            <a:r>
              <a:rPr lang="en-US" dirty="0"/>
              <a:t> </a:t>
            </a:r>
            <a:r>
              <a:rPr lang="en-US" dirty="0" err="1"/>
              <a:t>nivel</a:t>
            </a:r>
            <a:endParaRPr lang="en-PE" dirty="0"/>
          </a:p>
        </p:txBody>
      </p:sp>
    </p:spTree>
    <p:extLst>
      <p:ext uri="{BB962C8B-B14F-4D97-AF65-F5344CB8AC3E}">
        <p14:creationId xmlns:p14="http://schemas.microsoft.com/office/powerpoint/2010/main" val="42011300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7"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1.xml"/><Relationship Id="rId7" Type="http://schemas.openxmlformats.org/officeDocument/2006/relationships/theme" Target="../theme/theme3.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theme" Target="../theme/theme4.xml"/><Relationship Id="rId5" Type="http://schemas.openxmlformats.org/officeDocument/2006/relationships/slideLayout" Target="../slideLayouts/slideLayout29.xml"/><Relationship Id="rId4" Type="http://schemas.openxmlformats.org/officeDocument/2006/relationships/slideLayout" Target="../slideLayouts/slideLayout28.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32.xml"/><Relationship Id="rId7" Type="http://schemas.openxmlformats.org/officeDocument/2006/relationships/image" Target="../media/image4.jpg"/><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theme" Target="../theme/theme5.xml"/><Relationship Id="rId5" Type="http://schemas.openxmlformats.org/officeDocument/2006/relationships/slideLayout" Target="../slideLayouts/slideLayout34.xml"/><Relationship Id="rId4"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_tradnl"/>
              <a:t>Clic para editar título</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s-ES_tradnl"/>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s-ES_tradnl"/>
              <a:t>FACULTAD DE CIENCIAS ECONÓMICAS Y EMPRESARIALES</a:t>
            </a:r>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25E03E-A335-694B-A2BE-C56FC4485501}" type="slidenum">
              <a:rPr lang="es-ES_tradnl" smtClean="0"/>
              <a:t>‹Nº›</a:t>
            </a:fld>
            <a:endParaRPr lang="es-ES_tradnl"/>
          </a:p>
        </p:txBody>
      </p:sp>
    </p:spTree>
    <p:extLst>
      <p:ext uri="{BB962C8B-B14F-4D97-AF65-F5344CB8AC3E}">
        <p14:creationId xmlns:p14="http://schemas.microsoft.com/office/powerpoint/2010/main" val="714784176"/>
      </p:ext>
    </p:extLst>
  </p:cSld>
  <p:clrMap bg1="lt1" tx1="dk1" bg2="lt2" tx2="dk2" accent1="accent1" accent2="accent2" accent3="accent3" accent4="accent4" accent5="accent5" accent6="accent6" hlink="hlink" folHlink="folHlink"/>
  <p:sldLayoutIdLst>
    <p:sldLayoutId id="2147483662"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_tradnl"/>
              <a:t>Clic para editar título</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s-ES_tradnl"/>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s-ES_tradnl"/>
              <a:t>FACULTAD DE CIENCIAS ECONÓMICAS Y EMPRESARIALES</a:t>
            </a:r>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25E03E-A335-694B-A2BE-C56FC4485501}" type="slidenum">
              <a:rPr lang="es-ES_tradnl" smtClean="0"/>
              <a:t>‹Nº›</a:t>
            </a:fld>
            <a:endParaRPr lang="es-ES_tradnl"/>
          </a:p>
        </p:txBody>
      </p:sp>
      <p:sp>
        <p:nvSpPr>
          <p:cNvPr id="11" name="Triángulo isósceles 11">
            <a:extLst>
              <a:ext uri="{FF2B5EF4-FFF2-40B4-BE49-F238E27FC236}">
                <a16:creationId xmlns:a16="http://schemas.microsoft.com/office/drawing/2014/main" id="{BCFBDACA-FF37-441C-BCA2-F698176ECD6F}"/>
              </a:ext>
            </a:extLst>
          </p:cNvPr>
          <p:cNvSpPr/>
          <p:nvPr userDrawn="1"/>
        </p:nvSpPr>
        <p:spPr>
          <a:xfrm>
            <a:off x="11827751" y="6681004"/>
            <a:ext cx="93528" cy="92142"/>
          </a:xfrm>
          <a:custGeom>
            <a:avLst/>
            <a:gdLst>
              <a:gd name="connsiteX0" fmla="*/ 0 w 389220"/>
              <a:gd name="connsiteY0" fmla="*/ 326109 h 326109"/>
              <a:gd name="connsiteX1" fmla="*/ 194610 w 389220"/>
              <a:gd name="connsiteY1" fmla="*/ 0 h 326109"/>
              <a:gd name="connsiteX2" fmla="*/ 389220 w 389220"/>
              <a:gd name="connsiteY2" fmla="*/ 326109 h 326109"/>
              <a:gd name="connsiteX3" fmla="*/ 0 w 389220"/>
              <a:gd name="connsiteY3" fmla="*/ 326109 h 326109"/>
              <a:gd name="connsiteX0" fmla="*/ 0 w 389220"/>
              <a:gd name="connsiteY0" fmla="*/ 0 h 217732"/>
              <a:gd name="connsiteX1" fmla="*/ 13329 w 389220"/>
              <a:gd name="connsiteY1" fmla="*/ 217732 h 217732"/>
              <a:gd name="connsiteX2" fmla="*/ 389220 w 389220"/>
              <a:gd name="connsiteY2" fmla="*/ 0 h 217732"/>
              <a:gd name="connsiteX3" fmla="*/ 0 w 389220"/>
              <a:gd name="connsiteY3" fmla="*/ 0 h 217732"/>
              <a:gd name="connsiteX0" fmla="*/ 0 w 389220"/>
              <a:gd name="connsiteY0" fmla="*/ 0 h 212400"/>
              <a:gd name="connsiteX1" fmla="*/ 2666 w 389220"/>
              <a:gd name="connsiteY1" fmla="*/ 212400 h 212400"/>
              <a:gd name="connsiteX2" fmla="*/ 389220 w 389220"/>
              <a:gd name="connsiteY2" fmla="*/ 0 h 212400"/>
              <a:gd name="connsiteX3" fmla="*/ 0 w 389220"/>
              <a:gd name="connsiteY3" fmla="*/ 0 h 212400"/>
            </a:gdLst>
            <a:ahLst/>
            <a:cxnLst>
              <a:cxn ang="0">
                <a:pos x="connsiteX0" y="connsiteY0"/>
              </a:cxn>
              <a:cxn ang="0">
                <a:pos x="connsiteX1" y="connsiteY1"/>
              </a:cxn>
              <a:cxn ang="0">
                <a:pos x="connsiteX2" y="connsiteY2"/>
              </a:cxn>
              <a:cxn ang="0">
                <a:pos x="connsiteX3" y="connsiteY3"/>
              </a:cxn>
            </a:cxnLst>
            <a:rect l="l" t="t" r="r" b="b"/>
            <a:pathLst>
              <a:path w="389220" h="212400">
                <a:moveTo>
                  <a:pt x="0" y="0"/>
                </a:moveTo>
                <a:cubicBezTo>
                  <a:pt x="889" y="70800"/>
                  <a:pt x="1777" y="141600"/>
                  <a:pt x="2666" y="212400"/>
                </a:cubicBezTo>
                <a:lnTo>
                  <a:pt x="389220" y="0"/>
                </a:lnTo>
                <a:lnTo>
                  <a:pt x="0" y="0"/>
                </a:lnTo>
                <a:close/>
              </a:path>
            </a:pathLst>
          </a:custGeom>
          <a:solidFill>
            <a:srgbClr val="4910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 name="Rectángulo 11">
            <a:extLst>
              <a:ext uri="{FF2B5EF4-FFF2-40B4-BE49-F238E27FC236}">
                <a16:creationId xmlns:a16="http://schemas.microsoft.com/office/drawing/2014/main" id="{9299EC40-71AD-4A69-8ACD-75BE2DB449D2}"/>
              </a:ext>
            </a:extLst>
          </p:cNvPr>
          <p:cNvSpPr/>
          <p:nvPr userDrawn="1"/>
        </p:nvSpPr>
        <p:spPr>
          <a:xfrm>
            <a:off x="0" y="6721200"/>
            <a:ext cx="12192000" cy="136800"/>
          </a:xfrm>
          <a:prstGeom prst="rect">
            <a:avLst/>
          </a:prstGeom>
          <a:solidFill>
            <a:srgbClr val="0046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5" name="Subtítulo 2">
            <a:extLst>
              <a:ext uri="{FF2B5EF4-FFF2-40B4-BE49-F238E27FC236}">
                <a16:creationId xmlns:a16="http://schemas.microsoft.com/office/drawing/2014/main" id="{D312A0A2-FEF0-4040-951C-30E5E1ABC731}"/>
              </a:ext>
            </a:extLst>
          </p:cNvPr>
          <p:cNvSpPr txBox="1">
            <a:spLocks/>
          </p:cNvSpPr>
          <p:nvPr userDrawn="1"/>
        </p:nvSpPr>
        <p:spPr>
          <a:xfrm>
            <a:off x="6096000" y="6715571"/>
            <a:ext cx="6096000" cy="136800"/>
          </a:xfrm>
          <a:prstGeom prst="rect">
            <a:avLst/>
          </a:prstGeom>
        </p:spPr>
        <p:txBody>
          <a:bodyPr vert="horz" lIns="91440" tIns="0" rIns="503998" bIns="0" rtlCol="0" anchor="ctr">
            <a:noAutofit/>
          </a:bodyPr>
          <a:lstStyle>
            <a:lvl1pPr marL="0" indent="0" algn="l" defTabSz="914400" rtl="0" eaLnBrk="1" latinLnBrk="0" hangingPunct="1">
              <a:lnSpc>
                <a:spcPct val="90000"/>
              </a:lnSpc>
              <a:spcBef>
                <a:spcPts val="1000"/>
              </a:spcBef>
              <a:buFont typeface="Arial"/>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algn="r">
              <a:lnSpc>
                <a:spcPct val="120000"/>
              </a:lnSpc>
              <a:spcBef>
                <a:spcPts val="0"/>
              </a:spcBef>
            </a:pPr>
            <a:r>
              <a:rPr lang="es-ES_tradnl" sz="900" dirty="0">
                <a:solidFill>
                  <a:schemeClr val="bg1"/>
                </a:solidFill>
                <a:latin typeface="Arial" panose="020B0604020202020204" pitchFamily="34" charset="0"/>
                <a:ea typeface="Georgia" charset="0"/>
                <a:cs typeface="Arial" panose="020B0604020202020204" pitchFamily="34" charset="0"/>
              </a:rPr>
              <a:t>Universidad de Piura</a:t>
            </a:r>
          </a:p>
        </p:txBody>
      </p:sp>
      <p:sp>
        <p:nvSpPr>
          <p:cNvPr id="16" name="Rectángulo 6">
            <a:extLst>
              <a:ext uri="{FF2B5EF4-FFF2-40B4-BE49-F238E27FC236}">
                <a16:creationId xmlns:a16="http://schemas.microsoft.com/office/drawing/2014/main" id="{32994FAF-F5C6-49E8-BF44-FC4A064FDEA0}"/>
              </a:ext>
            </a:extLst>
          </p:cNvPr>
          <p:cNvSpPr/>
          <p:nvPr userDrawn="1"/>
        </p:nvSpPr>
        <p:spPr>
          <a:xfrm>
            <a:off x="11827749" y="6678853"/>
            <a:ext cx="364251" cy="179147"/>
          </a:xfrm>
          <a:custGeom>
            <a:avLst/>
            <a:gdLst>
              <a:gd name="connsiteX0" fmla="*/ 0 w 364251"/>
              <a:gd name="connsiteY0" fmla="*/ 0 h 176765"/>
              <a:gd name="connsiteX1" fmla="*/ 364251 w 364251"/>
              <a:gd name="connsiteY1" fmla="*/ 0 h 176765"/>
              <a:gd name="connsiteX2" fmla="*/ 364251 w 364251"/>
              <a:gd name="connsiteY2" fmla="*/ 176765 h 176765"/>
              <a:gd name="connsiteX3" fmla="*/ 0 w 364251"/>
              <a:gd name="connsiteY3" fmla="*/ 176765 h 176765"/>
              <a:gd name="connsiteX4" fmla="*/ 0 w 364251"/>
              <a:gd name="connsiteY4" fmla="*/ 0 h 176765"/>
              <a:gd name="connsiteX0" fmla="*/ 0 w 364251"/>
              <a:gd name="connsiteY0" fmla="*/ 0 h 176765"/>
              <a:gd name="connsiteX1" fmla="*/ 364251 w 364251"/>
              <a:gd name="connsiteY1" fmla="*/ 0 h 176765"/>
              <a:gd name="connsiteX2" fmla="*/ 364251 w 364251"/>
              <a:gd name="connsiteY2" fmla="*/ 176765 h 176765"/>
              <a:gd name="connsiteX3" fmla="*/ 111919 w 364251"/>
              <a:gd name="connsiteY3" fmla="*/ 176765 h 176765"/>
              <a:gd name="connsiteX4" fmla="*/ 0 w 364251"/>
              <a:gd name="connsiteY4" fmla="*/ 0 h 176765"/>
              <a:gd name="connsiteX0" fmla="*/ 0 w 364251"/>
              <a:gd name="connsiteY0" fmla="*/ 0 h 179147"/>
              <a:gd name="connsiteX1" fmla="*/ 364251 w 364251"/>
              <a:gd name="connsiteY1" fmla="*/ 0 h 179147"/>
              <a:gd name="connsiteX2" fmla="*/ 364251 w 364251"/>
              <a:gd name="connsiteY2" fmla="*/ 176765 h 179147"/>
              <a:gd name="connsiteX3" fmla="*/ 102394 w 364251"/>
              <a:gd name="connsiteY3" fmla="*/ 179147 h 179147"/>
              <a:gd name="connsiteX4" fmla="*/ 0 w 364251"/>
              <a:gd name="connsiteY4" fmla="*/ 0 h 179147"/>
              <a:gd name="connsiteX0" fmla="*/ 0 w 364251"/>
              <a:gd name="connsiteY0" fmla="*/ 0 h 179147"/>
              <a:gd name="connsiteX1" fmla="*/ 364251 w 364251"/>
              <a:gd name="connsiteY1" fmla="*/ 0 h 179147"/>
              <a:gd name="connsiteX2" fmla="*/ 364251 w 364251"/>
              <a:gd name="connsiteY2" fmla="*/ 179147 h 179147"/>
              <a:gd name="connsiteX3" fmla="*/ 102394 w 364251"/>
              <a:gd name="connsiteY3" fmla="*/ 179147 h 179147"/>
              <a:gd name="connsiteX4" fmla="*/ 0 w 364251"/>
              <a:gd name="connsiteY4" fmla="*/ 0 h 179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251" h="179147">
                <a:moveTo>
                  <a:pt x="0" y="0"/>
                </a:moveTo>
                <a:lnTo>
                  <a:pt x="364251" y="0"/>
                </a:lnTo>
                <a:lnTo>
                  <a:pt x="364251" y="179147"/>
                </a:lnTo>
                <a:lnTo>
                  <a:pt x="102394" y="179147"/>
                </a:lnTo>
                <a:lnTo>
                  <a:pt x="0" y="0"/>
                </a:lnTo>
                <a:close/>
              </a:path>
            </a:pathLst>
          </a:custGeom>
          <a:solidFill>
            <a:srgbClr val="8C1F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3137062396"/>
      </p:ext>
    </p:extLst>
  </p:cSld>
  <p:clrMap bg1="lt1" tx1="dk1" bg2="lt2" tx2="dk2" accent1="accent1" accent2="accent2" accent3="accent3" accent4="accent4" accent5="accent5" accent6="accent6" hlink="hlink" folHlink="folHlink"/>
  <p:sldLayoutIdLst>
    <p:sldLayoutId id="2147483679" r:id="rId1"/>
    <p:sldLayoutId id="2147483684" r:id="rId2"/>
    <p:sldLayoutId id="2147483680" r:id="rId3"/>
    <p:sldLayoutId id="2147483681" r:id="rId4"/>
    <p:sldLayoutId id="2147483682" r:id="rId5"/>
    <p:sldLayoutId id="2147483707" r:id="rId6"/>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85000"/>
          </a:schemeClr>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_tradnl"/>
              <a:t>Clic para editar título</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s-ES_tradnl"/>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s-ES_tradnl"/>
              <a:t>FACULTAD DE CIENCIAS ECONÓMICAS Y EMPRESARIALES</a:t>
            </a:r>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25E03E-A335-694B-A2BE-C56FC4485501}" type="slidenum">
              <a:rPr lang="es-ES_tradnl" smtClean="0"/>
              <a:t>‹Nº›</a:t>
            </a:fld>
            <a:endParaRPr lang="es-ES_tradnl"/>
          </a:p>
        </p:txBody>
      </p:sp>
      <p:sp>
        <p:nvSpPr>
          <p:cNvPr id="11" name="Triángulo isósceles 11">
            <a:extLst>
              <a:ext uri="{FF2B5EF4-FFF2-40B4-BE49-F238E27FC236}">
                <a16:creationId xmlns:a16="http://schemas.microsoft.com/office/drawing/2014/main" id="{47735557-F7C4-498D-AE82-C7F37A83EA5A}"/>
              </a:ext>
            </a:extLst>
          </p:cNvPr>
          <p:cNvSpPr/>
          <p:nvPr userDrawn="1"/>
        </p:nvSpPr>
        <p:spPr>
          <a:xfrm>
            <a:off x="11827751" y="6681004"/>
            <a:ext cx="93528" cy="92142"/>
          </a:xfrm>
          <a:custGeom>
            <a:avLst/>
            <a:gdLst>
              <a:gd name="connsiteX0" fmla="*/ 0 w 389220"/>
              <a:gd name="connsiteY0" fmla="*/ 326109 h 326109"/>
              <a:gd name="connsiteX1" fmla="*/ 194610 w 389220"/>
              <a:gd name="connsiteY1" fmla="*/ 0 h 326109"/>
              <a:gd name="connsiteX2" fmla="*/ 389220 w 389220"/>
              <a:gd name="connsiteY2" fmla="*/ 326109 h 326109"/>
              <a:gd name="connsiteX3" fmla="*/ 0 w 389220"/>
              <a:gd name="connsiteY3" fmla="*/ 326109 h 326109"/>
              <a:gd name="connsiteX0" fmla="*/ 0 w 389220"/>
              <a:gd name="connsiteY0" fmla="*/ 0 h 217732"/>
              <a:gd name="connsiteX1" fmla="*/ 13329 w 389220"/>
              <a:gd name="connsiteY1" fmla="*/ 217732 h 217732"/>
              <a:gd name="connsiteX2" fmla="*/ 389220 w 389220"/>
              <a:gd name="connsiteY2" fmla="*/ 0 h 217732"/>
              <a:gd name="connsiteX3" fmla="*/ 0 w 389220"/>
              <a:gd name="connsiteY3" fmla="*/ 0 h 217732"/>
              <a:gd name="connsiteX0" fmla="*/ 0 w 389220"/>
              <a:gd name="connsiteY0" fmla="*/ 0 h 212400"/>
              <a:gd name="connsiteX1" fmla="*/ 2666 w 389220"/>
              <a:gd name="connsiteY1" fmla="*/ 212400 h 212400"/>
              <a:gd name="connsiteX2" fmla="*/ 389220 w 389220"/>
              <a:gd name="connsiteY2" fmla="*/ 0 h 212400"/>
              <a:gd name="connsiteX3" fmla="*/ 0 w 389220"/>
              <a:gd name="connsiteY3" fmla="*/ 0 h 212400"/>
            </a:gdLst>
            <a:ahLst/>
            <a:cxnLst>
              <a:cxn ang="0">
                <a:pos x="connsiteX0" y="connsiteY0"/>
              </a:cxn>
              <a:cxn ang="0">
                <a:pos x="connsiteX1" y="connsiteY1"/>
              </a:cxn>
              <a:cxn ang="0">
                <a:pos x="connsiteX2" y="connsiteY2"/>
              </a:cxn>
              <a:cxn ang="0">
                <a:pos x="connsiteX3" y="connsiteY3"/>
              </a:cxn>
            </a:cxnLst>
            <a:rect l="l" t="t" r="r" b="b"/>
            <a:pathLst>
              <a:path w="389220" h="212400">
                <a:moveTo>
                  <a:pt x="0" y="0"/>
                </a:moveTo>
                <a:cubicBezTo>
                  <a:pt x="889" y="70800"/>
                  <a:pt x="1777" y="141600"/>
                  <a:pt x="2666" y="212400"/>
                </a:cubicBezTo>
                <a:lnTo>
                  <a:pt x="389220" y="0"/>
                </a:lnTo>
                <a:lnTo>
                  <a:pt x="0" y="0"/>
                </a:lnTo>
                <a:close/>
              </a:path>
            </a:pathLst>
          </a:custGeom>
          <a:solidFill>
            <a:srgbClr val="4910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 name="Rectángulo 11">
            <a:extLst>
              <a:ext uri="{FF2B5EF4-FFF2-40B4-BE49-F238E27FC236}">
                <a16:creationId xmlns:a16="http://schemas.microsoft.com/office/drawing/2014/main" id="{F38E5C20-3D83-47A6-9025-BCD93CA4C3AA}"/>
              </a:ext>
            </a:extLst>
          </p:cNvPr>
          <p:cNvSpPr/>
          <p:nvPr userDrawn="1"/>
        </p:nvSpPr>
        <p:spPr>
          <a:xfrm>
            <a:off x="0" y="6721200"/>
            <a:ext cx="12192000" cy="136800"/>
          </a:xfrm>
          <a:prstGeom prst="rect">
            <a:avLst/>
          </a:prstGeom>
          <a:solidFill>
            <a:srgbClr val="0046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5" name="Subtítulo 2">
            <a:extLst>
              <a:ext uri="{FF2B5EF4-FFF2-40B4-BE49-F238E27FC236}">
                <a16:creationId xmlns:a16="http://schemas.microsoft.com/office/drawing/2014/main" id="{5C32F732-43A0-4D96-89A3-45C4CE01CD38}"/>
              </a:ext>
            </a:extLst>
          </p:cNvPr>
          <p:cNvSpPr txBox="1">
            <a:spLocks/>
          </p:cNvSpPr>
          <p:nvPr userDrawn="1"/>
        </p:nvSpPr>
        <p:spPr>
          <a:xfrm>
            <a:off x="6096000" y="6715571"/>
            <a:ext cx="6096000" cy="136800"/>
          </a:xfrm>
          <a:prstGeom prst="rect">
            <a:avLst/>
          </a:prstGeom>
        </p:spPr>
        <p:txBody>
          <a:bodyPr vert="horz" lIns="91440" tIns="0" rIns="503998" bIns="0" rtlCol="0" anchor="ctr">
            <a:noAutofit/>
          </a:bodyPr>
          <a:lstStyle>
            <a:lvl1pPr marL="0" indent="0" algn="l" defTabSz="914400" rtl="0" eaLnBrk="1" latinLnBrk="0" hangingPunct="1">
              <a:lnSpc>
                <a:spcPct val="90000"/>
              </a:lnSpc>
              <a:spcBef>
                <a:spcPts val="1000"/>
              </a:spcBef>
              <a:buFont typeface="Arial"/>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algn="r">
              <a:lnSpc>
                <a:spcPct val="120000"/>
              </a:lnSpc>
              <a:spcBef>
                <a:spcPts val="0"/>
              </a:spcBef>
            </a:pPr>
            <a:r>
              <a:rPr lang="es-ES_tradnl" sz="900" dirty="0">
                <a:solidFill>
                  <a:schemeClr val="bg1"/>
                </a:solidFill>
                <a:latin typeface="Arial" panose="020B0604020202020204" pitchFamily="34" charset="0"/>
                <a:ea typeface="Georgia" charset="0"/>
                <a:cs typeface="Arial" panose="020B0604020202020204" pitchFamily="34" charset="0"/>
              </a:rPr>
              <a:t>Universidad de Piura</a:t>
            </a:r>
          </a:p>
        </p:txBody>
      </p:sp>
      <p:sp>
        <p:nvSpPr>
          <p:cNvPr id="16" name="Rectángulo 6">
            <a:extLst>
              <a:ext uri="{FF2B5EF4-FFF2-40B4-BE49-F238E27FC236}">
                <a16:creationId xmlns:a16="http://schemas.microsoft.com/office/drawing/2014/main" id="{125E8DDA-FDD5-44C0-A389-8212F84298A2}"/>
              </a:ext>
            </a:extLst>
          </p:cNvPr>
          <p:cNvSpPr/>
          <p:nvPr userDrawn="1"/>
        </p:nvSpPr>
        <p:spPr>
          <a:xfrm>
            <a:off x="11827749" y="6678853"/>
            <a:ext cx="364251" cy="179147"/>
          </a:xfrm>
          <a:custGeom>
            <a:avLst/>
            <a:gdLst>
              <a:gd name="connsiteX0" fmla="*/ 0 w 364251"/>
              <a:gd name="connsiteY0" fmla="*/ 0 h 176765"/>
              <a:gd name="connsiteX1" fmla="*/ 364251 w 364251"/>
              <a:gd name="connsiteY1" fmla="*/ 0 h 176765"/>
              <a:gd name="connsiteX2" fmla="*/ 364251 w 364251"/>
              <a:gd name="connsiteY2" fmla="*/ 176765 h 176765"/>
              <a:gd name="connsiteX3" fmla="*/ 0 w 364251"/>
              <a:gd name="connsiteY3" fmla="*/ 176765 h 176765"/>
              <a:gd name="connsiteX4" fmla="*/ 0 w 364251"/>
              <a:gd name="connsiteY4" fmla="*/ 0 h 176765"/>
              <a:gd name="connsiteX0" fmla="*/ 0 w 364251"/>
              <a:gd name="connsiteY0" fmla="*/ 0 h 176765"/>
              <a:gd name="connsiteX1" fmla="*/ 364251 w 364251"/>
              <a:gd name="connsiteY1" fmla="*/ 0 h 176765"/>
              <a:gd name="connsiteX2" fmla="*/ 364251 w 364251"/>
              <a:gd name="connsiteY2" fmla="*/ 176765 h 176765"/>
              <a:gd name="connsiteX3" fmla="*/ 111919 w 364251"/>
              <a:gd name="connsiteY3" fmla="*/ 176765 h 176765"/>
              <a:gd name="connsiteX4" fmla="*/ 0 w 364251"/>
              <a:gd name="connsiteY4" fmla="*/ 0 h 176765"/>
              <a:gd name="connsiteX0" fmla="*/ 0 w 364251"/>
              <a:gd name="connsiteY0" fmla="*/ 0 h 179147"/>
              <a:gd name="connsiteX1" fmla="*/ 364251 w 364251"/>
              <a:gd name="connsiteY1" fmla="*/ 0 h 179147"/>
              <a:gd name="connsiteX2" fmla="*/ 364251 w 364251"/>
              <a:gd name="connsiteY2" fmla="*/ 176765 h 179147"/>
              <a:gd name="connsiteX3" fmla="*/ 102394 w 364251"/>
              <a:gd name="connsiteY3" fmla="*/ 179147 h 179147"/>
              <a:gd name="connsiteX4" fmla="*/ 0 w 364251"/>
              <a:gd name="connsiteY4" fmla="*/ 0 h 179147"/>
              <a:gd name="connsiteX0" fmla="*/ 0 w 364251"/>
              <a:gd name="connsiteY0" fmla="*/ 0 h 179147"/>
              <a:gd name="connsiteX1" fmla="*/ 364251 w 364251"/>
              <a:gd name="connsiteY1" fmla="*/ 0 h 179147"/>
              <a:gd name="connsiteX2" fmla="*/ 364251 w 364251"/>
              <a:gd name="connsiteY2" fmla="*/ 179147 h 179147"/>
              <a:gd name="connsiteX3" fmla="*/ 102394 w 364251"/>
              <a:gd name="connsiteY3" fmla="*/ 179147 h 179147"/>
              <a:gd name="connsiteX4" fmla="*/ 0 w 364251"/>
              <a:gd name="connsiteY4" fmla="*/ 0 h 179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251" h="179147">
                <a:moveTo>
                  <a:pt x="0" y="0"/>
                </a:moveTo>
                <a:lnTo>
                  <a:pt x="364251" y="0"/>
                </a:lnTo>
                <a:lnTo>
                  <a:pt x="364251" y="179147"/>
                </a:lnTo>
                <a:lnTo>
                  <a:pt x="102394" y="179147"/>
                </a:lnTo>
                <a:lnTo>
                  <a:pt x="0" y="0"/>
                </a:lnTo>
                <a:close/>
              </a:path>
            </a:pathLst>
          </a:custGeom>
          <a:solidFill>
            <a:srgbClr val="8C1F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551933321"/>
      </p:ext>
    </p:extLst>
  </p:cSld>
  <p:clrMap bg1="lt1" tx1="dk1" bg2="lt2" tx2="dk2" accent1="accent1" accent2="accent2" accent3="accent3" accent4="accent4" accent5="accent5" accent6="accent6" hlink="hlink" folHlink="folHlink"/>
  <p:sldLayoutIdLst>
    <p:sldLayoutId id="2147483667" r:id="rId1"/>
    <p:sldLayoutId id="2147483685" r:id="rId2"/>
    <p:sldLayoutId id="2147483668" r:id="rId3"/>
    <p:sldLayoutId id="2147483669" r:id="rId4"/>
    <p:sldLayoutId id="2147483670" r:id="rId5"/>
    <p:sldLayoutId id="2147483694" r:id="rId6"/>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00467A"/>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_tradnl"/>
              <a:t>Clic para editar título</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s-ES_tradnl"/>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s-ES_tradnl"/>
              <a:t>FACULTAD DE CIENCIAS ECONÓMICAS Y EMPRESARIALES</a:t>
            </a:r>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25E03E-A335-694B-A2BE-C56FC4485501}" type="slidenum">
              <a:rPr lang="es-ES_tradnl" smtClean="0"/>
              <a:t>‹Nº›</a:t>
            </a:fld>
            <a:endParaRPr lang="es-ES_tradnl"/>
          </a:p>
        </p:txBody>
      </p:sp>
      <p:sp>
        <p:nvSpPr>
          <p:cNvPr id="11" name="Triángulo isósceles 11">
            <a:extLst>
              <a:ext uri="{FF2B5EF4-FFF2-40B4-BE49-F238E27FC236}">
                <a16:creationId xmlns:a16="http://schemas.microsoft.com/office/drawing/2014/main" id="{830B16EE-6BB5-47C4-91BA-BE0340D716B8}"/>
              </a:ext>
            </a:extLst>
          </p:cNvPr>
          <p:cNvSpPr/>
          <p:nvPr userDrawn="1"/>
        </p:nvSpPr>
        <p:spPr>
          <a:xfrm>
            <a:off x="11827751" y="6681004"/>
            <a:ext cx="93528" cy="92142"/>
          </a:xfrm>
          <a:custGeom>
            <a:avLst/>
            <a:gdLst>
              <a:gd name="connsiteX0" fmla="*/ 0 w 389220"/>
              <a:gd name="connsiteY0" fmla="*/ 326109 h 326109"/>
              <a:gd name="connsiteX1" fmla="*/ 194610 w 389220"/>
              <a:gd name="connsiteY1" fmla="*/ 0 h 326109"/>
              <a:gd name="connsiteX2" fmla="*/ 389220 w 389220"/>
              <a:gd name="connsiteY2" fmla="*/ 326109 h 326109"/>
              <a:gd name="connsiteX3" fmla="*/ 0 w 389220"/>
              <a:gd name="connsiteY3" fmla="*/ 326109 h 326109"/>
              <a:gd name="connsiteX0" fmla="*/ 0 w 389220"/>
              <a:gd name="connsiteY0" fmla="*/ 0 h 217732"/>
              <a:gd name="connsiteX1" fmla="*/ 13329 w 389220"/>
              <a:gd name="connsiteY1" fmla="*/ 217732 h 217732"/>
              <a:gd name="connsiteX2" fmla="*/ 389220 w 389220"/>
              <a:gd name="connsiteY2" fmla="*/ 0 h 217732"/>
              <a:gd name="connsiteX3" fmla="*/ 0 w 389220"/>
              <a:gd name="connsiteY3" fmla="*/ 0 h 217732"/>
              <a:gd name="connsiteX0" fmla="*/ 0 w 389220"/>
              <a:gd name="connsiteY0" fmla="*/ 0 h 212400"/>
              <a:gd name="connsiteX1" fmla="*/ 2666 w 389220"/>
              <a:gd name="connsiteY1" fmla="*/ 212400 h 212400"/>
              <a:gd name="connsiteX2" fmla="*/ 389220 w 389220"/>
              <a:gd name="connsiteY2" fmla="*/ 0 h 212400"/>
              <a:gd name="connsiteX3" fmla="*/ 0 w 389220"/>
              <a:gd name="connsiteY3" fmla="*/ 0 h 212400"/>
            </a:gdLst>
            <a:ahLst/>
            <a:cxnLst>
              <a:cxn ang="0">
                <a:pos x="connsiteX0" y="connsiteY0"/>
              </a:cxn>
              <a:cxn ang="0">
                <a:pos x="connsiteX1" y="connsiteY1"/>
              </a:cxn>
              <a:cxn ang="0">
                <a:pos x="connsiteX2" y="connsiteY2"/>
              </a:cxn>
              <a:cxn ang="0">
                <a:pos x="connsiteX3" y="connsiteY3"/>
              </a:cxn>
            </a:cxnLst>
            <a:rect l="l" t="t" r="r" b="b"/>
            <a:pathLst>
              <a:path w="389220" h="212400">
                <a:moveTo>
                  <a:pt x="0" y="0"/>
                </a:moveTo>
                <a:cubicBezTo>
                  <a:pt x="889" y="70800"/>
                  <a:pt x="1777" y="141600"/>
                  <a:pt x="2666" y="212400"/>
                </a:cubicBezTo>
                <a:lnTo>
                  <a:pt x="389220" y="0"/>
                </a:lnTo>
                <a:lnTo>
                  <a:pt x="0" y="0"/>
                </a:lnTo>
                <a:close/>
              </a:path>
            </a:pathLst>
          </a:custGeom>
          <a:solidFill>
            <a:srgbClr val="4910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 name="Rectángulo 11">
            <a:extLst>
              <a:ext uri="{FF2B5EF4-FFF2-40B4-BE49-F238E27FC236}">
                <a16:creationId xmlns:a16="http://schemas.microsoft.com/office/drawing/2014/main" id="{D266D848-88FA-4442-A0D4-C4E74F9C8178}"/>
              </a:ext>
            </a:extLst>
          </p:cNvPr>
          <p:cNvSpPr/>
          <p:nvPr userDrawn="1"/>
        </p:nvSpPr>
        <p:spPr>
          <a:xfrm>
            <a:off x="0" y="6721200"/>
            <a:ext cx="12192000" cy="13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5" name="Subtítulo 2">
            <a:extLst>
              <a:ext uri="{FF2B5EF4-FFF2-40B4-BE49-F238E27FC236}">
                <a16:creationId xmlns:a16="http://schemas.microsoft.com/office/drawing/2014/main" id="{5632C20E-C7FA-4AD0-A019-B72792281560}"/>
              </a:ext>
            </a:extLst>
          </p:cNvPr>
          <p:cNvSpPr txBox="1">
            <a:spLocks/>
          </p:cNvSpPr>
          <p:nvPr userDrawn="1"/>
        </p:nvSpPr>
        <p:spPr>
          <a:xfrm>
            <a:off x="6096000" y="6715571"/>
            <a:ext cx="6096000" cy="136800"/>
          </a:xfrm>
          <a:prstGeom prst="rect">
            <a:avLst/>
          </a:prstGeom>
          <a:noFill/>
        </p:spPr>
        <p:txBody>
          <a:bodyPr vert="horz" lIns="91440" tIns="0" rIns="503998" bIns="0" rtlCol="0" anchor="ctr">
            <a:noAutofit/>
          </a:bodyPr>
          <a:lstStyle>
            <a:lvl1pPr marL="0" indent="0" algn="l" defTabSz="914400" rtl="0" eaLnBrk="1" latinLnBrk="0" hangingPunct="1">
              <a:lnSpc>
                <a:spcPct val="90000"/>
              </a:lnSpc>
              <a:spcBef>
                <a:spcPts val="1000"/>
              </a:spcBef>
              <a:buFont typeface="Arial"/>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algn="r">
              <a:lnSpc>
                <a:spcPct val="120000"/>
              </a:lnSpc>
              <a:spcBef>
                <a:spcPts val="0"/>
              </a:spcBef>
            </a:pPr>
            <a:r>
              <a:rPr lang="es-ES_tradnl" sz="900" dirty="0">
                <a:solidFill>
                  <a:srgbClr val="00467A"/>
                </a:solidFill>
                <a:latin typeface="Arial" panose="020B0604020202020204" pitchFamily="34" charset="0"/>
                <a:ea typeface="Georgia" charset="0"/>
                <a:cs typeface="Arial" panose="020B0604020202020204" pitchFamily="34" charset="0"/>
              </a:rPr>
              <a:t>Universidad de Piura</a:t>
            </a:r>
          </a:p>
        </p:txBody>
      </p:sp>
      <p:sp>
        <p:nvSpPr>
          <p:cNvPr id="16" name="Rectángulo 6">
            <a:extLst>
              <a:ext uri="{FF2B5EF4-FFF2-40B4-BE49-F238E27FC236}">
                <a16:creationId xmlns:a16="http://schemas.microsoft.com/office/drawing/2014/main" id="{88A87789-B72E-4D2F-8070-D82EE2CA8CBA}"/>
              </a:ext>
            </a:extLst>
          </p:cNvPr>
          <p:cNvSpPr/>
          <p:nvPr userDrawn="1"/>
        </p:nvSpPr>
        <p:spPr>
          <a:xfrm>
            <a:off x="11827749" y="6678853"/>
            <a:ext cx="364251" cy="179147"/>
          </a:xfrm>
          <a:custGeom>
            <a:avLst/>
            <a:gdLst>
              <a:gd name="connsiteX0" fmla="*/ 0 w 364251"/>
              <a:gd name="connsiteY0" fmla="*/ 0 h 176765"/>
              <a:gd name="connsiteX1" fmla="*/ 364251 w 364251"/>
              <a:gd name="connsiteY1" fmla="*/ 0 h 176765"/>
              <a:gd name="connsiteX2" fmla="*/ 364251 w 364251"/>
              <a:gd name="connsiteY2" fmla="*/ 176765 h 176765"/>
              <a:gd name="connsiteX3" fmla="*/ 0 w 364251"/>
              <a:gd name="connsiteY3" fmla="*/ 176765 h 176765"/>
              <a:gd name="connsiteX4" fmla="*/ 0 w 364251"/>
              <a:gd name="connsiteY4" fmla="*/ 0 h 176765"/>
              <a:gd name="connsiteX0" fmla="*/ 0 w 364251"/>
              <a:gd name="connsiteY0" fmla="*/ 0 h 176765"/>
              <a:gd name="connsiteX1" fmla="*/ 364251 w 364251"/>
              <a:gd name="connsiteY1" fmla="*/ 0 h 176765"/>
              <a:gd name="connsiteX2" fmla="*/ 364251 w 364251"/>
              <a:gd name="connsiteY2" fmla="*/ 176765 h 176765"/>
              <a:gd name="connsiteX3" fmla="*/ 111919 w 364251"/>
              <a:gd name="connsiteY3" fmla="*/ 176765 h 176765"/>
              <a:gd name="connsiteX4" fmla="*/ 0 w 364251"/>
              <a:gd name="connsiteY4" fmla="*/ 0 h 176765"/>
              <a:gd name="connsiteX0" fmla="*/ 0 w 364251"/>
              <a:gd name="connsiteY0" fmla="*/ 0 h 179147"/>
              <a:gd name="connsiteX1" fmla="*/ 364251 w 364251"/>
              <a:gd name="connsiteY1" fmla="*/ 0 h 179147"/>
              <a:gd name="connsiteX2" fmla="*/ 364251 w 364251"/>
              <a:gd name="connsiteY2" fmla="*/ 176765 h 179147"/>
              <a:gd name="connsiteX3" fmla="*/ 102394 w 364251"/>
              <a:gd name="connsiteY3" fmla="*/ 179147 h 179147"/>
              <a:gd name="connsiteX4" fmla="*/ 0 w 364251"/>
              <a:gd name="connsiteY4" fmla="*/ 0 h 179147"/>
              <a:gd name="connsiteX0" fmla="*/ 0 w 364251"/>
              <a:gd name="connsiteY0" fmla="*/ 0 h 179147"/>
              <a:gd name="connsiteX1" fmla="*/ 364251 w 364251"/>
              <a:gd name="connsiteY1" fmla="*/ 0 h 179147"/>
              <a:gd name="connsiteX2" fmla="*/ 364251 w 364251"/>
              <a:gd name="connsiteY2" fmla="*/ 179147 h 179147"/>
              <a:gd name="connsiteX3" fmla="*/ 102394 w 364251"/>
              <a:gd name="connsiteY3" fmla="*/ 179147 h 179147"/>
              <a:gd name="connsiteX4" fmla="*/ 0 w 364251"/>
              <a:gd name="connsiteY4" fmla="*/ 0 h 179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251" h="179147">
                <a:moveTo>
                  <a:pt x="0" y="0"/>
                </a:moveTo>
                <a:lnTo>
                  <a:pt x="364251" y="0"/>
                </a:lnTo>
                <a:lnTo>
                  <a:pt x="364251" y="179147"/>
                </a:lnTo>
                <a:lnTo>
                  <a:pt x="102394" y="179147"/>
                </a:lnTo>
                <a:lnTo>
                  <a:pt x="0" y="0"/>
                </a:lnTo>
                <a:close/>
              </a:path>
            </a:pathLst>
          </a:custGeom>
          <a:solidFill>
            <a:srgbClr val="8C1F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2122293158"/>
      </p:ext>
    </p:extLst>
  </p:cSld>
  <p:clrMap bg1="dk1" tx1="lt1" bg2="dk2" tx2="lt2" accent1="accent1" accent2="accent2" accent3="accent3" accent4="accent4" accent5="accent5" accent6="accent6" hlink="hlink" folHlink="folHlink"/>
  <p:sldLayoutIdLst>
    <p:sldLayoutId id="2147483673" r:id="rId1"/>
    <p:sldLayoutId id="2147483686" r:id="rId2"/>
    <p:sldLayoutId id="2147483674" r:id="rId3"/>
    <p:sldLayoutId id="2147483675" r:id="rId4"/>
    <p:sldLayoutId id="2147483676" r:id="rId5"/>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_tradnl"/>
              <a:t>Clic para editar título</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s-ES_tradnl"/>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s-ES_tradnl"/>
              <a:t>FACULTAD DE CIENCIAS ECONÓMICAS Y EMPRESARIALES</a:t>
            </a:r>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25E03E-A335-694B-A2BE-C56FC4485501}" type="slidenum">
              <a:rPr lang="es-ES_tradnl" smtClean="0"/>
              <a:t>‹Nº›</a:t>
            </a:fld>
            <a:endParaRPr lang="es-ES_tradnl"/>
          </a:p>
        </p:txBody>
      </p:sp>
      <p:sp>
        <p:nvSpPr>
          <p:cNvPr id="11" name="Triángulo isósceles 11">
            <a:extLst>
              <a:ext uri="{FF2B5EF4-FFF2-40B4-BE49-F238E27FC236}">
                <a16:creationId xmlns:a16="http://schemas.microsoft.com/office/drawing/2014/main" id="{35E87525-EEC6-4F94-A306-ED003C2CF282}"/>
              </a:ext>
            </a:extLst>
          </p:cNvPr>
          <p:cNvSpPr/>
          <p:nvPr userDrawn="1"/>
        </p:nvSpPr>
        <p:spPr>
          <a:xfrm>
            <a:off x="11827751" y="6681004"/>
            <a:ext cx="93528" cy="92142"/>
          </a:xfrm>
          <a:custGeom>
            <a:avLst/>
            <a:gdLst>
              <a:gd name="connsiteX0" fmla="*/ 0 w 389220"/>
              <a:gd name="connsiteY0" fmla="*/ 326109 h 326109"/>
              <a:gd name="connsiteX1" fmla="*/ 194610 w 389220"/>
              <a:gd name="connsiteY1" fmla="*/ 0 h 326109"/>
              <a:gd name="connsiteX2" fmla="*/ 389220 w 389220"/>
              <a:gd name="connsiteY2" fmla="*/ 326109 h 326109"/>
              <a:gd name="connsiteX3" fmla="*/ 0 w 389220"/>
              <a:gd name="connsiteY3" fmla="*/ 326109 h 326109"/>
              <a:gd name="connsiteX0" fmla="*/ 0 w 389220"/>
              <a:gd name="connsiteY0" fmla="*/ 0 h 217732"/>
              <a:gd name="connsiteX1" fmla="*/ 13329 w 389220"/>
              <a:gd name="connsiteY1" fmla="*/ 217732 h 217732"/>
              <a:gd name="connsiteX2" fmla="*/ 389220 w 389220"/>
              <a:gd name="connsiteY2" fmla="*/ 0 h 217732"/>
              <a:gd name="connsiteX3" fmla="*/ 0 w 389220"/>
              <a:gd name="connsiteY3" fmla="*/ 0 h 217732"/>
              <a:gd name="connsiteX0" fmla="*/ 0 w 389220"/>
              <a:gd name="connsiteY0" fmla="*/ 0 h 212400"/>
              <a:gd name="connsiteX1" fmla="*/ 2666 w 389220"/>
              <a:gd name="connsiteY1" fmla="*/ 212400 h 212400"/>
              <a:gd name="connsiteX2" fmla="*/ 389220 w 389220"/>
              <a:gd name="connsiteY2" fmla="*/ 0 h 212400"/>
              <a:gd name="connsiteX3" fmla="*/ 0 w 389220"/>
              <a:gd name="connsiteY3" fmla="*/ 0 h 212400"/>
            </a:gdLst>
            <a:ahLst/>
            <a:cxnLst>
              <a:cxn ang="0">
                <a:pos x="connsiteX0" y="connsiteY0"/>
              </a:cxn>
              <a:cxn ang="0">
                <a:pos x="connsiteX1" y="connsiteY1"/>
              </a:cxn>
              <a:cxn ang="0">
                <a:pos x="connsiteX2" y="connsiteY2"/>
              </a:cxn>
              <a:cxn ang="0">
                <a:pos x="connsiteX3" y="connsiteY3"/>
              </a:cxn>
            </a:cxnLst>
            <a:rect l="l" t="t" r="r" b="b"/>
            <a:pathLst>
              <a:path w="389220" h="212400">
                <a:moveTo>
                  <a:pt x="0" y="0"/>
                </a:moveTo>
                <a:cubicBezTo>
                  <a:pt x="889" y="70800"/>
                  <a:pt x="1777" y="141600"/>
                  <a:pt x="2666" y="212400"/>
                </a:cubicBezTo>
                <a:lnTo>
                  <a:pt x="389220" y="0"/>
                </a:lnTo>
                <a:lnTo>
                  <a:pt x="0" y="0"/>
                </a:lnTo>
                <a:close/>
              </a:path>
            </a:pathLst>
          </a:custGeom>
          <a:solidFill>
            <a:srgbClr val="4910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 name="Rectángulo 11">
            <a:extLst>
              <a:ext uri="{FF2B5EF4-FFF2-40B4-BE49-F238E27FC236}">
                <a16:creationId xmlns:a16="http://schemas.microsoft.com/office/drawing/2014/main" id="{1CD3012A-0F9C-4F6E-B089-0AEB39DCEFAE}"/>
              </a:ext>
            </a:extLst>
          </p:cNvPr>
          <p:cNvSpPr/>
          <p:nvPr userDrawn="1"/>
        </p:nvSpPr>
        <p:spPr>
          <a:xfrm>
            <a:off x="0" y="6721200"/>
            <a:ext cx="12192000" cy="13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5" name="Subtítulo 2">
            <a:extLst>
              <a:ext uri="{FF2B5EF4-FFF2-40B4-BE49-F238E27FC236}">
                <a16:creationId xmlns:a16="http://schemas.microsoft.com/office/drawing/2014/main" id="{54013010-7EC2-477A-9777-5F8D1C8C9819}"/>
              </a:ext>
            </a:extLst>
          </p:cNvPr>
          <p:cNvSpPr txBox="1">
            <a:spLocks/>
          </p:cNvSpPr>
          <p:nvPr userDrawn="1"/>
        </p:nvSpPr>
        <p:spPr>
          <a:xfrm>
            <a:off x="6096000" y="6715571"/>
            <a:ext cx="6096000" cy="136800"/>
          </a:xfrm>
          <a:prstGeom prst="rect">
            <a:avLst/>
          </a:prstGeom>
          <a:noFill/>
        </p:spPr>
        <p:txBody>
          <a:bodyPr vert="horz" lIns="91440" tIns="0" rIns="503998" bIns="0" rtlCol="0" anchor="ctr">
            <a:noAutofit/>
          </a:bodyPr>
          <a:lstStyle>
            <a:lvl1pPr marL="0" indent="0" algn="l" defTabSz="914400" rtl="0" eaLnBrk="1" latinLnBrk="0" hangingPunct="1">
              <a:lnSpc>
                <a:spcPct val="90000"/>
              </a:lnSpc>
              <a:spcBef>
                <a:spcPts val="1000"/>
              </a:spcBef>
              <a:buFont typeface="Arial"/>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algn="r">
              <a:lnSpc>
                <a:spcPct val="120000"/>
              </a:lnSpc>
              <a:spcBef>
                <a:spcPts val="0"/>
              </a:spcBef>
            </a:pPr>
            <a:r>
              <a:rPr lang="es-ES_tradnl" sz="900" dirty="0">
                <a:solidFill>
                  <a:srgbClr val="00467A"/>
                </a:solidFill>
                <a:latin typeface="Arial" panose="020B0604020202020204" pitchFamily="34" charset="0"/>
                <a:ea typeface="Georgia" charset="0"/>
                <a:cs typeface="Arial" panose="020B0604020202020204" pitchFamily="34" charset="0"/>
              </a:rPr>
              <a:t>Universidad de Piura</a:t>
            </a:r>
          </a:p>
        </p:txBody>
      </p:sp>
      <p:sp>
        <p:nvSpPr>
          <p:cNvPr id="16" name="Rectángulo 6">
            <a:extLst>
              <a:ext uri="{FF2B5EF4-FFF2-40B4-BE49-F238E27FC236}">
                <a16:creationId xmlns:a16="http://schemas.microsoft.com/office/drawing/2014/main" id="{755C1C57-8C13-46AE-AF8C-50183E7C38EF}"/>
              </a:ext>
            </a:extLst>
          </p:cNvPr>
          <p:cNvSpPr/>
          <p:nvPr userDrawn="1"/>
        </p:nvSpPr>
        <p:spPr>
          <a:xfrm>
            <a:off x="11827749" y="6678853"/>
            <a:ext cx="364251" cy="179147"/>
          </a:xfrm>
          <a:custGeom>
            <a:avLst/>
            <a:gdLst>
              <a:gd name="connsiteX0" fmla="*/ 0 w 364251"/>
              <a:gd name="connsiteY0" fmla="*/ 0 h 176765"/>
              <a:gd name="connsiteX1" fmla="*/ 364251 w 364251"/>
              <a:gd name="connsiteY1" fmla="*/ 0 h 176765"/>
              <a:gd name="connsiteX2" fmla="*/ 364251 w 364251"/>
              <a:gd name="connsiteY2" fmla="*/ 176765 h 176765"/>
              <a:gd name="connsiteX3" fmla="*/ 0 w 364251"/>
              <a:gd name="connsiteY3" fmla="*/ 176765 h 176765"/>
              <a:gd name="connsiteX4" fmla="*/ 0 w 364251"/>
              <a:gd name="connsiteY4" fmla="*/ 0 h 176765"/>
              <a:gd name="connsiteX0" fmla="*/ 0 w 364251"/>
              <a:gd name="connsiteY0" fmla="*/ 0 h 176765"/>
              <a:gd name="connsiteX1" fmla="*/ 364251 w 364251"/>
              <a:gd name="connsiteY1" fmla="*/ 0 h 176765"/>
              <a:gd name="connsiteX2" fmla="*/ 364251 w 364251"/>
              <a:gd name="connsiteY2" fmla="*/ 176765 h 176765"/>
              <a:gd name="connsiteX3" fmla="*/ 111919 w 364251"/>
              <a:gd name="connsiteY3" fmla="*/ 176765 h 176765"/>
              <a:gd name="connsiteX4" fmla="*/ 0 w 364251"/>
              <a:gd name="connsiteY4" fmla="*/ 0 h 176765"/>
              <a:gd name="connsiteX0" fmla="*/ 0 w 364251"/>
              <a:gd name="connsiteY0" fmla="*/ 0 h 179147"/>
              <a:gd name="connsiteX1" fmla="*/ 364251 w 364251"/>
              <a:gd name="connsiteY1" fmla="*/ 0 h 179147"/>
              <a:gd name="connsiteX2" fmla="*/ 364251 w 364251"/>
              <a:gd name="connsiteY2" fmla="*/ 176765 h 179147"/>
              <a:gd name="connsiteX3" fmla="*/ 102394 w 364251"/>
              <a:gd name="connsiteY3" fmla="*/ 179147 h 179147"/>
              <a:gd name="connsiteX4" fmla="*/ 0 w 364251"/>
              <a:gd name="connsiteY4" fmla="*/ 0 h 179147"/>
              <a:gd name="connsiteX0" fmla="*/ 0 w 364251"/>
              <a:gd name="connsiteY0" fmla="*/ 0 h 179147"/>
              <a:gd name="connsiteX1" fmla="*/ 364251 w 364251"/>
              <a:gd name="connsiteY1" fmla="*/ 0 h 179147"/>
              <a:gd name="connsiteX2" fmla="*/ 364251 w 364251"/>
              <a:gd name="connsiteY2" fmla="*/ 179147 h 179147"/>
              <a:gd name="connsiteX3" fmla="*/ 102394 w 364251"/>
              <a:gd name="connsiteY3" fmla="*/ 179147 h 179147"/>
              <a:gd name="connsiteX4" fmla="*/ 0 w 364251"/>
              <a:gd name="connsiteY4" fmla="*/ 0 h 179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251" h="179147">
                <a:moveTo>
                  <a:pt x="0" y="0"/>
                </a:moveTo>
                <a:lnTo>
                  <a:pt x="364251" y="0"/>
                </a:lnTo>
                <a:lnTo>
                  <a:pt x="364251" y="179147"/>
                </a:lnTo>
                <a:lnTo>
                  <a:pt x="102394" y="179147"/>
                </a:lnTo>
                <a:lnTo>
                  <a:pt x="0" y="0"/>
                </a:lnTo>
                <a:close/>
              </a:path>
            </a:pathLst>
          </a:custGeom>
          <a:solidFill>
            <a:srgbClr val="8C1F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2546915469"/>
      </p:ext>
    </p:extLst>
  </p:cSld>
  <p:clrMap bg1="dk1" tx1="lt1" bg2="dk2"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comments" Target="../comments/comment2.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110.png"/><Relationship Id="rId7" Type="http://schemas.openxmlformats.org/officeDocument/2006/relationships/image" Target="../media/image38.png"/><Relationship Id="rId2" Type="http://schemas.openxmlformats.org/officeDocument/2006/relationships/image" Target="../media/image100.png"/><Relationship Id="rId1" Type="http://schemas.openxmlformats.org/officeDocument/2006/relationships/slideLayout" Target="../slideLayouts/slideLayout17.xml"/><Relationship Id="rId6" Type="http://schemas.openxmlformats.org/officeDocument/2006/relationships/image" Target="../media/image37.png"/><Relationship Id="rId5" Type="http://schemas.openxmlformats.org/officeDocument/2006/relationships/image" Target="../media/image13.png"/><Relationship Id="rId10" Type="http://schemas.openxmlformats.org/officeDocument/2006/relationships/image" Target="../media/image14.png"/><Relationship Id="rId4" Type="http://schemas.openxmlformats.org/officeDocument/2006/relationships/image" Target="../media/image12.png"/><Relationship Id="rId9" Type="http://schemas.openxmlformats.org/officeDocument/2006/relationships/image" Target="../media/image40.png"/></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6.wmf"/><Relationship Id="rId7" Type="http://schemas.openxmlformats.org/officeDocument/2006/relationships/image" Target="../media/image19.png"/><Relationship Id="rId2" Type="http://schemas.openxmlformats.org/officeDocument/2006/relationships/image" Target="../media/image15.png"/><Relationship Id="rId1" Type="http://schemas.openxmlformats.org/officeDocument/2006/relationships/slideLayout" Target="../slideLayouts/slideLayout17.xml"/><Relationship Id="rId6" Type="http://schemas.openxmlformats.org/officeDocument/2006/relationships/image" Target="../media/image18.jpeg"/><Relationship Id="rId11" Type="http://schemas.openxmlformats.org/officeDocument/2006/relationships/image" Target="../media/image22.jpeg"/><Relationship Id="rId5" Type="http://schemas.openxmlformats.org/officeDocument/2006/relationships/image" Target="http://products.asminternational.org/asm/navon/CONTENT/MH/D04/graphics/inline/i0032150.jpg" TargetMode="External"/><Relationship Id="rId10" Type="http://schemas.openxmlformats.org/officeDocument/2006/relationships/image" Target="http://products.asminternational.org/asm/navon/CONTENT/MH/D04/graphics/inline/i0032175.jpg" TargetMode="External"/><Relationship Id="rId4" Type="http://schemas.openxmlformats.org/officeDocument/2006/relationships/image" Target="../media/image17.jpeg"/><Relationship Id="rId9" Type="http://schemas.openxmlformats.org/officeDocument/2006/relationships/image" Target="../media/image21.jpeg"/></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slideLayout" Target="../slideLayouts/slideLayout17.xml"/><Relationship Id="rId4" Type="http://schemas.openxmlformats.org/officeDocument/2006/relationships/image" Target="../media/image25.jpe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8.xml"/><Relationship Id="rId5" Type="http://schemas.openxmlformats.org/officeDocument/2006/relationships/image" Target="../media/image28.jpeg"/><Relationship Id="rId4" Type="http://schemas.openxmlformats.org/officeDocument/2006/relationships/image" Target="../media/image27.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3935F1F-4182-8245-909C-88CA42DF74E7}"/>
              </a:ext>
            </a:extLst>
          </p:cNvPr>
          <p:cNvSpPr>
            <a:spLocks noGrp="1"/>
          </p:cNvSpPr>
          <p:nvPr>
            <p:ph type="body" sz="quarter" idx="12"/>
          </p:nvPr>
        </p:nvSpPr>
        <p:spPr/>
        <p:txBody>
          <a:bodyPr/>
          <a:lstStyle/>
          <a:p>
            <a:r>
              <a:rPr lang="it-IT" dirty="0"/>
              <a:t>Tecnologías de Fabricación Dra. Ing. Rosalba Guerrero A.</a:t>
            </a:r>
          </a:p>
        </p:txBody>
      </p:sp>
      <p:sp>
        <p:nvSpPr>
          <p:cNvPr id="7" name="Título 1">
            <a:extLst>
              <a:ext uri="{FF2B5EF4-FFF2-40B4-BE49-F238E27FC236}">
                <a16:creationId xmlns:a16="http://schemas.microsoft.com/office/drawing/2014/main" id="{7C279E39-41B1-A248-BD5E-7FF39FCC9D39}"/>
              </a:ext>
            </a:extLst>
          </p:cNvPr>
          <p:cNvSpPr>
            <a:spLocks noGrp="1"/>
          </p:cNvSpPr>
          <p:nvPr>
            <p:ph type="ctrTitle"/>
          </p:nvPr>
        </p:nvSpPr>
        <p:spPr>
          <a:xfrm>
            <a:off x="611974" y="2388977"/>
            <a:ext cx="8024025" cy="2338544"/>
          </a:xfrm>
        </p:spPr>
        <p:txBody>
          <a:bodyPr>
            <a:normAutofit fontScale="90000"/>
          </a:bodyPr>
          <a:lstStyle/>
          <a:p>
            <a:r>
              <a:rPr lang="es-ES" dirty="0"/>
              <a:t>U</a:t>
            </a:r>
            <a:r>
              <a:rPr lang="es-PE" dirty="0" err="1"/>
              <a:t>nidad</a:t>
            </a:r>
            <a:r>
              <a:rPr lang="es-PE" dirty="0"/>
              <a:t> 1: Fundamentos de los materiales</a:t>
            </a:r>
          </a:p>
        </p:txBody>
      </p:sp>
      <p:sp>
        <p:nvSpPr>
          <p:cNvPr id="8" name="Subtítulo 2">
            <a:extLst>
              <a:ext uri="{FF2B5EF4-FFF2-40B4-BE49-F238E27FC236}">
                <a16:creationId xmlns:a16="http://schemas.microsoft.com/office/drawing/2014/main" id="{0AADBD63-BDF4-7A4A-A35D-19F17DA16FF1}"/>
              </a:ext>
            </a:extLst>
          </p:cNvPr>
          <p:cNvSpPr>
            <a:spLocks noGrp="1"/>
          </p:cNvSpPr>
          <p:nvPr>
            <p:ph type="subTitle" idx="1"/>
          </p:nvPr>
        </p:nvSpPr>
        <p:spPr>
          <a:xfrm>
            <a:off x="611975" y="4868652"/>
            <a:ext cx="6725171" cy="866465"/>
          </a:xfrm>
        </p:spPr>
        <p:txBody>
          <a:bodyPr/>
          <a:lstStyle/>
          <a:p>
            <a:r>
              <a:rPr lang="es-ES" dirty="0"/>
              <a:t>Tratamientos térmicos</a:t>
            </a:r>
            <a:endParaRPr lang="es-PE" dirty="0"/>
          </a:p>
        </p:txBody>
      </p:sp>
    </p:spTree>
    <p:extLst>
      <p:ext uri="{BB962C8B-B14F-4D97-AF65-F5344CB8AC3E}">
        <p14:creationId xmlns:p14="http://schemas.microsoft.com/office/powerpoint/2010/main" val="2664966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normAutofit fontScale="90000"/>
          </a:bodyPr>
          <a:lstStyle/>
          <a:p>
            <a:pPr eaLnBrk="1" hangingPunct="1"/>
            <a:r>
              <a:rPr lang="es-ES" altLang="es-PE" dirty="0">
                <a:solidFill>
                  <a:srgbClr val="002060"/>
                </a:solidFill>
              </a:rPr>
              <a:t>Los tratamientos térmicos</a:t>
            </a:r>
            <a:br>
              <a:rPr lang="es-ES" altLang="es-PE" dirty="0">
                <a:solidFill>
                  <a:srgbClr val="002060"/>
                </a:solidFill>
              </a:rPr>
            </a:br>
            <a:endParaRPr lang="es-ES" altLang="es-PE" dirty="0">
              <a:solidFill>
                <a:srgbClr val="002060"/>
              </a:solidFill>
            </a:endParaRPr>
          </a:p>
        </p:txBody>
      </p:sp>
      <p:sp>
        <p:nvSpPr>
          <p:cNvPr id="37891" name="Rectangle 3"/>
          <p:cNvSpPr>
            <a:spLocks noGrp="1" noChangeArrowheads="1"/>
          </p:cNvSpPr>
          <p:nvPr>
            <p:ph type="body" sz="quarter" idx="10"/>
          </p:nvPr>
        </p:nvSpPr>
        <p:spPr>
          <a:xfrm>
            <a:off x="375355" y="806864"/>
            <a:ext cx="11602156" cy="2918588"/>
          </a:xfrm>
        </p:spPr>
        <p:txBody>
          <a:bodyPr>
            <a:normAutofit/>
          </a:bodyPr>
          <a:lstStyle/>
          <a:p>
            <a:pPr marL="0" indent="0" eaLnBrk="1" hangingPunct="1">
              <a:buNone/>
            </a:pPr>
            <a:r>
              <a:rPr lang="es-ES" altLang="es-PE" sz="1800" dirty="0"/>
              <a:t>Los TT son un conjunto de calentamientos y enfriamientos controlados a que puede ser sometido un material (metal o cerámico) con el fin de </a:t>
            </a:r>
            <a:r>
              <a:rPr lang="es-ES" altLang="es-PE" sz="1800" b="1" dirty="0"/>
              <a:t>modificar su estructura micrográfica y obtener ciertas propiedades</a:t>
            </a:r>
            <a:r>
              <a:rPr lang="es-ES" altLang="es-PE" sz="1800" dirty="0"/>
              <a:t>. </a:t>
            </a:r>
          </a:p>
          <a:p>
            <a:pPr eaLnBrk="1" hangingPunct="1"/>
            <a:r>
              <a:rPr lang="es-ES" altLang="es-PE" sz="1800" dirty="0"/>
              <a:t>Principales factores que influyen y definen un tratamiento térmico:</a:t>
            </a:r>
          </a:p>
          <a:p>
            <a:pPr marL="0" indent="0" eaLnBrk="1" hangingPunct="1">
              <a:buNone/>
            </a:pPr>
            <a:endParaRPr lang="es-ES" altLang="es-PE" sz="1800" dirty="0"/>
          </a:p>
          <a:p>
            <a:pPr lvl="1" eaLnBrk="1" hangingPunct="1"/>
            <a:r>
              <a:rPr lang="es-ES" altLang="es-PE" sz="1800" dirty="0"/>
              <a:t>temperatura,</a:t>
            </a:r>
          </a:p>
          <a:p>
            <a:pPr lvl="1" eaLnBrk="1" hangingPunct="1"/>
            <a:r>
              <a:rPr lang="es-ES" altLang="es-PE" sz="1800" dirty="0"/>
              <a:t>tiempo de permanencia</a:t>
            </a:r>
          </a:p>
          <a:p>
            <a:pPr lvl="1" eaLnBrk="1" hangingPunct="1"/>
            <a:r>
              <a:rPr lang="es-ES" altLang="es-PE" sz="1800" dirty="0"/>
              <a:t>modo de enfriamiento</a:t>
            </a:r>
          </a:p>
          <a:p>
            <a:pPr lvl="1" eaLnBrk="1" hangingPunct="1"/>
            <a:endParaRPr lang="es-ES" altLang="es-PE" sz="1800" dirty="0"/>
          </a:p>
          <a:p>
            <a:pPr lvl="1" eaLnBrk="1" hangingPunct="1">
              <a:buFont typeface="Arial" panose="020B0604020202020204" pitchFamily="34" charset="0"/>
              <a:buNone/>
            </a:pPr>
            <a:endParaRPr lang="es-ES" altLang="es-PE" sz="1800" dirty="0"/>
          </a:p>
          <a:p>
            <a:pPr lvl="1" eaLnBrk="1" hangingPunct="1">
              <a:buFont typeface="Arial" panose="020B0604020202020204" pitchFamily="34" charset="0"/>
              <a:buNone/>
            </a:pPr>
            <a:endParaRPr lang="es-ES" altLang="es-PE" sz="1800" dirty="0"/>
          </a:p>
          <a:p>
            <a:pPr lvl="1" eaLnBrk="1" hangingPunct="1"/>
            <a:endParaRPr lang="es-ES" altLang="es-PE" sz="1800" dirty="0"/>
          </a:p>
          <a:p>
            <a:pPr lvl="1" eaLnBrk="1" hangingPunct="1">
              <a:buFont typeface="Arial" panose="020B0604020202020204" pitchFamily="34" charset="0"/>
              <a:buNone/>
            </a:pPr>
            <a:endParaRPr lang="es-ES" altLang="es-PE" sz="1800" dirty="0"/>
          </a:p>
        </p:txBody>
      </p:sp>
      <p:sp>
        <p:nvSpPr>
          <p:cNvPr id="2" name="Cerrar llave 1"/>
          <p:cNvSpPr/>
          <p:nvPr/>
        </p:nvSpPr>
        <p:spPr>
          <a:xfrm>
            <a:off x="3614325" y="2072211"/>
            <a:ext cx="193329" cy="116586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PE"/>
          </a:p>
        </p:txBody>
      </p:sp>
      <p:sp>
        <p:nvSpPr>
          <p:cNvPr id="3" name="CuadroTexto 2"/>
          <p:cNvSpPr txBox="1"/>
          <p:nvPr/>
        </p:nvSpPr>
        <p:spPr>
          <a:xfrm>
            <a:off x="3932874" y="2439744"/>
            <a:ext cx="2491740" cy="369332"/>
          </a:xfrm>
          <a:prstGeom prst="rect">
            <a:avLst/>
          </a:prstGeom>
          <a:noFill/>
        </p:spPr>
        <p:txBody>
          <a:bodyPr wrap="square" rtlCol="0">
            <a:spAutoFit/>
          </a:bodyPr>
          <a:lstStyle/>
          <a:p>
            <a:r>
              <a:rPr lang="es-PE" dirty="0"/>
              <a:t>Ciclo térmico</a:t>
            </a:r>
          </a:p>
        </p:txBody>
      </p:sp>
      <p:grpSp>
        <p:nvGrpSpPr>
          <p:cNvPr id="5" name="Grupo 4"/>
          <p:cNvGrpSpPr/>
          <p:nvPr/>
        </p:nvGrpSpPr>
        <p:grpSpPr>
          <a:xfrm>
            <a:off x="5419766" y="1859433"/>
            <a:ext cx="3440289" cy="2285728"/>
            <a:chOff x="7749540" y="2191901"/>
            <a:chExt cx="3604260" cy="2630273"/>
          </a:xfrm>
        </p:grpSpPr>
        <p:grpSp>
          <p:nvGrpSpPr>
            <p:cNvPr id="6" name="Group 37"/>
            <p:cNvGrpSpPr>
              <a:grpSpLocks/>
            </p:cNvGrpSpPr>
            <p:nvPr/>
          </p:nvGrpSpPr>
          <p:grpSpPr bwMode="auto">
            <a:xfrm>
              <a:off x="7749540" y="2191901"/>
              <a:ext cx="3052762" cy="2089150"/>
              <a:chOff x="427" y="1594"/>
              <a:chExt cx="1923" cy="1316"/>
            </a:xfrm>
          </p:grpSpPr>
          <p:sp>
            <p:nvSpPr>
              <p:cNvPr id="7" name="Line 7"/>
              <p:cNvSpPr>
                <a:spLocks noChangeShapeType="1"/>
              </p:cNvSpPr>
              <p:nvPr/>
            </p:nvSpPr>
            <p:spPr bwMode="auto">
              <a:xfrm>
                <a:off x="748" y="1697"/>
                <a:ext cx="0" cy="1213"/>
              </a:xfrm>
              <a:prstGeom prst="line">
                <a:avLst/>
              </a:prstGeom>
              <a:noFill/>
              <a:ln w="9525">
                <a:solidFill>
                  <a:srgbClr val="000000"/>
                </a:solidFill>
                <a:round/>
                <a:headEnd type="arrow" w="med" len="med"/>
                <a:tailEnd/>
              </a:ln>
              <a:extLst>
                <a:ext uri="{909E8E84-426E-40DD-AFC4-6F175D3DCCD1}">
                  <a14:hiddenFill xmlns:a14="http://schemas.microsoft.com/office/drawing/2010/main">
                    <a:noFill/>
                  </a14:hiddenFill>
                </a:ext>
              </a:extLst>
            </p:spPr>
            <p:txBody>
              <a:bodyPr/>
              <a:lstStyle/>
              <a:p>
                <a:endParaRPr lang="es-PE"/>
              </a:p>
            </p:txBody>
          </p:sp>
          <p:sp>
            <p:nvSpPr>
              <p:cNvPr id="8" name="Line 8"/>
              <p:cNvSpPr>
                <a:spLocks noChangeShapeType="1"/>
              </p:cNvSpPr>
              <p:nvPr/>
            </p:nvSpPr>
            <p:spPr bwMode="auto">
              <a:xfrm>
                <a:off x="748" y="2910"/>
                <a:ext cx="1602"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es-PE"/>
              </a:p>
            </p:txBody>
          </p:sp>
          <p:sp>
            <p:nvSpPr>
              <p:cNvPr id="9" name="Line 9"/>
              <p:cNvSpPr>
                <a:spLocks noChangeShapeType="1"/>
              </p:cNvSpPr>
              <p:nvPr/>
            </p:nvSpPr>
            <p:spPr bwMode="auto">
              <a:xfrm flipV="1">
                <a:off x="748" y="1924"/>
                <a:ext cx="253" cy="98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10" name="Line 10"/>
              <p:cNvSpPr>
                <a:spLocks noChangeShapeType="1"/>
              </p:cNvSpPr>
              <p:nvPr/>
            </p:nvSpPr>
            <p:spPr bwMode="auto">
              <a:xfrm>
                <a:off x="1001" y="1924"/>
                <a:ext cx="59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11" name="Line 11"/>
              <p:cNvSpPr>
                <a:spLocks noChangeShapeType="1"/>
              </p:cNvSpPr>
              <p:nvPr/>
            </p:nvSpPr>
            <p:spPr bwMode="auto">
              <a:xfrm>
                <a:off x="1591" y="1924"/>
                <a:ext cx="675" cy="531"/>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es-PE"/>
              </a:p>
            </p:txBody>
          </p:sp>
          <p:sp>
            <p:nvSpPr>
              <p:cNvPr id="12" name="Text Box 12"/>
              <p:cNvSpPr txBox="1">
                <a:spLocks noChangeArrowheads="1"/>
              </p:cNvSpPr>
              <p:nvPr/>
            </p:nvSpPr>
            <p:spPr bwMode="auto">
              <a:xfrm>
                <a:off x="1085" y="1594"/>
                <a:ext cx="675" cy="3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Clr>
                    <a:srgbClr val="004588"/>
                  </a:buClr>
                  <a:buFont typeface="Wingdings" panose="05000000000000000000" pitchFamily="2" charset="2"/>
                  <a:buChar char="§"/>
                  <a:defRPr sz="2000">
                    <a:solidFill>
                      <a:srgbClr val="004588"/>
                    </a:solidFill>
                    <a:latin typeface="Arial" panose="020B0604020202020204" pitchFamily="34" charset="0"/>
                  </a:defRPr>
                </a:lvl1pPr>
                <a:lvl2pPr marL="742950" indent="-285750">
                  <a:spcBef>
                    <a:spcPct val="40000"/>
                  </a:spcBef>
                  <a:buClr>
                    <a:srgbClr val="004588"/>
                  </a:buClr>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40000"/>
                  </a:spcBef>
                  <a:buClr>
                    <a:srgbClr val="004588"/>
                  </a:buClr>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40000"/>
                  </a:spcBef>
                  <a:buClr>
                    <a:srgbClr val="004588"/>
                  </a:buClr>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r>
                  <a:rPr lang="es-PE" altLang="es-PE" sz="1000">
                    <a:solidFill>
                      <a:schemeClr val="tx1"/>
                    </a:solidFill>
                    <a:cs typeface="Times New Roman" panose="02020603050405020304" pitchFamily="18" charset="0"/>
                  </a:rPr>
                  <a:t>A</a:t>
                </a:r>
                <a:r>
                  <a:rPr lang="es-PE" altLang="es-PE" sz="1000" baseline="-30000">
                    <a:solidFill>
                      <a:schemeClr val="tx1"/>
                    </a:solidFill>
                    <a:cs typeface="Times New Roman" panose="02020603050405020304" pitchFamily="18" charset="0"/>
                  </a:rPr>
                  <a:t>3</a:t>
                </a:r>
                <a:r>
                  <a:rPr lang="es-PE" altLang="es-PE" sz="1000">
                    <a:solidFill>
                      <a:schemeClr val="tx1"/>
                    </a:solidFill>
                    <a:cs typeface="Times New Roman" panose="02020603050405020304" pitchFamily="18" charset="0"/>
                  </a:rPr>
                  <a:t>+ 40/60</a:t>
                </a:r>
                <a:endParaRPr lang="es-PE" altLang="es-PE" sz="1000">
                  <a:solidFill>
                    <a:schemeClr val="tx1"/>
                  </a:solidFill>
                </a:endParaRPr>
              </a:p>
            </p:txBody>
          </p:sp>
          <p:sp>
            <p:nvSpPr>
              <p:cNvPr id="13" name="Line 13"/>
              <p:cNvSpPr>
                <a:spLocks noChangeShapeType="1"/>
              </p:cNvSpPr>
              <p:nvPr/>
            </p:nvSpPr>
            <p:spPr bwMode="auto">
              <a:xfrm>
                <a:off x="748" y="2152"/>
                <a:ext cx="1265" cy="0"/>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s-PE"/>
              </a:p>
            </p:txBody>
          </p:sp>
          <p:sp>
            <p:nvSpPr>
              <p:cNvPr id="14" name="Text Box 14"/>
              <p:cNvSpPr txBox="1">
                <a:spLocks noChangeArrowheads="1"/>
              </p:cNvSpPr>
              <p:nvPr/>
            </p:nvSpPr>
            <p:spPr bwMode="auto">
              <a:xfrm>
                <a:off x="427" y="2061"/>
                <a:ext cx="230" cy="17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Clr>
                    <a:srgbClr val="004588"/>
                  </a:buClr>
                  <a:buFont typeface="Wingdings" panose="05000000000000000000" pitchFamily="2" charset="2"/>
                  <a:buChar char="§"/>
                  <a:defRPr sz="2000">
                    <a:solidFill>
                      <a:srgbClr val="004588"/>
                    </a:solidFill>
                    <a:latin typeface="Arial" panose="020B0604020202020204" pitchFamily="34" charset="0"/>
                  </a:defRPr>
                </a:lvl1pPr>
                <a:lvl2pPr marL="742950" indent="-285750">
                  <a:spcBef>
                    <a:spcPct val="40000"/>
                  </a:spcBef>
                  <a:buClr>
                    <a:srgbClr val="004588"/>
                  </a:buClr>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40000"/>
                  </a:spcBef>
                  <a:buClr>
                    <a:srgbClr val="004588"/>
                  </a:buClr>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40000"/>
                  </a:spcBef>
                  <a:buClr>
                    <a:srgbClr val="004588"/>
                  </a:buClr>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r>
                  <a:rPr lang="es-PE" altLang="es-PE" sz="1000">
                    <a:solidFill>
                      <a:schemeClr val="tx1"/>
                    </a:solidFill>
                    <a:cs typeface="Times New Roman" panose="02020603050405020304" pitchFamily="18" charset="0"/>
                  </a:rPr>
                  <a:t>A</a:t>
                </a:r>
                <a:r>
                  <a:rPr lang="es-PE" altLang="es-PE" sz="1000" baseline="-30000">
                    <a:solidFill>
                      <a:schemeClr val="tx1"/>
                    </a:solidFill>
                    <a:cs typeface="Times New Roman" panose="02020603050405020304" pitchFamily="18" charset="0"/>
                  </a:rPr>
                  <a:t>3</a:t>
                </a:r>
                <a:endParaRPr lang="es-PE" altLang="es-PE" sz="1000">
                  <a:solidFill>
                    <a:schemeClr val="tx1"/>
                  </a:solidFill>
                </a:endParaRPr>
              </a:p>
            </p:txBody>
          </p:sp>
          <p:sp>
            <p:nvSpPr>
              <p:cNvPr id="15" name="Text Box 15"/>
              <p:cNvSpPr txBox="1">
                <a:spLocks noChangeArrowheads="1"/>
              </p:cNvSpPr>
              <p:nvPr/>
            </p:nvSpPr>
            <p:spPr bwMode="auto">
              <a:xfrm>
                <a:off x="1483" y="2482"/>
                <a:ext cx="732" cy="3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Clr>
                    <a:srgbClr val="004588"/>
                  </a:buClr>
                  <a:buFont typeface="Wingdings" panose="05000000000000000000" pitchFamily="2" charset="2"/>
                  <a:buChar char="§"/>
                  <a:defRPr sz="2000">
                    <a:solidFill>
                      <a:srgbClr val="004588"/>
                    </a:solidFill>
                    <a:latin typeface="Arial" panose="020B0604020202020204" pitchFamily="34" charset="0"/>
                  </a:defRPr>
                </a:lvl1pPr>
                <a:lvl2pPr marL="742950" indent="-285750">
                  <a:spcBef>
                    <a:spcPct val="40000"/>
                  </a:spcBef>
                  <a:buClr>
                    <a:srgbClr val="004588"/>
                  </a:buClr>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40000"/>
                  </a:spcBef>
                  <a:buClr>
                    <a:srgbClr val="004588"/>
                  </a:buClr>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40000"/>
                  </a:spcBef>
                  <a:buClr>
                    <a:srgbClr val="004588"/>
                  </a:buClr>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r>
                  <a:rPr lang="es-PE" altLang="es-PE" sz="800" dirty="0">
                    <a:solidFill>
                      <a:schemeClr val="tx1"/>
                    </a:solidFill>
                    <a:cs typeface="Times New Roman" panose="02020603050405020304" pitchFamily="18" charset="0"/>
                  </a:rPr>
                  <a:t>Enfriamiento en horno</a:t>
                </a:r>
                <a:endParaRPr lang="es-PE" altLang="es-PE" sz="1100" dirty="0">
                  <a:solidFill>
                    <a:schemeClr val="tx1"/>
                  </a:solidFill>
                </a:endParaRPr>
              </a:p>
              <a:p>
                <a:pPr>
                  <a:spcBef>
                    <a:spcPct val="0"/>
                  </a:spcBef>
                  <a:buClrTx/>
                  <a:buFontTx/>
                  <a:buNone/>
                </a:pPr>
                <a:r>
                  <a:rPr lang="es-PE" altLang="es-PE" sz="800" dirty="0">
                    <a:solidFill>
                      <a:schemeClr val="tx1"/>
                    </a:solidFill>
                    <a:cs typeface="Times New Roman" panose="02020603050405020304" pitchFamily="18" charset="0"/>
                  </a:rPr>
                  <a:t>a puerta cerrada</a:t>
                </a:r>
                <a:endParaRPr lang="es-PE" altLang="es-PE" sz="1800" dirty="0">
                  <a:solidFill>
                    <a:schemeClr val="tx1"/>
                  </a:solidFill>
                </a:endParaRPr>
              </a:p>
            </p:txBody>
          </p:sp>
        </p:grpSp>
        <p:sp>
          <p:nvSpPr>
            <p:cNvPr id="4" name="CuadroTexto 3"/>
            <p:cNvSpPr txBox="1"/>
            <p:nvPr/>
          </p:nvSpPr>
          <p:spPr>
            <a:xfrm>
              <a:off x="10267314" y="4503421"/>
              <a:ext cx="1086486" cy="318753"/>
            </a:xfrm>
            <a:prstGeom prst="rect">
              <a:avLst/>
            </a:prstGeom>
            <a:noFill/>
          </p:spPr>
          <p:txBody>
            <a:bodyPr wrap="square" rtlCol="0">
              <a:spAutoFit/>
            </a:bodyPr>
            <a:lstStyle/>
            <a:p>
              <a:r>
                <a:rPr lang="es-PE" sz="1200" dirty="0"/>
                <a:t>Tiempo</a:t>
              </a:r>
            </a:p>
          </p:txBody>
        </p:sp>
      </p:grpSp>
      <p:sp>
        <p:nvSpPr>
          <p:cNvPr id="16" name="Rectángulo 15">
            <a:extLst>
              <a:ext uri="{FF2B5EF4-FFF2-40B4-BE49-F238E27FC236}">
                <a16:creationId xmlns:a16="http://schemas.microsoft.com/office/drawing/2014/main" id="{47A0FB4B-46B0-4CCC-A10F-D88EDE6D46B5}"/>
              </a:ext>
            </a:extLst>
          </p:cNvPr>
          <p:cNvSpPr/>
          <p:nvPr/>
        </p:nvSpPr>
        <p:spPr>
          <a:xfrm>
            <a:off x="5812055" y="4283602"/>
            <a:ext cx="6096000" cy="584775"/>
          </a:xfrm>
          <a:prstGeom prst="rect">
            <a:avLst/>
          </a:prstGeom>
          <a:ln>
            <a:solidFill>
              <a:srgbClr val="49100F"/>
            </a:solidFill>
          </a:ln>
        </p:spPr>
        <p:txBody>
          <a:bodyPr>
            <a:spAutoFit/>
          </a:bodyPr>
          <a:lstStyle/>
          <a:p>
            <a:pPr lvl="1"/>
            <a:r>
              <a:rPr lang="es-ES" altLang="es-PE" sz="1600" dirty="0"/>
              <a:t>Cuando hay modificación química se llama tratamiento termoquímico </a:t>
            </a:r>
          </a:p>
        </p:txBody>
      </p:sp>
      <p:pic>
        <p:nvPicPr>
          <p:cNvPr id="19" name="Picture 8" descr="Resultado de imagen para calentamiento para temple">
            <a:extLst>
              <a:ext uri="{FF2B5EF4-FFF2-40B4-BE49-F238E27FC236}">
                <a16:creationId xmlns:a16="http://schemas.microsoft.com/office/drawing/2014/main" id="{8CFFE526-7073-489C-AD0C-ED32D6F05B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80056" y="1921607"/>
            <a:ext cx="2290763" cy="164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10">
            <a:extLst>
              <a:ext uri="{FF2B5EF4-FFF2-40B4-BE49-F238E27FC236}">
                <a16:creationId xmlns:a16="http://schemas.microsoft.com/office/drawing/2014/main" id="{48FD993D-D530-43B9-9556-383CF906F3F7}"/>
              </a:ext>
            </a:extLst>
          </p:cNvPr>
          <p:cNvSpPr txBox="1">
            <a:spLocks noChangeArrowheads="1"/>
          </p:cNvSpPr>
          <p:nvPr/>
        </p:nvSpPr>
        <p:spPr>
          <a:xfrm>
            <a:off x="728134" y="3729945"/>
            <a:ext cx="4648089" cy="2795587"/>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120000"/>
              </a:lnSpc>
              <a:spcBef>
                <a:spcPct val="0"/>
              </a:spcBef>
              <a:spcAft>
                <a:spcPts val="1200"/>
              </a:spcAft>
              <a:buFont typeface="Wingdings" panose="05000000000000000000" pitchFamily="2" charset="2"/>
              <a:buNone/>
              <a:defRPr/>
            </a:pPr>
            <a:r>
              <a:rPr lang="es-PE" sz="1400" b="1" dirty="0">
                <a:solidFill>
                  <a:schemeClr val="bg2">
                    <a:lumMod val="10000"/>
                  </a:schemeClr>
                </a:solidFill>
              </a:rPr>
              <a:t>Objetivos de los  TT:</a:t>
            </a:r>
          </a:p>
          <a:p>
            <a:pPr>
              <a:lnSpc>
                <a:spcPct val="100000"/>
              </a:lnSpc>
              <a:spcBef>
                <a:spcPct val="0"/>
              </a:spcBef>
              <a:spcAft>
                <a:spcPts val="1200"/>
              </a:spcAft>
              <a:buFontTx/>
              <a:buChar char="-"/>
              <a:defRPr/>
            </a:pPr>
            <a:r>
              <a:rPr lang="es-PE" sz="1400" dirty="0">
                <a:solidFill>
                  <a:schemeClr val="bg2">
                    <a:lumMod val="10000"/>
                  </a:schemeClr>
                </a:solidFill>
              </a:rPr>
              <a:t>Eliminar heterogeneidades químicas (</a:t>
            </a:r>
            <a:r>
              <a:rPr lang="es-PE" sz="1400" dirty="0" err="1">
                <a:solidFill>
                  <a:schemeClr val="bg2">
                    <a:lumMod val="10000"/>
                  </a:schemeClr>
                </a:solidFill>
              </a:rPr>
              <a:t>microsegregación</a:t>
            </a:r>
            <a:r>
              <a:rPr lang="es-PE" sz="1400" dirty="0">
                <a:solidFill>
                  <a:schemeClr val="bg2">
                    <a:lumMod val="10000"/>
                  </a:schemeClr>
                </a:solidFill>
              </a:rPr>
              <a:t>)</a:t>
            </a:r>
          </a:p>
          <a:p>
            <a:pPr>
              <a:lnSpc>
                <a:spcPct val="100000"/>
              </a:lnSpc>
              <a:spcBef>
                <a:spcPct val="0"/>
              </a:spcBef>
              <a:spcAft>
                <a:spcPts val="1200"/>
              </a:spcAft>
              <a:buFontTx/>
              <a:buChar char="-"/>
              <a:defRPr/>
            </a:pPr>
            <a:r>
              <a:rPr lang="es-ES" sz="1400" dirty="0">
                <a:solidFill>
                  <a:schemeClr val="bg2">
                    <a:lumMod val="10000"/>
                  </a:schemeClr>
                </a:solidFill>
              </a:rPr>
              <a:t>Homogenizar el tamaño de grano</a:t>
            </a:r>
          </a:p>
          <a:p>
            <a:pPr>
              <a:lnSpc>
                <a:spcPct val="100000"/>
              </a:lnSpc>
              <a:spcBef>
                <a:spcPct val="0"/>
              </a:spcBef>
              <a:spcAft>
                <a:spcPts val="1200"/>
              </a:spcAft>
              <a:buFontTx/>
              <a:buChar char="-"/>
              <a:defRPr/>
            </a:pPr>
            <a:r>
              <a:rPr lang="es-ES" sz="1400" dirty="0">
                <a:solidFill>
                  <a:schemeClr val="bg2">
                    <a:lumMod val="10000"/>
                  </a:schemeClr>
                </a:solidFill>
              </a:rPr>
              <a:t>Aumentar o disminuir el tamaño de grano</a:t>
            </a:r>
          </a:p>
          <a:p>
            <a:pPr>
              <a:lnSpc>
                <a:spcPct val="100000"/>
              </a:lnSpc>
              <a:spcBef>
                <a:spcPct val="0"/>
              </a:spcBef>
              <a:spcAft>
                <a:spcPts val="1200"/>
              </a:spcAft>
              <a:buFontTx/>
              <a:buChar char="-"/>
              <a:defRPr/>
            </a:pPr>
            <a:r>
              <a:rPr lang="es-ES" sz="1400" dirty="0">
                <a:solidFill>
                  <a:schemeClr val="bg2">
                    <a:lumMod val="10000"/>
                  </a:schemeClr>
                </a:solidFill>
              </a:rPr>
              <a:t>Aumentar o disminuir la resistencia mecánica, mejorar la tenacidad.</a:t>
            </a:r>
          </a:p>
          <a:p>
            <a:pPr>
              <a:lnSpc>
                <a:spcPct val="100000"/>
              </a:lnSpc>
              <a:spcBef>
                <a:spcPct val="0"/>
              </a:spcBef>
              <a:spcAft>
                <a:spcPts val="1200"/>
              </a:spcAft>
              <a:buFontTx/>
              <a:buChar char="-"/>
              <a:defRPr/>
            </a:pPr>
            <a:r>
              <a:rPr lang="es-PE" sz="1400" dirty="0">
                <a:solidFill>
                  <a:schemeClr val="tx2"/>
                </a:solidFill>
              </a:rPr>
              <a:t>Eliminar tensiones internas y evitar deformaciones después del mecanizado.</a:t>
            </a:r>
          </a:p>
          <a:p>
            <a:pPr>
              <a:lnSpc>
                <a:spcPct val="120000"/>
              </a:lnSpc>
              <a:spcBef>
                <a:spcPct val="0"/>
              </a:spcBef>
              <a:spcAft>
                <a:spcPts val="1200"/>
              </a:spcAft>
              <a:buFontTx/>
              <a:buChar char="-"/>
              <a:defRPr/>
            </a:pPr>
            <a:endParaRPr lang="es-ES" sz="1400" dirty="0">
              <a:solidFill>
                <a:schemeClr val="bg2">
                  <a:lumMod val="10000"/>
                </a:schemeClr>
              </a:solidFill>
            </a:endParaRPr>
          </a:p>
          <a:p>
            <a:pPr>
              <a:lnSpc>
                <a:spcPct val="120000"/>
              </a:lnSpc>
              <a:spcBef>
                <a:spcPct val="0"/>
              </a:spcBef>
              <a:spcAft>
                <a:spcPts val="1200"/>
              </a:spcAft>
              <a:buFontTx/>
              <a:buChar char="-"/>
              <a:defRPr/>
            </a:pPr>
            <a:endParaRPr lang="es-ES" sz="1400" dirty="0">
              <a:solidFill>
                <a:schemeClr val="bg2">
                  <a:lumMod val="10000"/>
                </a:schemeClr>
              </a:solidFill>
            </a:endParaRPr>
          </a:p>
          <a:p>
            <a:pPr>
              <a:lnSpc>
                <a:spcPct val="120000"/>
              </a:lnSpc>
              <a:spcBef>
                <a:spcPct val="0"/>
              </a:spcBef>
              <a:spcAft>
                <a:spcPts val="1200"/>
              </a:spcAft>
              <a:buFontTx/>
              <a:buChar char="-"/>
              <a:defRPr/>
            </a:pPr>
            <a:endParaRPr lang="es-PE" sz="1400" dirty="0">
              <a:solidFill>
                <a:schemeClr val="bg2">
                  <a:lumMod val="1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upo 4">
            <a:extLst>
              <a:ext uri="{FF2B5EF4-FFF2-40B4-BE49-F238E27FC236}">
                <a16:creationId xmlns:a16="http://schemas.microsoft.com/office/drawing/2014/main" id="{432ACF9E-C6DF-4D1A-B4DE-9B92FCF867F4}"/>
              </a:ext>
            </a:extLst>
          </p:cNvPr>
          <p:cNvGrpSpPr/>
          <p:nvPr/>
        </p:nvGrpSpPr>
        <p:grpSpPr>
          <a:xfrm>
            <a:off x="441366" y="1726362"/>
            <a:ext cx="3440289" cy="2285728"/>
            <a:chOff x="7749540" y="2191901"/>
            <a:chExt cx="3604260" cy="2630273"/>
          </a:xfrm>
        </p:grpSpPr>
        <p:grpSp>
          <p:nvGrpSpPr>
            <p:cNvPr id="6" name="Group 37">
              <a:extLst>
                <a:ext uri="{FF2B5EF4-FFF2-40B4-BE49-F238E27FC236}">
                  <a16:creationId xmlns:a16="http://schemas.microsoft.com/office/drawing/2014/main" id="{5209ED5C-00F5-4ED9-AB46-ACB613A13844}"/>
                </a:ext>
              </a:extLst>
            </p:cNvPr>
            <p:cNvGrpSpPr>
              <a:grpSpLocks/>
            </p:cNvGrpSpPr>
            <p:nvPr/>
          </p:nvGrpSpPr>
          <p:grpSpPr bwMode="auto">
            <a:xfrm>
              <a:off x="7749540" y="2191901"/>
              <a:ext cx="3052762" cy="2089150"/>
              <a:chOff x="427" y="1594"/>
              <a:chExt cx="1923" cy="1316"/>
            </a:xfrm>
          </p:grpSpPr>
          <p:sp>
            <p:nvSpPr>
              <p:cNvPr id="8" name="Line 7">
                <a:extLst>
                  <a:ext uri="{FF2B5EF4-FFF2-40B4-BE49-F238E27FC236}">
                    <a16:creationId xmlns:a16="http://schemas.microsoft.com/office/drawing/2014/main" id="{CD3C997A-F550-4F6C-8A0D-9777245FF406}"/>
                  </a:ext>
                </a:extLst>
              </p:cNvPr>
              <p:cNvSpPr>
                <a:spLocks noChangeShapeType="1"/>
              </p:cNvSpPr>
              <p:nvPr/>
            </p:nvSpPr>
            <p:spPr bwMode="auto">
              <a:xfrm>
                <a:off x="748" y="1697"/>
                <a:ext cx="0" cy="1213"/>
              </a:xfrm>
              <a:prstGeom prst="line">
                <a:avLst/>
              </a:prstGeom>
              <a:noFill/>
              <a:ln w="9525">
                <a:solidFill>
                  <a:srgbClr val="000000"/>
                </a:solidFill>
                <a:round/>
                <a:headEnd type="arrow" w="med" len="med"/>
                <a:tailEnd/>
              </a:ln>
              <a:extLst>
                <a:ext uri="{909E8E84-426E-40DD-AFC4-6F175D3DCCD1}">
                  <a14:hiddenFill xmlns:a14="http://schemas.microsoft.com/office/drawing/2010/main">
                    <a:noFill/>
                  </a14:hiddenFill>
                </a:ext>
              </a:extLst>
            </p:spPr>
            <p:txBody>
              <a:bodyPr/>
              <a:lstStyle/>
              <a:p>
                <a:endParaRPr lang="es-PE"/>
              </a:p>
            </p:txBody>
          </p:sp>
          <p:sp>
            <p:nvSpPr>
              <p:cNvPr id="9" name="Line 8">
                <a:extLst>
                  <a:ext uri="{FF2B5EF4-FFF2-40B4-BE49-F238E27FC236}">
                    <a16:creationId xmlns:a16="http://schemas.microsoft.com/office/drawing/2014/main" id="{579D2E97-49CD-4FDA-B6F7-351DCF7AFF9F}"/>
                  </a:ext>
                </a:extLst>
              </p:cNvPr>
              <p:cNvSpPr>
                <a:spLocks noChangeShapeType="1"/>
              </p:cNvSpPr>
              <p:nvPr/>
            </p:nvSpPr>
            <p:spPr bwMode="auto">
              <a:xfrm>
                <a:off x="748" y="2910"/>
                <a:ext cx="1602"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es-PE"/>
              </a:p>
            </p:txBody>
          </p:sp>
          <p:sp>
            <p:nvSpPr>
              <p:cNvPr id="10" name="Line 9">
                <a:extLst>
                  <a:ext uri="{FF2B5EF4-FFF2-40B4-BE49-F238E27FC236}">
                    <a16:creationId xmlns:a16="http://schemas.microsoft.com/office/drawing/2014/main" id="{7EB49D38-57BB-4254-B3E7-B56D897C43B4}"/>
                  </a:ext>
                </a:extLst>
              </p:cNvPr>
              <p:cNvSpPr>
                <a:spLocks noChangeShapeType="1"/>
              </p:cNvSpPr>
              <p:nvPr/>
            </p:nvSpPr>
            <p:spPr bwMode="auto">
              <a:xfrm flipV="1">
                <a:off x="748" y="1924"/>
                <a:ext cx="253" cy="98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11" name="Line 10">
                <a:extLst>
                  <a:ext uri="{FF2B5EF4-FFF2-40B4-BE49-F238E27FC236}">
                    <a16:creationId xmlns:a16="http://schemas.microsoft.com/office/drawing/2014/main" id="{0BA9E780-C92D-4768-A94F-1A2BAA71846C}"/>
                  </a:ext>
                </a:extLst>
              </p:cNvPr>
              <p:cNvSpPr>
                <a:spLocks noChangeShapeType="1"/>
              </p:cNvSpPr>
              <p:nvPr/>
            </p:nvSpPr>
            <p:spPr bwMode="auto">
              <a:xfrm>
                <a:off x="1001" y="1924"/>
                <a:ext cx="59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12" name="Line 11">
                <a:extLst>
                  <a:ext uri="{FF2B5EF4-FFF2-40B4-BE49-F238E27FC236}">
                    <a16:creationId xmlns:a16="http://schemas.microsoft.com/office/drawing/2014/main" id="{5501C516-3964-4797-A61B-FB3433C2641B}"/>
                  </a:ext>
                </a:extLst>
              </p:cNvPr>
              <p:cNvSpPr>
                <a:spLocks noChangeShapeType="1"/>
              </p:cNvSpPr>
              <p:nvPr/>
            </p:nvSpPr>
            <p:spPr bwMode="auto">
              <a:xfrm>
                <a:off x="1591" y="1924"/>
                <a:ext cx="675" cy="531"/>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es-PE"/>
              </a:p>
            </p:txBody>
          </p:sp>
          <p:sp>
            <p:nvSpPr>
              <p:cNvPr id="13" name="Text Box 12">
                <a:extLst>
                  <a:ext uri="{FF2B5EF4-FFF2-40B4-BE49-F238E27FC236}">
                    <a16:creationId xmlns:a16="http://schemas.microsoft.com/office/drawing/2014/main" id="{F9E16A37-E07D-4061-8887-0816B21EC86E}"/>
                  </a:ext>
                </a:extLst>
              </p:cNvPr>
              <p:cNvSpPr txBox="1">
                <a:spLocks noChangeArrowheads="1"/>
              </p:cNvSpPr>
              <p:nvPr/>
            </p:nvSpPr>
            <p:spPr bwMode="auto">
              <a:xfrm>
                <a:off x="1085" y="1594"/>
                <a:ext cx="675" cy="3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Clr>
                    <a:srgbClr val="004588"/>
                  </a:buClr>
                  <a:buFont typeface="Wingdings" panose="05000000000000000000" pitchFamily="2" charset="2"/>
                  <a:buChar char="§"/>
                  <a:defRPr sz="2000">
                    <a:solidFill>
                      <a:srgbClr val="004588"/>
                    </a:solidFill>
                    <a:latin typeface="Arial" panose="020B0604020202020204" pitchFamily="34" charset="0"/>
                  </a:defRPr>
                </a:lvl1pPr>
                <a:lvl2pPr marL="742950" indent="-285750">
                  <a:spcBef>
                    <a:spcPct val="40000"/>
                  </a:spcBef>
                  <a:buClr>
                    <a:srgbClr val="004588"/>
                  </a:buClr>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40000"/>
                  </a:spcBef>
                  <a:buClr>
                    <a:srgbClr val="004588"/>
                  </a:buClr>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40000"/>
                  </a:spcBef>
                  <a:buClr>
                    <a:srgbClr val="004588"/>
                  </a:buClr>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r>
                  <a:rPr lang="es-PE" altLang="es-PE" sz="1000">
                    <a:solidFill>
                      <a:schemeClr val="tx1"/>
                    </a:solidFill>
                    <a:cs typeface="Times New Roman" panose="02020603050405020304" pitchFamily="18" charset="0"/>
                  </a:rPr>
                  <a:t>A</a:t>
                </a:r>
                <a:r>
                  <a:rPr lang="es-PE" altLang="es-PE" sz="1000" baseline="-30000">
                    <a:solidFill>
                      <a:schemeClr val="tx1"/>
                    </a:solidFill>
                    <a:cs typeface="Times New Roman" panose="02020603050405020304" pitchFamily="18" charset="0"/>
                  </a:rPr>
                  <a:t>3</a:t>
                </a:r>
                <a:r>
                  <a:rPr lang="es-PE" altLang="es-PE" sz="1000">
                    <a:solidFill>
                      <a:schemeClr val="tx1"/>
                    </a:solidFill>
                    <a:cs typeface="Times New Roman" panose="02020603050405020304" pitchFamily="18" charset="0"/>
                  </a:rPr>
                  <a:t>+ 40/60</a:t>
                </a:r>
                <a:endParaRPr lang="es-PE" altLang="es-PE" sz="1000">
                  <a:solidFill>
                    <a:schemeClr val="tx1"/>
                  </a:solidFill>
                </a:endParaRPr>
              </a:p>
            </p:txBody>
          </p:sp>
          <p:sp>
            <p:nvSpPr>
              <p:cNvPr id="14" name="Line 13">
                <a:extLst>
                  <a:ext uri="{FF2B5EF4-FFF2-40B4-BE49-F238E27FC236}">
                    <a16:creationId xmlns:a16="http://schemas.microsoft.com/office/drawing/2014/main" id="{CA9DB112-3041-40B3-9C37-EB9132925E85}"/>
                  </a:ext>
                </a:extLst>
              </p:cNvPr>
              <p:cNvSpPr>
                <a:spLocks noChangeShapeType="1"/>
              </p:cNvSpPr>
              <p:nvPr/>
            </p:nvSpPr>
            <p:spPr bwMode="auto">
              <a:xfrm>
                <a:off x="748" y="2152"/>
                <a:ext cx="1265" cy="0"/>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s-PE"/>
              </a:p>
            </p:txBody>
          </p:sp>
          <p:sp>
            <p:nvSpPr>
              <p:cNvPr id="15" name="Text Box 14">
                <a:extLst>
                  <a:ext uri="{FF2B5EF4-FFF2-40B4-BE49-F238E27FC236}">
                    <a16:creationId xmlns:a16="http://schemas.microsoft.com/office/drawing/2014/main" id="{1664D572-F2DB-4732-930A-BB1380A6F2F1}"/>
                  </a:ext>
                </a:extLst>
              </p:cNvPr>
              <p:cNvSpPr txBox="1">
                <a:spLocks noChangeArrowheads="1"/>
              </p:cNvSpPr>
              <p:nvPr/>
            </p:nvSpPr>
            <p:spPr bwMode="auto">
              <a:xfrm>
                <a:off x="427" y="2061"/>
                <a:ext cx="230" cy="17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Clr>
                    <a:srgbClr val="004588"/>
                  </a:buClr>
                  <a:buFont typeface="Wingdings" panose="05000000000000000000" pitchFamily="2" charset="2"/>
                  <a:buChar char="§"/>
                  <a:defRPr sz="2000">
                    <a:solidFill>
                      <a:srgbClr val="004588"/>
                    </a:solidFill>
                    <a:latin typeface="Arial" panose="020B0604020202020204" pitchFamily="34" charset="0"/>
                  </a:defRPr>
                </a:lvl1pPr>
                <a:lvl2pPr marL="742950" indent="-285750">
                  <a:spcBef>
                    <a:spcPct val="40000"/>
                  </a:spcBef>
                  <a:buClr>
                    <a:srgbClr val="004588"/>
                  </a:buClr>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40000"/>
                  </a:spcBef>
                  <a:buClr>
                    <a:srgbClr val="004588"/>
                  </a:buClr>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40000"/>
                  </a:spcBef>
                  <a:buClr>
                    <a:srgbClr val="004588"/>
                  </a:buClr>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r>
                  <a:rPr lang="es-PE" altLang="es-PE" sz="1000">
                    <a:solidFill>
                      <a:schemeClr val="tx1"/>
                    </a:solidFill>
                    <a:cs typeface="Times New Roman" panose="02020603050405020304" pitchFamily="18" charset="0"/>
                  </a:rPr>
                  <a:t>A</a:t>
                </a:r>
                <a:r>
                  <a:rPr lang="es-PE" altLang="es-PE" sz="1000" baseline="-30000">
                    <a:solidFill>
                      <a:schemeClr val="tx1"/>
                    </a:solidFill>
                    <a:cs typeface="Times New Roman" panose="02020603050405020304" pitchFamily="18" charset="0"/>
                  </a:rPr>
                  <a:t>3</a:t>
                </a:r>
                <a:endParaRPr lang="es-PE" altLang="es-PE" sz="1000">
                  <a:solidFill>
                    <a:schemeClr val="tx1"/>
                  </a:solidFill>
                </a:endParaRPr>
              </a:p>
            </p:txBody>
          </p:sp>
          <p:sp>
            <p:nvSpPr>
              <p:cNvPr id="16" name="Text Box 15">
                <a:extLst>
                  <a:ext uri="{FF2B5EF4-FFF2-40B4-BE49-F238E27FC236}">
                    <a16:creationId xmlns:a16="http://schemas.microsoft.com/office/drawing/2014/main" id="{B30DEFBC-9D05-4008-A594-38ED0352AF45}"/>
                  </a:ext>
                </a:extLst>
              </p:cNvPr>
              <p:cNvSpPr txBox="1">
                <a:spLocks noChangeArrowheads="1"/>
              </p:cNvSpPr>
              <p:nvPr/>
            </p:nvSpPr>
            <p:spPr bwMode="auto">
              <a:xfrm>
                <a:off x="1483" y="2482"/>
                <a:ext cx="732" cy="3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Clr>
                    <a:srgbClr val="004588"/>
                  </a:buClr>
                  <a:buFont typeface="Wingdings" panose="05000000000000000000" pitchFamily="2" charset="2"/>
                  <a:buChar char="§"/>
                  <a:defRPr sz="2000">
                    <a:solidFill>
                      <a:srgbClr val="004588"/>
                    </a:solidFill>
                    <a:latin typeface="Arial" panose="020B0604020202020204" pitchFamily="34" charset="0"/>
                  </a:defRPr>
                </a:lvl1pPr>
                <a:lvl2pPr marL="742950" indent="-285750">
                  <a:spcBef>
                    <a:spcPct val="40000"/>
                  </a:spcBef>
                  <a:buClr>
                    <a:srgbClr val="004588"/>
                  </a:buClr>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40000"/>
                  </a:spcBef>
                  <a:buClr>
                    <a:srgbClr val="004588"/>
                  </a:buClr>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40000"/>
                  </a:spcBef>
                  <a:buClr>
                    <a:srgbClr val="004588"/>
                  </a:buClr>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r>
                  <a:rPr lang="es-PE" altLang="es-PE" sz="800" dirty="0">
                    <a:solidFill>
                      <a:schemeClr val="tx1"/>
                    </a:solidFill>
                    <a:cs typeface="Times New Roman" panose="02020603050405020304" pitchFamily="18" charset="0"/>
                  </a:rPr>
                  <a:t>Enfriamiento en horno</a:t>
                </a:r>
                <a:endParaRPr lang="es-PE" altLang="es-PE" sz="1100" dirty="0">
                  <a:solidFill>
                    <a:schemeClr val="tx1"/>
                  </a:solidFill>
                </a:endParaRPr>
              </a:p>
              <a:p>
                <a:pPr>
                  <a:spcBef>
                    <a:spcPct val="0"/>
                  </a:spcBef>
                  <a:buClrTx/>
                  <a:buFontTx/>
                  <a:buNone/>
                </a:pPr>
                <a:r>
                  <a:rPr lang="es-PE" altLang="es-PE" sz="800" dirty="0">
                    <a:solidFill>
                      <a:schemeClr val="tx1"/>
                    </a:solidFill>
                    <a:cs typeface="Times New Roman" panose="02020603050405020304" pitchFamily="18" charset="0"/>
                  </a:rPr>
                  <a:t>a puerta cerrada</a:t>
                </a:r>
                <a:endParaRPr lang="es-PE" altLang="es-PE" sz="1800" dirty="0">
                  <a:solidFill>
                    <a:schemeClr val="tx1"/>
                  </a:solidFill>
                </a:endParaRPr>
              </a:p>
            </p:txBody>
          </p:sp>
        </p:grpSp>
        <p:sp>
          <p:nvSpPr>
            <p:cNvPr id="7" name="CuadroTexto 6">
              <a:extLst>
                <a:ext uri="{FF2B5EF4-FFF2-40B4-BE49-F238E27FC236}">
                  <a16:creationId xmlns:a16="http://schemas.microsoft.com/office/drawing/2014/main" id="{5031B419-88A3-43E5-AA16-D7531609265F}"/>
                </a:ext>
              </a:extLst>
            </p:cNvPr>
            <p:cNvSpPr txBox="1"/>
            <p:nvPr/>
          </p:nvSpPr>
          <p:spPr>
            <a:xfrm>
              <a:off x="10267314" y="4503421"/>
              <a:ext cx="1086486" cy="318753"/>
            </a:xfrm>
            <a:prstGeom prst="rect">
              <a:avLst/>
            </a:prstGeom>
            <a:noFill/>
          </p:spPr>
          <p:txBody>
            <a:bodyPr wrap="square" rtlCol="0">
              <a:spAutoFit/>
            </a:bodyPr>
            <a:lstStyle/>
            <a:p>
              <a:r>
                <a:rPr lang="es-PE" sz="1200" dirty="0"/>
                <a:t>Tiempo</a:t>
              </a:r>
            </a:p>
          </p:txBody>
        </p:sp>
      </p:grpSp>
      <p:sp>
        <p:nvSpPr>
          <p:cNvPr id="17" name="CuadroTexto 16">
            <a:extLst>
              <a:ext uri="{FF2B5EF4-FFF2-40B4-BE49-F238E27FC236}">
                <a16:creationId xmlns:a16="http://schemas.microsoft.com/office/drawing/2014/main" id="{42C0D341-A416-408A-B033-1BD23289557A}"/>
              </a:ext>
            </a:extLst>
          </p:cNvPr>
          <p:cNvSpPr txBox="1"/>
          <p:nvPr/>
        </p:nvSpPr>
        <p:spPr>
          <a:xfrm>
            <a:off x="380993" y="496346"/>
            <a:ext cx="5067660" cy="1200329"/>
          </a:xfrm>
          <a:prstGeom prst="rect">
            <a:avLst/>
          </a:prstGeom>
          <a:noFill/>
        </p:spPr>
        <p:txBody>
          <a:bodyPr wrap="square" rtlCol="0">
            <a:spAutoFit/>
          </a:bodyPr>
          <a:lstStyle/>
          <a:p>
            <a:r>
              <a:rPr lang="es-ES" b="1" dirty="0"/>
              <a:t>La temperatura de tratamiento térmico y la velocidad de enfriamiento definen la microestructura </a:t>
            </a:r>
            <a:r>
              <a:rPr lang="es-ES" dirty="0"/>
              <a:t>que se obtendrá a temperatura ambiente.</a:t>
            </a:r>
            <a:endParaRPr lang="es-PE" dirty="0"/>
          </a:p>
        </p:txBody>
      </p:sp>
      <p:grpSp>
        <p:nvGrpSpPr>
          <p:cNvPr id="54" name="Grupo 53">
            <a:extLst>
              <a:ext uri="{FF2B5EF4-FFF2-40B4-BE49-F238E27FC236}">
                <a16:creationId xmlns:a16="http://schemas.microsoft.com/office/drawing/2014/main" id="{95FC0C90-997C-44E3-87E9-BD03C9BEB37F}"/>
              </a:ext>
            </a:extLst>
          </p:cNvPr>
          <p:cNvGrpSpPr/>
          <p:nvPr/>
        </p:nvGrpSpPr>
        <p:grpSpPr>
          <a:xfrm>
            <a:off x="7212366" y="598644"/>
            <a:ext cx="4188295" cy="3818529"/>
            <a:chOff x="7398947" y="2506132"/>
            <a:chExt cx="4188295" cy="3818529"/>
          </a:xfrm>
        </p:grpSpPr>
        <p:grpSp>
          <p:nvGrpSpPr>
            <p:cNvPr id="53" name="Grupo 52">
              <a:extLst>
                <a:ext uri="{FF2B5EF4-FFF2-40B4-BE49-F238E27FC236}">
                  <a16:creationId xmlns:a16="http://schemas.microsoft.com/office/drawing/2014/main" id="{EB807713-6E0F-43C0-8214-27BAE8633DD7}"/>
                </a:ext>
              </a:extLst>
            </p:cNvPr>
            <p:cNvGrpSpPr/>
            <p:nvPr/>
          </p:nvGrpSpPr>
          <p:grpSpPr>
            <a:xfrm>
              <a:off x="7398947" y="2506132"/>
              <a:ext cx="4188295" cy="3818529"/>
              <a:chOff x="7398947" y="2506132"/>
              <a:chExt cx="4188295" cy="3818529"/>
            </a:xfrm>
          </p:grpSpPr>
          <p:sp>
            <p:nvSpPr>
              <p:cNvPr id="19" name="CuadroTexto 18">
                <a:extLst>
                  <a:ext uri="{FF2B5EF4-FFF2-40B4-BE49-F238E27FC236}">
                    <a16:creationId xmlns:a16="http://schemas.microsoft.com/office/drawing/2014/main" id="{A0928C22-6217-4046-AE16-D16345503943}"/>
                  </a:ext>
                </a:extLst>
              </p:cNvPr>
              <p:cNvSpPr txBox="1"/>
              <p:nvPr/>
            </p:nvSpPr>
            <p:spPr>
              <a:xfrm>
                <a:off x="8469899" y="4910726"/>
                <a:ext cx="879015" cy="464221"/>
              </a:xfrm>
              <a:prstGeom prst="rect">
                <a:avLst/>
              </a:prstGeom>
              <a:noFill/>
            </p:spPr>
            <p:txBody>
              <a:bodyPr wrap="square" rtlCol="0">
                <a:spAutoFit/>
              </a:bodyPr>
              <a:lstStyle/>
              <a:p>
                <a:r>
                  <a:rPr lang="es-ES" sz="1200" dirty="0"/>
                  <a:t>Perlita + ferrita</a:t>
                </a:r>
                <a:endParaRPr lang="es-PE" sz="1200" dirty="0"/>
              </a:p>
            </p:txBody>
          </p:sp>
          <p:sp>
            <p:nvSpPr>
              <p:cNvPr id="20" name="CuadroTexto 19">
                <a:extLst>
                  <a:ext uri="{FF2B5EF4-FFF2-40B4-BE49-F238E27FC236}">
                    <a16:creationId xmlns:a16="http://schemas.microsoft.com/office/drawing/2014/main" id="{F96D969D-0FE9-40D0-9F9E-128E8C6BE765}"/>
                  </a:ext>
                </a:extLst>
              </p:cNvPr>
              <p:cNvSpPr txBox="1"/>
              <p:nvPr/>
            </p:nvSpPr>
            <p:spPr>
              <a:xfrm>
                <a:off x="10169633" y="4910726"/>
                <a:ext cx="879015" cy="464221"/>
              </a:xfrm>
              <a:prstGeom prst="rect">
                <a:avLst/>
              </a:prstGeom>
              <a:noFill/>
            </p:spPr>
            <p:txBody>
              <a:bodyPr wrap="square" rtlCol="0">
                <a:spAutoFit/>
              </a:bodyPr>
              <a:lstStyle/>
              <a:p>
                <a:r>
                  <a:rPr lang="es-ES" sz="1200" dirty="0"/>
                  <a:t>Perlita + cementita</a:t>
                </a:r>
                <a:endParaRPr lang="es-PE" sz="1200" dirty="0"/>
              </a:p>
            </p:txBody>
          </p:sp>
          <p:cxnSp>
            <p:nvCxnSpPr>
              <p:cNvPr id="21" name="Conector recto de flecha 20">
                <a:extLst>
                  <a:ext uri="{FF2B5EF4-FFF2-40B4-BE49-F238E27FC236}">
                    <a16:creationId xmlns:a16="http://schemas.microsoft.com/office/drawing/2014/main" id="{D39DB589-8EB4-42DB-B4D8-F226632615D8}"/>
                  </a:ext>
                </a:extLst>
              </p:cNvPr>
              <p:cNvCxnSpPr>
                <a:cxnSpLocks/>
              </p:cNvCxnSpPr>
              <p:nvPr/>
            </p:nvCxnSpPr>
            <p:spPr>
              <a:xfrm flipV="1">
                <a:off x="8127147" y="5552697"/>
                <a:ext cx="2921501" cy="6022"/>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Conector recto de flecha 21">
                <a:extLst>
                  <a:ext uri="{FF2B5EF4-FFF2-40B4-BE49-F238E27FC236}">
                    <a16:creationId xmlns:a16="http://schemas.microsoft.com/office/drawing/2014/main" id="{54F16B21-FAA3-4E46-9BD8-A5431CF8DBDC}"/>
                  </a:ext>
                </a:extLst>
              </p:cNvPr>
              <p:cNvCxnSpPr>
                <a:cxnSpLocks/>
              </p:cNvCxnSpPr>
              <p:nvPr/>
            </p:nvCxnSpPr>
            <p:spPr>
              <a:xfrm flipH="1" flipV="1">
                <a:off x="8124646" y="2736502"/>
                <a:ext cx="2502" cy="28222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5CE72011-FC28-4A99-99DB-63B52434A616}"/>
                  </a:ext>
                </a:extLst>
              </p:cNvPr>
              <p:cNvCxnSpPr>
                <a:cxnSpLocks/>
              </p:cNvCxnSpPr>
              <p:nvPr/>
            </p:nvCxnSpPr>
            <p:spPr>
              <a:xfrm>
                <a:off x="8420479" y="4492611"/>
                <a:ext cx="2606143" cy="0"/>
              </a:xfrm>
              <a:prstGeom prst="line">
                <a:avLst/>
              </a:prstGeom>
            </p:spPr>
            <p:style>
              <a:lnRef idx="1">
                <a:schemeClr val="accent1"/>
              </a:lnRef>
              <a:fillRef idx="0">
                <a:schemeClr val="accent1"/>
              </a:fillRef>
              <a:effectRef idx="0">
                <a:schemeClr val="accent1"/>
              </a:effectRef>
              <a:fontRef idx="minor">
                <a:schemeClr val="tx1"/>
              </a:fontRef>
            </p:style>
          </p:cxnSp>
          <p:sp>
            <p:nvSpPr>
              <p:cNvPr id="24" name="Forma libre: forma 23">
                <a:extLst>
                  <a:ext uri="{FF2B5EF4-FFF2-40B4-BE49-F238E27FC236}">
                    <a16:creationId xmlns:a16="http://schemas.microsoft.com/office/drawing/2014/main" id="{FF4243C0-DBBA-42A5-80DE-5912D1451885}"/>
                  </a:ext>
                </a:extLst>
              </p:cNvPr>
              <p:cNvSpPr/>
              <p:nvPr/>
            </p:nvSpPr>
            <p:spPr>
              <a:xfrm>
                <a:off x="8124646" y="4492611"/>
                <a:ext cx="298334" cy="1066107"/>
              </a:xfrm>
              <a:custGeom>
                <a:avLst/>
                <a:gdLst>
                  <a:gd name="connsiteX0" fmla="*/ 503746 w 503746"/>
                  <a:gd name="connsiteY0" fmla="*/ 0 h 1484332"/>
                  <a:gd name="connsiteX1" fmla="*/ 313246 w 503746"/>
                  <a:gd name="connsiteY1" fmla="*/ 266700 h 1484332"/>
                  <a:gd name="connsiteX2" fmla="*/ 27496 w 503746"/>
                  <a:gd name="connsiteY2" fmla="*/ 1371600 h 1484332"/>
                  <a:gd name="connsiteX3" fmla="*/ 27496 w 503746"/>
                  <a:gd name="connsiteY3" fmla="*/ 1390650 h 1484332"/>
                </a:gdLst>
                <a:ahLst/>
                <a:cxnLst>
                  <a:cxn ang="0">
                    <a:pos x="connsiteX0" y="connsiteY0"/>
                  </a:cxn>
                  <a:cxn ang="0">
                    <a:pos x="connsiteX1" y="connsiteY1"/>
                  </a:cxn>
                  <a:cxn ang="0">
                    <a:pos x="connsiteX2" y="connsiteY2"/>
                  </a:cxn>
                  <a:cxn ang="0">
                    <a:pos x="connsiteX3" y="connsiteY3"/>
                  </a:cxn>
                </a:cxnLst>
                <a:rect l="l" t="t" r="r" b="b"/>
                <a:pathLst>
                  <a:path w="503746" h="1484332">
                    <a:moveTo>
                      <a:pt x="503746" y="0"/>
                    </a:moveTo>
                    <a:cubicBezTo>
                      <a:pt x="448183" y="19050"/>
                      <a:pt x="392621" y="38100"/>
                      <a:pt x="313246" y="266700"/>
                    </a:cubicBezTo>
                    <a:cubicBezTo>
                      <a:pt x="233871" y="495300"/>
                      <a:pt x="27496" y="1371600"/>
                      <a:pt x="27496" y="1371600"/>
                    </a:cubicBezTo>
                    <a:cubicBezTo>
                      <a:pt x="-20129" y="1558925"/>
                      <a:pt x="3683" y="1474787"/>
                      <a:pt x="27496" y="139065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sz="1200"/>
              </a:p>
            </p:txBody>
          </p:sp>
          <p:cxnSp>
            <p:nvCxnSpPr>
              <p:cNvPr id="25" name="Conector recto 24">
                <a:extLst>
                  <a:ext uri="{FF2B5EF4-FFF2-40B4-BE49-F238E27FC236}">
                    <a16:creationId xmlns:a16="http://schemas.microsoft.com/office/drawing/2014/main" id="{C2518734-62B0-491A-BC90-D03A66D4FD61}"/>
                  </a:ext>
                </a:extLst>
              </p:cNvPr>
              <p:cNvCxnSpPr>
                <a:stCxn id="24" idx="0"/>
              </p:cNvCxnSpPr>
              <p:nvPr/>
            </p:nvCxnSpPr>
            <p:spPr>
              <a:xfrm flipH="1" flipV="1">
                <a:off x="8127147" y="4132115"/>
                <a:ext cx="295832" cy="360496"/>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B6E913BC-A63F-471F-9D22-60EEC5265228}"/>
                  </a:ext>
                </a:extLst>
              </p:cNvPr>
              <p:cNvCxnSpPr/>
              <p:nvPr/>
            </p:nvCxnSpPr>
            <p:spPr>
              <a:xfrm>
                <a:off x="8124646" y="4132115"/>
                <a:ext cx="1593264" cy="360496"/>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Conector recto 26">
                <a:extLst>
                  <a:ext uri="{FF2B5EF4-FFF2-40B4-BE49-F238E27FC236}">
                    <a16:creationId xmlns:a16="http://schemas.microsoft.com/office/drawing/2014/main" id="{BA09B54D-DE85-4CDD-B26C-1EA537F21ED4}"/>
                  </a:ext>
                </a:extLst>
              </p:cNvPr>
              <p:cNvCxnSpPr>
                <a:cxnSpLocks/>
              </p:cNvCxnSpPr>
              <p:nvPr/>
            </p:nvCxnSpPr>
            <p:spPr>
              <a:xfrm flipV="1">
                <a:off x="9717910" y="3649685"/>
                <a:ext cx="605039" cy="842926"/>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Conector recto de flecha 27">
                <a:extLst>
                  <a:ext uri="{FF2B5EF4-FFF2-40B4-BE49-F238E27FC236}">
                    <a16:creationId xmlns:a16="http://schemas.microsoft.com/office/drawing/2014/main" id="{CC598707-DFC4-48D9-A640-37128AE78AF9}"/>
                  </a:ext>
                </a:extLst>
              </p:cNvPr>
              <p:cNvCxnSpPr>
                <a:cxnSpLocks/>
              </p:cNvCxnSpPr>
              <p:nvPr/>
            </p:nvCxnSpPr>
            <p:spPr>
              <a:xfrm flipV="1">
                <a:off x="11048648" y="2506132"/>
                <a:ext cx="0" cy="30465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ector recto 28">
                <a:extLst>
                  <a:ext uri="{FF2B5EF4-FFF2-40B4-BE49-F238E27FC236}">
                    <a16:creationId xmlns:a16="http://schemas.microsoft.com/office/drawing/2014/main" id="{C1A1E7BE-8612-44BB-AE38-E8AC86EAE9E6}"/>
                  </a:ext>
                </a:extLst>
              </p:cNvPr>
              <p:cNvCxnSpPr/>
              <p:nvPr/>
            </p:nvCxnSpPr>
            <p:spPr>
              <a:xfrm>
                <a:off x="9723551" y="4492611"/>
                <a:ext cx="0" cy="1066107"/>
              </a:xfrm>
              <a:prstGeom prst="line">
                <a:avLst/>
              </a:prstGeom>
              <a:ln w="9525">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8E92920F-B2A2-4A78-9759-183BD0E24F79}"/>
                      </a:ext>
                    </a:extLst>
                  </p:cNvPr>
                  <p:cNvSpPr txBox="1"/>
                  <p:nvPr/>
                </p:nvSpPr>
                <p:spPr>
                  <a:xfrm>
                    <a:off x="10788143" y="5571134"/>
                    <a:ext cx="530254"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ES" sz="1200" b="0" i="1" smtClean="0">
                              <a:latin typeface="Cambria Math" panose="02040503050406030204" pitchFamily="18" charset="0"/>
                            </a:rPr>
                            <m:t>𝐹</m:t>
                          </m:r>
                          <m:sSub>
                            <m:sSubPr>
                              <m:ctrlPr>
                                <a:rPr lang="es-ES" sz="1200" b="0" i="1" smtClean="0">
                                  <a:latin typeface="Cambria Math" panose="02040503050406030204" pitchFamily="18" charset="0"/>
                                </a:rPr>
                              </m:ctrlPr>
                            </m:sSubPr>
                            <m:e>
                              <m:r>
                                <a:rPr lang="es-ES" sz="1200" b="0" i="1" smtClean="0">
                                  <a:latin typeface="Cambria Math" panose="02040503050406030204" pitchFamily="18" charset="0"/>
                                </a:rPr>
                                <m:t>𝑒</m:t>
                              </m:r>
                            </m:e>
                            <m:sub>
                              <m:r>
                                <a:rPr lang="es-ES" sz="1200" b="0" i="1" smtClean="0">
                                  <a:latin typeface="Cambria Math" panose="02040503050406030204" pitchFamily="18" charset="0"/>
                                </a:rPr>
                                <m:t>3</m:t>
                              </m:r>
                            </m:sub>
                          </m:sSub>
                          <m:r>
                            <a:rPr lang="es-ES" sz="1200" b="0" i="1" smtClean="0">
                              <a:latin typeface="Cambria Math" panose="02040503050406030204" pitchFamily="18" charset="0"/>
                            </a:rPr>
                            <m:t>𝐶</m:t>
                          </m:r>
                        </m:oMath>
                      </m:oMathPara>
                    </a14:m>
                    <a:endParaRPr lang="es-PE" sz="1200" dirty="0"/>
                  </a:p>
                </p:txBody>
              </p:sp>
            </mc:Choice>
            <mc:Fallback xmlns="">
              <p:sp>
                <p:nvSpPr>
                  <p:cNvPr id="30" name="CuadroTexto 29">
                    <a:extLst>
                      <a:ext uri="{FF2B5EF4-FFF2-40B4-BE49-F238E27FC236}">
                        <a16:creationId xmlns:a16="http://schemas.microsoft.com/office/drawing/2014/main" id="{8E92920F-B2A2-4A78-9759-183BD0E24F79}"/>
                      </a:ext>
                    </a:extLst>
                  </p:cNvPr>
                  <p:cNvSpPr txBox="1">
                    <a:spLocks noRot="1" noChangeAspect="1" noMove="1" noResize="1" noEditPoints="1" noAdjustHandles="1" noChangeArrowheads="1" noChangeShapeType="1" noTextEdit="1"/>
                  </p:cNvSpPr>
                  <p:nvPr/>
                </p:nvSpPr>
                <p:spPr>
                  <a:xfrm>
                    <a:off x="10788143" y="5571134"/>
                    <a:ext cx="530254" cy="276999"/>
                  </a:xfrm>
                  <a:prstGeom prst="rect">
                    <a:avLst/>
                  </a:prstGeom>
                  <a:blipFill>
                    <a:blip r:embed="rId2"/>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CC8C9B0E-97A3-4842-BF23-8BBE6910B607}"/>
                      </a:ext>
                    </a:extLst>
                  </p:cNvPr>
                  <p:cNvSpPr txBox="1"/>
                  <p:nvPr/>
                </p:nvSpPr>
                <p:spPr>
                  <a:xfrm>
                    <a:off x="8059456" y="4417173"/>
                    <a:ext cx="298334"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PE" sz="1200" i="1" smtClean="0">
                              <a:latin typeface="Cambria Math" panose="02040503050406030204" pitchFamily="18" charset="0"/>
                              <a:ea typeface="Cambria Math" panose="02040503050406030204" pitchFamily="18" charset="0"/>
                            </a:rPr>
                            <m:t>𝛼</m:t>
                          </m:r>
                        </m:oMath>
                      </m:oMathPara>
                    </a14:m>
                    <a:endParaRPr lang="es-PE" sz="1200" dirty="0"/>
                  </a:p>
                </p:txBody>
              </p:sp>
            </mc:Choice>
            <mc:Fallback xmlns="">
              <p:sp>
                <p:nvSpPr>
                  <p:cNvPr id="31" name="CuadroTexto 30">
                    <a:extLst>
                      <a:ext uri="{FF2B5EF4-FFF2-40B4-BE49-F238E27FC236}">
                        <a16:creationId xmlns:a16="http://schemas.microsoft.com/office/drawing/2014/main" id="{CC8C9B0E-97A3-4842-BF23-8BBE6910B607}"/>
                      </a:ext>
                    </a:extLst>
                  </p:cNvPr>
                  <p:cNvSpPr txBox="1">
                    <a:spLocks noRot="1" noChangeAspect="1" noMove="1" noResize="1" noEditPoints="1" noAdjustHandles="1" noChangeArrowheads="1" noChangeShapeType="1" noTextEdit="1"/>
                  </p:cNvSpPr>
                  <p:nvPr/>
                </p:nvSpPr>
                <p:spPr>
                  <a:xfrm>
                    <a:off x="8059456" y="4417173"/>
                    <a:ext cx="298334" cy="276999"/>
                  </a:xfrm>
                  <a:prstGeom prst="rect">
                    <a:avLst/>
                  </a:prstGeom>
                  <a:blipFill>
                    <a:blip r:embed="rId3"/>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32" name="CuadroTexto 31">
                    <a:extLst>
                      <a:ext uri="{FF2B5EF4-FFF2-40B4-BE49-F238E27FC236}">
                        <a16:creationId xmlns:a16="http://schemas.microsoft.com/office/drawing/2014/main" id="{071D7953-FC29-450E-9B28-F9ED3465183C}"/>
                      </a:ext>
                    </a:extLst>
                  </p:cNvPr>
                  <p:cNvSpPr txBox="1"/>
                  <p:nvPr/>
                </p:nvSpPr>
                <p:spPr>
                  <a:xfrm>
                    <a:off x="8398454" y="4252295"/>
                    <a:ext cx="561872"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PE" sz="1200" i="1" smtClean="0">
                              <a:latin typeface="Cambria Math" panose="02040503050406030204" pitchFamily="18" charset="0"/>
                              <a:ea typeface="Cambria Math" panose="02040503050406030204" pitchFamily="18" charset="0"/>
                            </a:rPr>
                            <m:t>𝛼</m:t>
                          </m:r>
                          <m:r>
                            <a:rPr lang="es-ES" sz="1200" b="0" i="1" smtClean="0">
                              <a:latin typeface="Cambria Math" panose="02040503050406030204" pitchFamily="18" charset="0"/>
                              <a:ea typeface="Cambria Math" panose="02040503050406030204" pitchFamily="18" charset="0"/>
                            </a:rPr>
                            <m:t>+</m:t>
                          </m:r>
                          <m:r>
                            <a:rPr lang="es-ES" sz="1200" b="0" i="1" smtClean="0">
                              <a:latin typeface="Cambria Math" panose="02040503050406030204" pitchFamily="18" charset="0"/>
                              <a:ea typeface="Cambria Math" panose="02040503050406030204" pitchFamily="18" charset="0"/>
                            </a:rPr>
                            <m:t>𝛾</m:t>
                          </m:r>
                        </m:oMath>
                      </m:oMathPara>
                    </a14:m>
                    <a:endParaRPr lang="es-PE" sz="1200" dirty="0"/>
                  </a:p>
                </p:txBody>
              </p:sp>
            </mc:Choice>
            <mc:Fallback xmlns="">
              <p:sp>
                <p:nvSpPr>
                  <p:cNvPr id="32" name="CuadroTexto 31">
                    <a:extLst>
                      <a:ext uri="{FF2B5EF4-FFF2-40B4-BE49-F238E27FC236}">
                        <a16:creationId xmlns:a16="http://schemas.microsoft.com/office/drawing/2014/main" id="{071D7953-FC29-450E-9B28-F9ED3465183C}"/>
                      </a:ext>
                    </a:extLst>
                  </p:cNvPr>
                  <p:cNvSpPr txBox="1">
                    <a:spLocks noRot="1" noChangeAspect="1" noMove="1" noResize="1" noEditPoints="1" noAdjustHandles="1" noChangeArrowheads="1" noChangeShapeType="1" noTextEdit="1"/>
                  </p:cNvSpPr>
                  <p:nvPr/>
                </p:nvSpPr>
                <p:spPr>
                  <a:xfrm>
                    <a:off x="8398454" y="4252295"/>
                    <a:ext cx="561872" cy="276999"/>
                  </a:xfrm>
                  <a:prstGeom prst="rect">
                    <a:avLst/>
                  </a:prstGeom>
                  <a:blipFill>
                    <a:blip r:embed="rId4"/>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33" name="CuadroTexto 32">
                    <a:extLst>
                      <a:ext uri="{FF2B5EF4-FFF2-40B4-BE49-F238E27FC236}">
                        <a16:creationId xmlns:a16="http://schemas.microsoft.com/office/drawing/2014/main" id="{73F490B4-8EB6-47FD-84C2-5B98DC529505}"/>
                      </a:ext>
                    </a:extLst>
                  </p:cNvPr>
                  <p:cNvSpPr txBox="1"/>
                  <p:nvPr/>
                </p:nvSpPr>
                <p:spPr>
                  <a:xfrm>
                    <a:off x="9250000" y="3649685"/>
                    <a:ext cx="298334"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PE" sz="1200" i="1" smtClean="0">
                              <a:latin typeface="Cambria Math" panose="02040503050406030204" pitchFamily="18" charset="0"/>
                              <a:ea typeface="Cambria Math" panose="02040503050406030204" pitchFamily="18" charset="0"/>
                            </a:rPr>
                            <m:t>𝛾</m:t>
                          </m:r>
                        </m:oMath>
                      </m:oMathPara>
                    </a14:m>
                    <a:endParaRPr lang="es-PE" sz="1200" dirty="0"/>
                  </a:p>
                </p:txBody>
              </p:sp>
            </mc:Choice>
            <mc:Fallback xmlns="">
              <p:sp>
                <p:nvSpPr>
                  <p:cNvPr id="33" name="CuadroTexto 32">
                    <a:extLst>
                      <a:ext uri="{FF2B5EF4-FFF2-40B4-BE49-F238E27FC236}">
                        <a16:creationId xmlns:a16="http://schemas.microsoft.com/office/drawing/2014/main" id="{73F490B4-8EB6-47FD-84C2-5B98DC529505}"/>
                      </a:ext>
                    </a:extLst>
                  </p:cNvPr>
                  <p:cNvSpPr txBox="1">
                    <a:spLocks noRot="1" noChangeAspect="1" noMove="1" noResize="1" noEditPoints="1" noAdjustHandles="1" noChangeArrowheads="1" noChangeShapeType="1" noTextEdit="1"/>
                  </p:cNvSpPr>
                  <p:nvPr/>
                </p:nvSpPr>
                <p:spPr>
                  <a:xfrm>
                    <a:off x="9250000" y="3649685"/>
                    <a:ext cx="298334" cy="276999"/>
                  </a:xfrm>
                  <a:prstGeom prst="rect">
                    <a:avLst/>
                  </a:prstGeom>
                  <a:blipFill>
                    <a:blip r:embed="rId5"/>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34" name="CuadroTexto 33">
                    <a:extLst>
                      <a:ext uri="{FF2B5EF4-FFF2-40B4-BE49-F238E27FC236}">
                        <a16:creationId xmlns:a16="http://schemas.microsoft.com/office/drawing/2014/main" id="{E4F3748F-57A4-44CF-9128-FBD11BD91F04}"/>
                      </a:ext>
                    </a:extLst>
                  </p:cNvPr>
                  <p:cNvSpPr txBox="1"/>
                  <p:nvPr/>
                </p:nvSpPr>
                <p:spPr>
                  <a:xfrm>
                    <a:off x="10177971" y="3925197"/>
                    <a:ext cx="802984"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PE" sz="1200" i="1" smtClean="0">
                              <a:latin typeface="Cambria Math" panose="02040503050406030204" pitchFamily="18" charset="0"/>
                              <a:ea typeface="Cambria Math" panose="02040503050406030204" pitchFamily="18" charset="0"/>
                            </a:rPr>
                            <m:t>𝛾</m:t>
                          </m:r>
                          <m:r>
                            <a:rPr lang="es-ES" sz="1200" b="0" i="1" smtClean="0">
                              <a:latin typeface="Cambria Math" panose="02040503050406030204" pitchFamily="18" charset="0"/>
                              <a:ea typeface="Cambria Math" panose="02040503050406030204" pitchFamily="18" charset="0"/>
                            </a:rPr>
                            <m:t>+</m:t>
                          </m:r>
                          <m:r>
                            <a:rPr lang="es-ES" sz="1200" b="0" i="1" smtClean="0">
                              <a:latin typeface="Cambria Math" panose="02040503050406030204" pitchFamily="18" charset="0"/>
                              <a:ea typeface="Cambria Math" panose="02040503050406030204" pitchFamily="18" charset="0"/>
                            </a:rPr>
                            <m:t>𝐹</m:t>
                          </m:r>
                          <m:sSub>
                            <m:sSubPr>
                              <m:ctrlPr>
                                <a:rPr lang="es-ES" sz="1200" b="0" i="1" smtClean="0">
                                  <a:latin typeface="Cambria Math" panose="02040503050406030204" pitchFamily="18" charset="0"/>
                                  <a:ea typeface="Cambria Math" panose="02040503050406030204" pitchFamily="18" charset="0"/>
                                </a:rPr>
                              </m:ctrlPr>
                            </m:sSubPr>
                            <m:e>
                              <m:r>
                                <a:rPr lang="es-ES" sz="1200" b="0" i="1" smtClean="0">
                                  <a:latin typeface="Cambria Math" panose="02040503050406030204" pitchFamily="18" charset="0"/>
                                  <a:ea typeface="Cambria Math" panose="02040503050406030204" pitchFamily="18" charset="0"/>
                                </a:rPr>
                                <m:t>𝑒</m:t>
                              </m:r>
                            </m:e>
                            <m:sub>
                              <m:r>
                                <a:rPr lang="es-ES" sz="1200" b="0" i="1" smtClean="0">
                                  <a:latin typeface="Cambria Math" panose="02040503050406030204" pitchFamily="18" charset="0"/>
                                  <a:ea typeface="Cambria Math" panose="02040503050406030204" pitchFamily="18" charset="0"/>
                                </a:rPr>
                                <m:t>3</m:t>
                              </m:r>
                            </m:sub>
                          </m:sSub>
                          <m:r>
                            <a:rPr lang="es-ES" sz="1200" b="0" i="1" smtClean="0">
                              <a:latin typeface="Cambria Math" panose="02040503050406030204" pitchFamily="18" charset="0"/>
                              <a:ea typeface="Cambria Math" panose="02040503050406030204" pitchFamily="18" charset="0"/>
                            </a:rPr>
                            <m:t>𝐶</m:t>
                          </m:r>
                        </m:oMath>
                      </m:oMathPara>
                    </a14:m>
                    <a:endParaRPr lang="es-PE" sz="1200" dirty="0"/>
                  </a:p>
                </p:txBody>
              </p:sp>
            </mc:Choice>
            <mc:Fallback xmlns="">
              <p:sp>
                <p:nvSpPr>
                  <p:cNvPr id="34" name="CuadroTexto 33">
                    <a:extLst>
                      <a:ext uri="{FF2B5EF4-FFF2-40B4-BE49-F238E27FC236}">
                        <a16:creationId xmlns:a16="http://schemas.microsoft.com/office/drawing/2014/main" id="{E4F3748F-57A4-44CF-9128-FBD11BD91F04}"/>
                      </a:ext>
                    </a:extLst>
                  </p:cNvPr>
                  <p:cNvSpPr txBox="1">
                    <a:spLocks noRot="1" noChangeAspect="1" noMove="1" noResize="1" noEditPoints="1" noAdjustHandles="1" noChangeArrowheads="1" noChangeShapeType="1" noTextEdit="1"/>
                  </p:cNvSpPr>
                  <p:nvPr/>
                </p:nvSpPr>
                <p:spPr>
                  <a:xfrm>
                    <a:off x="10177971" y="3925197"/>
                    <a:ext cx="802984" cy="276999"/>
                  </a:xfrm>
                  <a:prstGeom prst="rect">
                    <a:avLst/>
                  </a:prstGeom>
                  <a:blipFill>
                    <a:blip r:embed="rId6"/>
                    <a:stretch>
                      <a:fillRect/>
                    </a:stretch>
                  </a:blipFill>
                </p:spPr>
                <p:txBody>
                  <a:bodyPr/>
                  <a:lstStyle/>
                  <a:p>
                    <a:r>
                      <a:rPr lang="es-PE">
                        <a:noFill/>
                      </a:rPr>
                      <a:t> </a:t>
                    </a:r>
                  </a:p>
                </p:txBody>
              </p:sp>
            </mc:Fallback>
          </mc:AlternateContent>
          <p:cxnSp>
            <p:nvCxnSpPr>
              <p:cNvPr id="35" name="Conector recto de flecha 34">
                <a:extLst>
                  <a:ext uri="{FF2B5EF4-FFF2-40B4-BE49-F238E27FC236}">
                    <a16:creationId xmlns:a16="http://schemas.microsoft.com/office/drawing/2014/main" id="{E4AC45F2-222E-4A38-8ED3-638667637326}"/>
                  </a:ext>
                </a:extLst>
              </p:cNvPr>
              <p:cNvCxnSpPr/>
              <p:nvPr/>
            </p:nvCxnSpPr>
            <p:spPr>
              <a:xfrm>
                <a:off x="8852846" y="5920667"/>
                <a:ext cx="13251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CuadroTexto 35">
                <a:extLst>
                  <a:ext uri="{FF2B5EF4-FFF2-40B4-BE49-F238E27FC236}">
                    <a16:creationId xmlns:a16="http://schemas.microsoft.com/office/drawing/2014/main" id="{1ED994B3-9ACB-4440-9418-6CCA680B2014}"/>
                  </a:ext>
                </a:extLst>
              </p:cNvPr>
              <p:cNvSpPr txBox="1"/>
              <p:nvPr/>
            </p:nvSpPr>
            <p:spPr>
              <a:xfrm>
                <a:off x="9250000" y="6047662"/>
                <a:ext cx="473550" cy="276999"/>
              </a:xfrm>
              <a:prstGeom prst="rect">
                <a:avLst/>
              </a:prstGeom>
              <a:noFill/>
            </p:spPr>
            <p:txBody>
              <a:bodyPr wrap="square" rtlCol="0">
                <a:spAutoFit/>
              </a:bodyPr>
              <a:lstStyle/>
              <a:p>
                <a:r>
                  <a:rPr lang="es-ES" sz="1200" dirty="0"/>
                  <a:t>%C</a:t>
                </a:r>
                <a:endParaRPr lang="es-PE" sz="1200" dirty="0"/>
              </a:p>
            </p:txBody>
          </p:sp>
          <p:sp>
            <p:nvSpPr>
              <p:cNvPr id="37" name="CuadroTexto 36">
                <a:extLst>
                  <a:ext uri="{FF2B5EF4-FFF2-40B4-BE49-F238E27FC236}">
                    <a16:creationId xmlns:a16="http://schemas.microsoft.com/office/drawing/2014/main" id="{F9431F0A-70B5-442F-B230-2BD37E10BC92}"/>
                  </a:ext>
                </a:extLst>
              </p:cNvPr>
              <p:cNvSpPr txBox="1"/>
              <p:nvPr/>
            </p:nvSpPr>
            <p:spPr>
              <a:xfrm>
                <a:off x="7985487" y="5552697"/>
                <a:ext cx="372303" cy="276999"/>
              </a:xfrm>
              <a:prstGeom prst="rect">
                <a:avLst/>
              </a:prstGeom>
              <a:noFill/>
            </p:spPr>
            <p:txBody>
              <a:bodyPr wrap="square" rtlCol="0">
                <a:spAutoFit/>
              </a:bodyPr>
              <a:lstStyle/>
              <a:p>
                <a:r>
                  <a:rPr lang="es-ES" sz="1200" dirty="0"/>
                  <a:t>Fe</a:t>
                </a:r>
                <a:endParaRPr lang="es-PE" sz="1200" dirty="0"/>
              </a:p>
            </p:txBody>
          </p:sp>
          <p:sp>
            <p:nvSpPr>
              <p:cNvPr id="38" name="CuadroTexto 37">
                <a:extLst>
                  <a:ext uri="{FF2B5EF4-FFF2-40B4-BE49-F238E27FC236}">
                    <a16:creationId xmlns:a16="http://schemas.microsoft.com/office/drawing/2014/main" id="{D55BF42C-CA41-4420-8FF0-67FE660D6606}"/>
                  </a:ext>
                </a:extLst>
              </p:cNvPr>
              <p:cNvSpPr txBox="1"/>
              <p:nvPr/>
            </p:nvSpPr>
            <p:spPr>
              <a:xfrm>
                <a:off x="10823546" y="5818674"/>
                <a:ext cx="763696" cy="276999"/>
              </a:xfrm>
              <a:prstGeom prst="rect">
                <a:avLst/>
              </a:prstGeom>
              <a:noFill/>
            </p:spPr>
            <p:txBody>
              <a:bodyPr wrap="square" rtlCol="0">
                <a:spAutoFit/>
              </a:bodyPr>
              <a:lstStyle/>
              <a:p>
                <a:r>
                  <a:rPr lang="es-ES" sz="1200" dirty="0"/>
                  <a:t>6,67%C</a:t>
                </a:r>
                <a:endParaRPr lang="es-PE" sz="1200" dirty="0"/>
              </a:p>
            </p:txBody>
          </p:sp>
          <p:sp>
            <p:nvSpPr>
              <p:cNvPr id="39" name="CuadroTexto 38">
                <a:extLst>
                  <a:ext uri="{FF2B5EF4-FFF2-40B4-BE49-F238E27FC236}">
                    <a16:creationId xmlns:a16="http://schemas.microsoft.com/office/drawing/2014/main" id="{4120CC71-42E2-414B-87B0-FD29A3BF4195}"/>
                  </a:ext>
                </a:extLst>
              </p:cNvPr>
              <p:cNvSpPr txBox="1"/>
              <p:nvPr/>
            </p:nvSpPr>
            <p:spPr>
              <a:xfrm>
                <a:off x="7446982" y="2684447"/>
                <a:ext cx="484611" cy="276999"/>
              </a:xfrm>
              <a:prstGeom prst="rect">
                <a:avLst/>
              </a:prstGeom>
              <a:noFill/>
            </p:spPr>
            <p:txBody>
              <a:bodyPr wrap="square" rtlCol="0">
                <a:spAutoFit/>
              </a:bodyPr>
              <a:lstStyle/>
              <a:p>
                <a:r>
                  <a:rPr lang="es-ES" sz="1200" dirty="0" err="1"/>
                  <a:t>T°C</a:t>
                </a:r>
                <a:endParaRPr lang="es-PE" sz="1200" dirty="0"/>
              </a:p>
            </p:txBody>
          </p:sp>
          <p:sp>
            <p:nvSpPr>
              <p:cNvPr id="40" name="CuadroTexto 39">
                <a:extLst>
                  <a:ext uri="{FF2B5EF4-FFF2-40B4-BE49-F238E27FC236}">
                    <a16:creationId xmlns:a16="http://schemas.microsoft.com/office/drawing/2014/main" id="{538D4309-CE5A-49ED-AF5C-407681C60277}"/>
                  </a:ext>
                </a:extLst>
              </p:cNvPr>
              <p:cNvSpPr txBox="1"/>
              <p:nvPr/>
            </p:nvSpPr>
            <p:spPr>
              <a:xfrm>
                <a:off x="7398947" y="3985356"/>
                <a:ext cx="660509" cy="276999"/>
              </a:xfrm>
              <a:prstGeom prst="rect">
                <a:avLst/>
              </a:prstGeom>
              <a:noFill/>
            </p:spPr>
            <p:txBody>
              <a:bodyPr wrap="square" rtlCol="0">
                <a:spAutoFit/>
              </a:bodyPr>
              <a:lstStyle/>
              <a:p>
                <a:r>
                  <a:rPr lang="es-ES" sz="1200" dirty="0"/>
                  <a:t>912°C</a:t>
                </a:r>
                <a:endParaRPr lang="es-PE" sz="1200" dirty="0"/>
              </a:p>
            </p:txBody>
          </p:sp>
          <p:sp>
            <p:nvSpPr>
              <p:cNvPr id="41" name="CuadroTexto 40">
                <a:extLst>
                  <a:ext uri="{FF2B5EF4-FFF2-40B4-BE49-F238E27FC236}">
                    <a16:creationId xmlns:a16="http://schemas.microsoft.com/office/drawing/2014/main" id="{6FD5750C-115E-4157-9FBE-D2E5C088EF1F}"/>
                  </a:ext>
                </a:extLst>
              </p:cNvPr>
              <p:cNvSpPr txBox="1"/>
              <p:nvPr/>
            </p:nvSpPr>
            <p:spPr>
              <a:xfrm>
                <a:off x="9954832" y="4252295"/>
                <a:ext cx="571266" cy="276999"/>
              </a:xfrm>
              <a:prstGeom prst="rect">
                <a:avLst/>
              </a:prstGeom>
              <a:noFill/>
            </p:spPr>
            <p:txBody>
              <a:bodyPr wrap="square" rtlCol="0">
                <a:spAutoFit/>
              </a:bodyPr>
              <a:lstStyle/>
              <a:p>
                <a:r>
                  <a:rPr lang="es-ES" sz="1200" dirty="0"/>
                  <a:t>727°C</a:t>
                </a:r>
                <a:endParaRPr lang="es-PE" sz="1200" dirty="0"/>
              </a:p>
            </p:txBody>
          </p:sp>
        </p:grpSp>
        <p:cxnSp>
          <p:nvCxnSpPr>
            <p:cNvPr id="44" name="Conector recto 43">
              <a:extLst>
                <a:ext uri="{FF2B5EF4-FFF2-40B4-BE49-F238E27FC236}">
                  <a16:creationId xmlns:a16="http://schemas.microsoft.com/office/drawing/2014/main" id="{986A6139-12A9-4E53-924C-3913F948D006}"/>
                </a:ext>
              </a:extLst>
            </p:cNvPr>
            <p:cNvCxnSpPr/>
            <p:nvPr/>
          </p:nvCxnSpPr>
          <p:spPr>
            <a:xfrm>
              <a:off x="10347547" y="3649685"/>
              <a:ext cx="70110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Conector recto 45">
              <a:extLst>
                <a:ext uri="{FF2B5EF4-FFF2-40B4-BE49-F238E27FC236}">
                  <a16:creationId xmlns:a16="http://schemas.microsoft.com/office/drawing/2014/main" id="{FF8C4A06-E017-460B-BF9D-BB4ECC0C8A2E}"/>
                </a:ext>
              </a:extLst>
            </p:cNvPr>
            <p:cNvCxnSpPr/>
            <p:nvPr/>
          </p:nvCxnSpPr>
          <p:spPr>
            <a:xfrm flipH="1" flipV="1">
              <a:off x="9548334" y="3146112"/>
              <a:ext cx="1063222" cy="503573"/>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Conector recto 47">
              <a:extLst>
                <a:ext uri="{FF2B5EF4-FFF2-40B4-BE49-F238E27FC236}">
                  <a16:creationId xmlns:a16="http://schemas.microsoft.com/office/drawing/2014/main" id="{196D18F1-7912-487A-ACF2-912028BED9B1}"/>
                </a:ext>
              </a:extLst>
            </p:cNvPr>
            <p:cNvCxnSpPr/>
            <p:nvPr/>
          </p:nvCxnSpPr>
          <p:spPr>
            <a:xfrm flipV="1">
              <a:off x="10611556" y="2865111"/>
              <a:ext cx="437091" cy="784574"/>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Conector recto 49">
              <a:extLst>
                <a:ext uri="{FF2B5EF4-FFF2-40B4-BE49-F238E27FC236}">
                  <a16:creationId xmlns:a16="http://schemas.microsoft.com/office/drawing/2014/main" id="{6C1EC13D-AB93-41B0-80BD-6C9FE351F20D}"/>
                </a:ext>
              </a:extLst>
            </p:cNvPr>
            <p:cNvCxnSpPr/>
            <p:nvPr/>
          </p:nvCxnSpPr>
          <p:spPr>
            <a:xfrm flipH="1" flipV="1">
              <a:off x="9250000" y="3287206"/>
              <a:ext cx="1072949" cy="362479"/>
            </a:xfrm>
            <a:prstGeom prst="line">
              <a:avLst/>
            </a:prstGeom>
          </p:spPr>
          <p:style>
            <a:lnRef idx="1">
              <a:schemeClr val="accent1"/>
            </a:lnRef>
            <a:fillRef idx="0">
              <a:schemeClr val="accent1"/>
            </a:fillRef>
            <a:effectRef idx="0">
              <a:schemeClr val="accent1"/>
            </a:effectRef>
            <a:fontRef idx="minor">
              <a:schemeClr val="tx1"/>
            </a:fontRef>
          </p:style>
        </p:cxnSp>
        <p:sp>
          <p:nvSpPr>
            <p:cNvPr id="51" name="Rectángulo 50">
              <a:extLst>
                <a:ext uri="{FF2B5EF4-FFF2-40B4-BE49-F238E27FC236}">
                  <a16:creationId xmlns:a16="http://schemas.microsoft.com/office/drawing/2014/main" id="{56165669-944D-4DA1-8A4D-6C9566BF41EC}"/>
                </a:ext>
              </a:extLst>
            </p:cNvPr>
            <p:cNvSpPr/>
            <p:nvPr/>
          </p:nvSpPr>
          <p:spPr>
            <a:xfrm>
              <a:off x="8124646" y="3649685"/>
              <a:ext cx="2198303" cy="1921449"/>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2" name="CuadroTexto 51">
              <a:extLst>
                <a:ext uri="{FF2B5EF4-FFF2-40B4-BE49-F238E27FC236}">
                  <a16:creationId xmlns:a16="http://schemas.microsoft.com/office/drawing/2014/main" id="{12A1A93E-4BC7-4D82-AD1D-6AC819065FE3}"/>
                </a:ext>
              </a:extLst>
            </p:cNvPr>
            <p:cNvSpPr txBox="1"/>
            <p:nvPr/>
          </p:nvSpPr>
          <p:spPr>
            <a:xfrm>
              <a:off x="9989043" y="5563943"/>
              <a:ext cx="708537" cy="276999"/>
            </a:xfrm>
            <a:prstGeom prst="rect">
              <a:avLst/>
            </a:prstGeom>
            <a:noFill/>
          </p:spPr>
          <p:txBody>
            <a:bodyPr wrap="square" rtlCol="0">
              <a:spAutoFit/>
            </a:bodyPr>
            <a:lstStyle/>
            <a:p>
              <a:r>
                <a:rPr lang="es-ES" sz="1200" dirty="0"/>
                <a:t>2,11%C</a:t>
              </a:r>
              <a:endParaRPr lang="es-PE" sz="1200" dirty="0"/>
            </a:p>
          </p:txBody>
        </p:sp>
      </p:grpSp>
      <p:sp>
        <p:nvSpPr>
          <p:cNvPr id="55" name="CuadroTexto 54">
            <a:extLst>
              <a:ext uri="{FF2B5EF4-FFF2-40B4-BE49-F238E27FC236}">
                <a16:creationId xmlns:a16="http://schemas.microsoft.com/office/drawing/2014/main" id="{A17E917C-8178-4685-9AA4-329497B418D1}"/>
              </a:ext>
            </a:extLst>
          </p:cNvPr>
          <p:cNvSpPr txBox="1"/>
          <p:nvPr/>
        </p:nvSpPr>
        <p:spPr>
          <a:xfrm>
            <a:off x="4479077" y="1925375"/>
            <a:ext cx="2073601" cy="461665"/>
          </a:xfrm>
          <a:prstGeom prst="rect">
            <a:avLst/>
          </a:prstGeom>
          <a:noFill/>
          <a:ln>
            <a:solidFill>
              <a:srgbClr val="6B3F74"/>
            </a:solidFill>
          </a:ln>
        </p:spPr>
        <p:txBody>
          <a:bodyPr wrap="square" rtlCol="0">
            <a:spAutoFit/>
          </a:bodyPr>
          <a:lstStyle/>
          <a:p>
            <a:r>
              <a:rPr lang="es-ES" sz="1200" dirty="0"/>
              <a:t>Temperatura de TT lo fija el diagrama de equilibrio</a:t>
            </a:r>
            <a:endParaRPr lang="es-PE" sz="1200" dirty="0"/>
          </a:p>
        </p:txBody>
      </p:sp>
      <p:sp>
        <p:nvSpPr>
          <p:cNvPr id="58" name="CuadroTexto 57">
            <a:extLst>
              <a:ext uri="{FF2B5EF4-FFF2-40B4-BE49-F238E27FC236}">
                <a16:creationId xmlns:a16="http://schemas.microsoft.com/office/drawing/2014/main" id="{0AA34457-74A4-44C6-BEC8-1930EB0E69F1}"/>
              </a:ext>
            </a:extLst>
          </p:cNvPr>
          <p:cNvSpPr txBox="1"/>
          <p:nvPr/>
        </p:nvSpPr>
        <p:spPr>
          <a:xfrm>
            <a:off x="4479077" y="2621806"/>
            <a:ext cx="1925527" cy="1015663"/>
          </a:xfrm>
          <a:prstGeom prst="rect">
            <a:avLst/>
          </a:prstGeom>
          <a:noFill/>
        </p:spPr>
        <p:txBody>
          <a:bodyPr wrap="square" rtlCol="0">
            <a:spAutoFit/>
          </a:bodyPr>
          <a:lstStyle/>
          <a:p>
            <a:r>
              <a:rPr lang="es-ES" sz="1200" dirty="0"/>
              <a:t>Enfriamiento puede ser:</a:t>
            </a:r>
          </a:p>
          <a:p>
            <a:r>
              <a:rPr lang="es-ES" sz="1200" dirty="0"/>
              <a:t>Lento: dentro del horno a puerta cerrada</a:t>
            </a:r>
          </a:p>
          <a:p>
            <a:r>
              <a:rPr lang="es-ES" sz="1200" dirty="0"/>
              <a:t>Intermedio: en aire</a:t>
            </a:r>
          </a:p>
          <a:p>
            <a:r>
              <a:rPr lang="es-ES" sz="1200" dirty="0"/>
              <a:t>Rápido: en agua, aceite, </a:t>
            </a:r>
            <a:r>
              <a:rPr lang="es-ES" sz="1200" dirty="0" err="1"/>
              <a:t>etc</a:t>
            </a:r>
            <a:endParaRPr lang="es-PE" sz="1200" dirty="0"/>
          </a:p>
        </p:txBody>
      </p:sp>
      <p:sp>
        <p:nvSpPr>
          <p:cNvPr id="61" name="CuadroTexto 60">
            <a:extLst>
              <a:ext uri="{FF2B5EF4-FFF2-40B4-BE49-F238E27FC236}">
                <a16:creationId xmlns:a16="http://schemas.microsoft.com/office/drawing/2014/main" id="{98309C40-780A-47D5-9D69-FCBD51048DC5}"/>
              </a:ext>
            </a:extLst>
          </p:cNvPr>
          <p:cNvSpPr txBox="1"/>
          <p:nvPr/>
        </p:nvSpPr>
        <p:spPr>
          <a:xfrm>
            <a:off x="8321431" y="2027255"/>
            <a:ext cx="452314" cy="276999"/>
          </a:xfrm>
          <a:prstGeom prst="rect">
            <a:avLst/>
          </a:prstGeom>
          <a:noFill/>
        </p:spPr>
        <p:txBody>
          <a:bodyPr wrap="square" rtlCol="0">
            <a:spAutoFit/>
          </a:bodyPr>
          <a:lstStyle/>
          <a:p>
            <a:r>
              <a:rPr lang="es-ES" sz="1200" dirty="0"/>
              <a:t>A</a:t>
            </a:r>
            <a:r>
              <a:rPr lang="es-ES" sz="1200" baseline="-25000" dirty="0"/>
              <a:t>3</a:t>
            </a:r>
            <a:endParaRPr lang="es-PE" sz="1200" dirty="0"/>
          </a:p>
        </p:txBody>
      </p:sp>
      <p:sp>
        <p:nvSpPr>
          <p:cNvPr id="62" name="CuadroTexto 61">
            <a:extLst>
              <a:ext uri="{FF2B5EF4-FFF2-40B4-BE49-F238E27FC236}">
                <a16:creationId xmlns:a16="http://schemas.microsoft.com/office/drawing/2014/main" id="{38AB2CF5-0544-42E2-AA4E-AE6A482BED7A}"/>
              </a:ext>
            </a:extLst>
          </p:cNvPr>
          <p:cNvSpPr txBox="1"/>
          <p:nvPr/>
        </p:nvSpPr>
        <p:spPr>
          <a:xfrm>
            <a:off x="441366" y="4323644"/>
            <a:ext cx="4345117" cy="2062103"/>
          </a:xfrm>
          <a:prstGeom prst="rect">
            <a:avLst/>
          </a:prstGeom>
          <a:noFill/>
          <a:ln>
            <a:solidFill>
              <a:srgbClr val="502F57"/>
            </a:solidFill>
          </a:ln>
        </p:spPr>
        <p:txBody>
          <a:bodyPr wrap="square" rtlCol="0">
            <a:spAutoFit/>
          </a:bodyPr>
          <a:lstStyle/>
          <a:p>
            <a:r>
              <a:rPr lang="es-ES" sz="1600" dirty="0"/>
              <a:t>Los enfriamientos lentos, se suelen llamar “Recocido” y se aplican materiales metálicos férreos, no férreos y algunos cerámicos (vidrio recocido)</a:t>
            </a:r>
          </a:p>
          <a:p>
            <a:endParaRPr lang="es-ES" sz="1600" dirty="0"/>
          </a:p>
          <a:p>
            <a:r>
              <a:rPr lang="es-ES" sz="1600" dirty="0"/>
              <a:t>Los enfriamientos rápidos suelen llamarse “Temple” y se aplican también a diversos materiales (vidrio templado)</a:t>
            </a:r>
            <a:endParaRPr lang="es-PE" sz="1600" dirty="0"/>
          </a:p>
        </p:txBody>
      </p:sp>
      <p:sp>
        <p:nvSpPr>
          <p:cNvPr id="63" name="CuadroTexto 62">
            <a:extLst>
              <a:ext uri="{FF2B5EF4-FFF2-40B4-BE49-F238E27FC236}">
                <a16:creationId xmlns:a16="http://schemas.microsoft.com/office/drawing/2014/main" id="{E081F14A-78DA-4284-878D-D25BFFC8EB59}"/>
              </a:ext>
            </a:extLst>
          </p:cNvPr>
          <p:cNvSpPr txBox="1"/>
          <p:nvPr/>
        </p:nvSpPr>
        <p:spPr>
          <a:xfrm>
            <a:off x="5994400" y="4451206"/>
            <a:ext cx="4345117" cy="2031325"/>
          </a:xfrm>
          <a:prstGeom prst="rect">
            <a:avLst/>
          </a:prstGeom>
          <a:noFill/>
        </p:spPr>
        <p:txBody>
          <a:bodyPr wrap="square" rtlCol="0">
            <a:spAutoFit/>
          </a:bodyPr>
          <a:lstStyle/>
          <a:p>
            <a:r>
              <a:rPr lang="es-ES" dirty="0"/>
              <a:t>En el caso de los aceros, los TT más comunes son:</a:t>
            </a:r>
          </a:p>
          <a:p>
            <a:pPr marL="285750" indent="-285750">
              <a:buFontTx/>
              <a:buChar char="-"/>
            </a:pPr>
            <a:r>
              <a:rPr lang="es-ES" dirty="0"/>
              <a:t>Recocido</a:t>
            </a:r>
          </a:p>
          <a:p>
            <a:pPr marL="285750" indent="-285750">
              <a:buFontTx/>
              <a:buChar char="-"/>
            </a:pPr>
            <a:r>
              <a:rPr lang="es-ES" dirty="0"/>
              <a:t>Normalizado</a:t>
            </a:r>
          </a:p>
          <a:p>
            <a:pPr marL="285750" indent="-285750">
              <a:buFontTx/>
              <a:buChar char="-"/>
            </a:pPr>
            <a:r>
              <a:rPr lang="es-ES" dirty="0"/>
              <a:t>Temple</a:t>
            </a:r>
          </a:p>
          <a:p>
            <a:pPr marL="285750" indent="-285750">
              <a:buFontTx/>
              <a:buChar char="-"/>
            </a:pPr>
            <a:r>
              <a:rPr lang="es-ES" dirty="0"/>
              <a:t>Revenido</a:t>
            </a:r>
          </a:p>
          <a:p>
            <a:pPr marL="285750" indent="-285750">
              <a:buFontTx/>
              <a:buChar char="-"/>
            </a:pPr>
            <a:r>
              <a:rPr lang="es-ES" dirty="0"/>
              <a:t>Tratamientos termoquímicos</a:t>
            </a:r>
            <a:endParaRPr lang="es-PE" dirty="0"/>
          </a:p>
        </p:txBody>
      </p:sp>
      <p:cxnSp>
        <p:nvCxnSpPr>
          <p:cNvPr id="60" name="Conector recto 59">
            <a:extLst>
              <a:ext uri="{FF2B5EF4-FFF2-40B4-BE49-F238E27FC236}">
                <a16:creationId xmlns:a16="http://schemas.microsoft.com/office/drawing/2014/main" id="{AA0B79F0-0EB7-4183-A70E-C8A1D36EC1A0}"/>
              </a:ext>
            </a:extLst>
          </p:cNvPr>
          <p:cNvCxnSpPr>
            <a:cxnSpLocks/>
          </p:cNvCxnSpPr>
          <p:nvPr/>
        </p:nvCxnSpPr>
        <p:spPr>
          <a:xfrm>
            <a:off x="7938065" y="2224627"/>
            <a:ext cx="1603689" cy="37444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71" name="Grupo 70">
            <a:extLst>
              <a:ext uri="{FF2B5EF4-FFF2-40B4-BE49-F238E27FC236}">
                <a16:creationId xmlns:a16="http://schemas.microsoft.com/office/drawing/2014/main" id="{18CDEB1B-2FDE-4C86-89FD-402B5BE3D70C}"/>
              </a:ext>
            </a:extLst>
          </p:cNvPr>
          <p:cNvGrpSpPr/>
          <p:nvPr/>
        </p:nvGrpSpPr>
        <p:grpSpPr>
          <a:xfrm>
            <a:off x="7938065" y="2240122"/>
            <a:ext cx="1612690" cy="617582"/>
            <a:chOff x="7938065" y="2240122"/>
            <a:chExt cx="1612690" cy="617582"/>
          </a:xfrm>
        </p:grpSpPr>
        <p:sp>
          <p:nvSpPr>
            <p:cNvPr id="64" name="CuadroTexto 63">
              <a:extLst>
                <a:ext uri="{FF2B5EF4-FFF2-40B4-BE49-F238E27FC236}">
                  <a16:creationId xmlns:a16="http://schemas.microsoft.com/office/drawing/2014/main" id="{0F814A35-B8A6-49C6-91E4-767C264E16B1}"/>
                </a:ext>
              </a:extLst>
            </p:cNvPr>
            <p:cNvSpPr txBox="1"/>
            <p:nvPr/>
          </p:nvSpPr>
          <p:spPr>
            <a:xfrm>
              <a:off x="8773744" y="2611483"/>
              <a:ext cx="642557" cy="246221"/>
            </a:xfrm>
            <a:prstGeom prst="rect">
              <a:avLst/>
            </a:prstGeom>
            <a:noFill/>
          </p:spPr>
          <p:txBody>
            <a:bodyPr wrap="square" rtlCol="0">
              <a:spAutoFit/>
            </a:bodyPr>
            <a:lstStyle/>
            <a:p>
              <a:r>
                <a:rPr lang="es-ES" sz="1000" dirty="0"/>
                <a:t>A</a:t>
              </a:r>
              <a:r>
                <a:rPr lang="es-ES" sz="1000" baseline="-25000" dirty="0"/>
                <a:t>1</a:t>
              </a:r>
              <a:endParaRPr lang="es-PE" sz="1000" dirty="0"/>
            </a:p>
          </p:txBody>
        </p:sp>
        <p:cxnSp>
          <p:nvCxnSpPr>
            <p:cNvPr id="66" name="Conector recto 65">
              <a:extLst>
                <a:ext uri="{FF2B5EF4-FFF2-40B4-BE49-F238E27FC236}">
                  <a16:creationId xmlns:a16="http://schemas.microsoft.com/office/drawing/2014/main" id="{C31FCE14-2043-416D-B07C-31F663CCD169}"/>
                </a:ext>
              </a:extLst>
            </p:cNvPr>
            <p:cNvCxnSpPr/>
            <p:nvPr/>
          </p:nvCxnSpPr>
          <p:spPr>
            <a:xfrm>
              <a:off x="7938065" y="2240122"/>
              <a:ext cx="295833" cy="36915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8" name="Conector recto 67">
              <a:extLst>
                <a:ext uri="{FF2B5EF4-FFF2-40B4-BE49-F238E27FC236}">
                  <a16:creationId xmlns:a16="http://schemas.microsoft.com/office/drawing/2014/main" id="{7ACF3235-00D0-4D89-A4E4-300695AC53FC}"/>
                </a:ext>
              </a:extLst>
            </p:cNvPr>
            <p:cNvCxnSpPr/>
            <p:nvPr/>
          </p:nvCxnSpPr>
          <p:spPr>
            <a:xfrm>
              <a:off x="8232785" y="2602109"/>
              <a:ext cx="1317970" cy="0"/>
            </a:xfrm>
            <a:prstGeom prst="line">
              <a:avLst/>
            </a:prstGeom>
            <a:ln w="38100"/>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12325047"/>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8" grpId="0"/>
      <p:bldP spid="61" grpId="0"/>
      <p:bldP spid="62" grpId="0" animBg="1"/>
      <p:bldP spid="6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9">
            <a:extLst>
              <a:ext uri="{FF2B5EF4-FFF2-40B4-BE49-F238E27FC236}">
                <a16:creationId xmlns:a16="http://schemas.microsoft.com/office/drawing/2014/main" id="{A9CAA2C4-C7DD-4ADC-B82F-81C1D73A1FC8}"/>
              </a:ext>
            </a:extLst>
          </p:cNvPr>
          <p:cNvSpPr>
            <a:spLocks noGrp="1" noChangeArrowheads="1"/>
          </p:cNvSpPr>
          <p:nvPr>
            <p:ph type="title"/>
          </p:nvPr>
        </p:nvSpPr>
        <p:spPr>
          <a:xfrm>
            <a:off x="1966684" y="272189"/>
            <a:ext cx="7681530" cy="600075"/>
          </a:xfrm>
        </p:spPr>
        <p:txBody>
          <a:bodyPr>
            <a:noAutofit/>
          </a:bodyPr>
          <a:lstStyle/>
          <a:p>
            <a:pPr eaLnBrk="1" hangingPunct="1"/>
            <a:r>
              <a:rPr lang="de-DE" altLang="es-PE" sz="2700" dirty="0">
                <a:solidFill>
                  <a:srgbClr val="002060"/>
                </a:solidFill>
                <a:latin typeface="Georgia" charset="0"/>
                <a:ea typeface="Georgia" charset="0"/>
                <a:cs typeface="Georgia" charset="0"/>
              </a:rPr>
              <a:t>Tipos de tratamientos térmicos de los aceros</a:t>
            </a:r>
          </a:p>
        </p:txBody>
      </p:sp>
      <p:sp>
        <p:nvSpPr>
          <p:cNvPr id="13315" name="Rectangle 10">
            <a:extLst>
              <a:ext uri="{FF2B5EF4-FFF2-40B4-BE49-F238E27FC236}">
                <a16:creationId xmlns:a16="http://schemas.microsoft.com/office/drawing/2014/main" id="{D9345A2A-A264-4439-9FBB-1B0A3956434B}"/>
              </a:ext>
            </a:extLst>
          </p:cNvPr>
          <p:cNvSpPr>
            <a:spLocks noGrp="1" noChangeArrowheads="1"/>
          </p:cNvSpPr>
          <p:nvPr>
            <p:ph type="body" idx="1"/>
          </p:nvPr>
        </p:nvSpPr>
        <p:spPr>
          <a:xfrm>
            <a:off x="271023" y="954619"/>
            <a:ext cx="4467225" cy="1724024"/>
          </a:xfrm>
        </p:spPr>
        <p:txBody>
          <a:bodyPr>
            <a:normAutofit/>
          </a:bodyPr>
          <a:lstStyle/>
          <a:p>
            <a:pPr marL="0" indent="0">
              <a:lnSpc>
                <a:spcPct val="120000"/>
              </a:lnSpc>
              <a:spcBef>
                <a:spcPct val="0"/>
              </a:spcBef>
              <a:spcAft>
                <a:spcPts val="1200"/>
              </a:spcAft>
              <a:buNone/>
            </a:pPr>
            <a:r>
              <a:rPr lang="es-PE" altLang="es-PE" sz="1400" b="1" dirty="0">
                <a:solidFill>
                  <a:schemeClr val="accent1">
                    <a:lumMod val="50000"/>
                  </a:schemeClr>
                </a:solidFill>
              </a:rPr>
              <a:t>Recocido: </a:t>
            </a:r>
            <a:r>
              <a:rPr lang="es-PE" altLang="es-PE" sz="1400" dirty="0">
                <a:solidFill>
                  <a:schemeClr val="tx2"/>
                </a:solidFill>
              </a:rPr>
              <a:t>Calentamiento hasta temperatura de austenización (800 – 925º C) -  enfriamiento lento. Se logra aumentar la elasticidad,  disminuye la dureza. También facilita el mecanizado de las piezas al homogenizar la estructura, elimina tensiones internas. Se consigue la microestructura que indica el diagrama de equilibrio</a:t>
            </a:r>
          </a:p>
        </p:txBody>
      </p:sp>
      <p:pic>
        <p:nvPicPr>
          <p:cNvPr id="13316" name="Picture 11" descr="logo 40 años ppb1">
            <a:extLst>
              <a:ext uri="{FF2B5EF4-FFF2-40B4-BE49-F238E27FC236}">
                <a16:creationId xmlns:a16="http://schemas.microsoft.com/office/drawing/2014/main" id="{DB707ACF-DE36-4089-8172-E24181248D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6891" b="3810"/>
          <a:stretch>
            <a:fillRect/>
          </a:stretch>
        </p:blipFill>
        <p:spPr bwMode="auto">
          <a:xfrm>
            <a:off x="9174163" y="77788"/>
            <a:ext cx="1320800"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7" name="Rectángulo 1">
            <a:extLst>
              <a:ext uri="{FF2B5EF4-FFF2-40B4-BE49-F238E27FC236}">
                <a16:creationId xmlns:a16="http://schemas.microsoft.com/office/drawing/2014/main" id="{B880F072-3770-417A-95AA-570A5D696097}"/>
              </a:ext>
            </a:extLst>
          </p:cNvPr>
          <p:cNvSpPr>
            <a:spLocks noChangeArrowheads="1"/>
          </p:cNvSpPr>
          <p:nvPr/>
        </p:nvSpPr>
        <p:spPr bwMode="auto">
          <a:xfrm>
            <a:off x="5978392" y="877731"/>
            <a:ext cx="5942585" cy="844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20000"/>
              </a:lnSpc>
              <a:spcAft>
                <a:spcPts val="1200"/>
              </a:spcAft>
            </a:pPr>
            <a:r>
              <a:rPr lang="es-PE" altLang="es-PE" sz="1400" b="1" dirty="0">
                <a:solidFill>
                  <a:srgbClr val="00B050"/>
                </a:solidFill>
              </a:rPr>
              <a:t>Temple</a:t>
            </a:r>
            <a:r>
              <a:rPr lang="es-PE" altLang="es-PE" sz="1400" dirty="0">
                <a:solidFill>
                  <a:srgbClr val="00B050"/>
                </a:solidFill>
              </a:rPr>
              <a:t>: </a:t>
            </a:r>
            <a:r>
              <a:rPr lang="es-PE" altLang="es-PE" sz="1400" dirty="0">
                <a:solidFill>
                  <a:schemeClr val="tx2"/>
                </a:solidFill>
                <a:latin typeface="+mn-lt"/>
              </a:rPr>
              <a:t>Calentamiento similar al  recocido se enfría rápidamente en un medio como agua, aceite, etc. </a:t>
            </a:r>
            <a:r>
              <a:rPr lang="es-PE" altLang="es-PE" sz="1400" dirty="0">
                <a:solidFill>
                  <a:srgbClr val="8C1F1C"/>
                </a:solidFill>
              </a:rPr>
              <a:t>Se obtiene una microestructura que no está en el diagrama de equilibrio: </a:t>
            </a:r>
            <a:r>
              <a:rPr lang="es-PE" altLang="es-PE" sz="1400" b="1" dirty="0">
                <a:solidFill>
                  <a:srgbClr val="8C1F1C"/>
                </a:solidFill>
              </a:rPr>
              <a:t>MARTENSITA</a:t>
            </a:r>
            <a:r>
              <a:rPr lang="es-PE" altLang="es-PE" sz="1400" dirty="0">
                <a:solidFill>
                  <a:srgbClr val="8C1F1C"/>
                </a:solidFill>
              </a:rPr>
              <a:t> que es muy dura y frágil. </a:t>
            </a:r>
          </a:p>
        </p:txBody>
      </p:sp>
      <p:sp>
        <p:nvSpPr>
          <p:cNvPr id="13318" name="Rectángulo 2">
            <a:extLst>
              <a:ext uri="{FF2B5EF4-FFF2-40B4-BE49-F238E27FC236}">
                <a16:creationId xmlns:a16="http://schemas.microsoft.com/office/drawing/2014/main" id="{43939680-95DE-4442-A562-23271A512A3E}"/>
              </a:ext>
            </a:extLst>
          </p:cNvPr>
          <p:cNvSpPr>
            <a:spLocks noChangeArrowheads="1"/>
          </p:cNvSpPr>
          <p:nvPr/>
        </p:nvSpPr>
        <p:spPr bwMode="auto">
          <a:xfrm>
            <a:off x="6095999" y="3207392"/>
            <a:ext cx="5885405" cy="16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Aft>
                <a:spcPts val="1200"/>
              </a:spcAft>
            </a:pPr>
            <a:r>
              <a:rPr lang="es-PE" altLang="es-PE" sz="1400" b="1" dirty="0">
                <a:solidFill>
                  <a:schemeClr val="bg2">
                    <a:lumMod val="50000"/>
                  </a:schemeClr>
                </a:solidFill>
                <a:latin typeface="+mn-lt"/>
              </a:rPr>
              <a:t>Revenido: </a:t>
            </a:r>
            <a:r>
              <a:rPr lang="es-PE" altLang="es-PE" sz="1400" dirty="0">
                <a:solidFill>
                  <a:schemeClr val="tx2"/>
                </a:solidFill>
                <a:latin typeface="+mn-lt"/>
              </a:rPr>
              <a:t>Sólo se aplica a aceros previamente templados. Se eliminan las tensiones creadas en el temple y se mejora la tenacidad, dejando al acero con la dureza o resistencia deseada. La temperatura de tratamiento depende del grado de tenacidad que se quiere obtener y , en general, están entre 200 – 600 °C.  El enfriamiento suele hacerse en aceite. La microestructura que se obtiene se llama “martensita revenida”. Se consiguen las mejores propiedades mecánicas de un acero al carbono o de baja aleación.</a:t>
            </a:r>
          </a:p>
        </p:txBody>
      </p:sp>
      <p:sp>
        <p:nvSpPr>
          <p:cNvPr id="19" name="Rectangle 10">
            <a:extLst>
              <a:ext uri="{FF2B5EF4-FFF2-40B4-BE49-F238E27FC236}">
                <a16:creationId xmlns:a16="http://schemas.microsoft.com/office/drawing/2014/main" id="{B5DFB3F3-B5E3-4306-A800-159FCEC00609}"/>
              </a:ext>
            </a:extLst>
          </p:cNvPr>
          <p:cNvSpPr txBox="1">
            <a:spLocks noChangeArrowheads="1"/>
          </p:cNvSpPr>
          <p:nvPr/>
        </p:nvSpPr>
        <p:spPr>
          <a:xfrm>
            <a:off x="271023" y="5083896"/>
            <a:ext cx="4467225" cy="13624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120000"/>
              </a:lnSpc>
              <a:spcBef>
                <a:spcPct val="0"/>
              </a:spcBef>
              <a:spcAft>
                <a:spcPts val="1200"/>
              </a:spcAft>
              <a:buFont typeface="Arial"/>
              <a:buNone/>
            </a:pPr>
            <a:r>
              <a:rPr lang="es-PE" altLang="es-PE" sz="1400" b="1" dirty="0">
                <a:solidFill>
                  <a:srgbClr val="FF0000"/>
                </a:solidFill>
              </a:rPr>
              <a:t>Normalizado: </a:t>
            </a:r>
            <a:r>
              <a:rPr lang="es-PE" altLang="es-PE" sz="1400" dirty="0">
                <a:solidFill>
                  <a:schemeClr val="bg2">
                    <a:lumMod val="10000"/>
                  </a:schemeClr>
                </a:solidFill>
              </a:rPr>
              <a:t>Calentamiento similar al  recocido, pero enfriamiento al aire.</a:t>
            </a:r>
            <a:r>
              <a:rPr lang="es-PE" altLang="es-PE" sz="1400" dirty="0">
                <a:solidFill>
                  <a:schemeClr val="tx2"/>
                </a:solidFill>
              </a:rPr>
              <a:t> Se consigue la microestructura que indica el diagrama de equilibrio pero con las mejores características. Aumenta la resistencia y la tenacidad.  Se consiguen tenacidades muy altas.</a:t>
            </a:r>
          </a:p>
        </p:txBody>
      </p:sp>
      <p:cxnSp>
        <p:nvCxnSpPr>
          <p:cNvPr id="3" name="Conector recto 2">
            <a:extLst>
              <a:ext uri="{FF2B5EF4-FFF2-40B4-BE49-F238E27FC236}">
                <a16:creationId xmlns:a16="http://schemas.microsoft.com/office/drawing/2014/main" id="{282443DC-F964-44C8-B58D-151DAA1E654B}"/>
              </a:ext>
            </a:extLst>
          </p:cNvPr>
          <p:cNvCxnSpPr>
            <a:cxnSpLocks/>
          </p:cNvCxnSpPr>
          <p:nvPr/>
        </p:nvCxnSpPr>
        <p:spPr>
          <a:xfrm>
            <a:off x="2023340" y="3084820"/>
            <a:ext cx="724151" cy="800983"/>
          </a:xfrm>
          <a:prstGeom prst="line">
            <a:avLst/>
          </a:prstGeom>
          <a:ln>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23" name="Grupo 22">
            <a:extLst>
              <a:ext uri="{FF2B5EF4-FFF2-40B4-BE49-F238E27FC236}">
                <a16:creationId xmlns:a16="http://schemas.microsoft.com/office/drawing/2014/main" id="{6D396F95-A0FE-4837-B04C-521EED5F3C3F}"/>
              </a:ext>
            </a:extLst>
          </p:cNvPr>
          <p:cNvGrpSpPr/>
          <p:nvPr/>
        </p:nvGrpSpPr>
        <p:grpSpPr>
          <a:xfrm>
            <a:off x="453175" y="2619921"/>
            <a:ext cx="3610262" cy="2196064"/>
            <a:chOff x="453175" y="2619921"/>
            <a:chExt cx="3610262" cy="2196064"/>
          </a:xfrm>
        </p:grpSpPr>
        <p:grpSp>
          <p:nvGrpSpPr>
            <p:cNvPr id="21" name="Grupo 20">
              <a:extLst>
                <a:ext uri="{FF2B5EF4-FFF2-40B4-BE49-F238E27FC236}">
                  <a16:creationId xmlns:a16="http://schemas.microsoft.com/office/drawing/2014/main" id="{1FDEC861-BD1A-4881-AB5C-26EBBEF4C5B9}"/>
                </a:ext>
              </a:extLst>
            </p:cNvPr>
            <p:cNvGrpSpPr/>
            <p:nvPr/>
          </p:nvGrpSpPr>
          <p:grpSpPr>
            <a:xfrm>
              <a:off x="453175" y="2619921"/>
              <a:ext cx="3610262" cy="1836222"/>
              <a:chOff x="518826" y="2699376"/>
              <a:chExt cx="3284909" cy="1441989"/>
            </a:xfrm>
          </p:grpSpPr>
          <p:sp>
            <p:nvSpPr>
              <p:cNvPr id="10" name="Line 7">
                <a:extLst>
                  <a:ext uri="{FF2B5EF4-FFF2-40B4-BE49-F238E27FC236}">
                    <a16:creationId xmlns:a16="http://schemas.microsoft.com/office/drawing/2014/main" id="{27E1013C-3AD3-4EA3-9A38-27DC111A125F}"/>
                  </a:ext>
                </a:extLst>
              </p:cNvPr>
              <p:cNvSpPr>
                <a:spLocks noChangeShapeType="1"/>
              </p:cNvSpPr>
              <p:nvPr/>
            </p:nvSpPr>
            <p:spPr bwMode="auto">
              <a:xfrm>
                <a:off x="912813" y="2812237"/>
                <a:ext cx="0" cy="1329128"/>
              </a:xfrm>
              <a:prstGeom prst="line">
                <a:avLst/>
              </a:prstGeom>
              <a:noFill/>
              <a:ln w="9525">
                <a:solidFill>
                  <a:srgbClr val="000000"/>
                </a:solidFill>
                <a:round/>
                <a:headEnd type="arrow" w="med" len="med"/>
                <a:tailEnd/>
              </a:ln>
              <a:extLst>
                <a:ext uri="{909E8E84-426E-40DD-AFC4-6F175D3DCCD1}">
                  <a14:hiddenFill xmlns:a14="http://schemas.microsoft.com/office/drawing/2010/main">
                    <a:noFill/>
                  </a14:hiddenFill>
                </a:ext>
              </a:extLst>
            </p:spPr>
            <p:txBody>
              <a:bodyPr/>
              <a:lstStyle/>
              <a:p>
                <a:endParaRPr lang="es-PE"/>
              </a:p>
            </p:txBody>
          </p:sp>
          <p:sp>
            <p:nvSpPr>
              <p:cNvPr id="11" name="Line 8">
                <a:extLst>
                  <a:ext uri="{FF2B5EF4-FFF2-40B4-BE49-F238E27FC236}">
                    <a16:creationId xmlns:a16="http://schemas.microsoft.com/office/drawing/2014/main" id="{D6CD1104-47A2-472D-9DC4-247DE01F91CB}"/>
                  </a:ext>
                </a:extLst>
              </p:cNvPr>
              <p:cNvSpPr>
                <a:spLocks noChangeShapeType="1"/>
              </p:cNvSpPr>
              <p:nvPr/>
            </p:nvSpPr>
            <p:spPr bwMode="auto">
              <a:xfrm>
                <a:off x="912813" y="4141365"/>
                <a:ext cx="1966253"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es-PE"/>
              </a:p>
            </p:txBody>
          </p:sp>
          <p:sp>
            <p:nvSpPr>
              <p:cNvPr id="12" name="Line 9">
                <a:extLst>
                  <a:ext uri="{FF2B5EF4-FFF2-40B4-BE49-F238E27FC236}">
                    <a16:creationId xmlns:a16="http://schemas.microsoft.com/office/drawing/2014/main" id="{F0504897-9CB6-4353-98BB-1937AF0B6857}"/>
                  </a:ext>
                </a:extLst>
              </p:cNvPr>
              <p:cNvSpPr>
                <a:spLocks noChangeShapeType="1"/>
              </p:cNvSpPr>
              <p:nvPr/>
            </p:nvSpPr>
            <p:spPr bwMode="auto">
              <a:xfrm flipV="1">
                <a:off x="912813" y="3060969"/>
                <a:ext cx="310526" cy="10803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13" name="Line 10">
                <a:extLst>
                  <a:ext uri="{FF2B5EF4-FFF2-40B4-BE49-F238E27FC236}">
                    <a16:creationId xmlns:a16="http://schemas.microsoft.com/office/drawing/2014/main" id="{FED3FA9E-1BE2-4F5B-B31C-8EE38DDE209A}"/>
                  </a:ext>
                </a:extLst>
              </p:cNvPr>
              <p:cNvSpPr>
                <a:spLocks noChangeShapeType="1"/>
              </p:cNvSpPr>
              <p:nvPr/>
            </p:nvSpPr>
            <p:spPr bwMode="auto">
              <a:xfrm>
                <a:off x="1223339" y="3060969"/>
                <a:ext cx="72415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15" name="Text Box 12">
                <a:extLst>
                  <a:ext uri="{FF2B5EF4-FFF2-40B4-BE49-F238E27FC236}">
                    <a16:creationId xmlns:a16="http://schemas.microsoft.com/office/drawing/2014/main" id="{3E93952A-5148-4DD4-A92A-75AE8B6020B4}"/>
                  </a:ext>
                </a:extLst>
              </p:cNvPr>
              <p:cNvSpPr txBox="1">
                <a:spLocks noChangeArrowheads="1"/>
              </p:cNvSpPr>
              <p:nvPr/>
            </p:nvSpPr>
            <p:spPr bwMode="auto">
              <a:xfrm>
                <a:off x="1326438" y="2699376"/>
                <a:ext cx="828477" cy="33200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Clr>
                    <a:srgbClr val="004588"/>
                  </a:buClr>
                  <a:buFont typeface="Wingdings" panose="05000000000000000000" pitchFamily="2" charset="2"/>
                  <a:buChar char="§"/>
                  <a:defRPr sz="2000">
                    <a:solidFill>
                      <a:srgbClr val="004588"/>
                    </a:solidFill>
                    <a:latin typeface="Arial" panose="020B0604020202020204" pitchFamily="34" charset="0"/>
                  </a:defRPr>
                </a:lvl1pPr>
                <a:lvl2pPr marL="742950" indent="-285750">
                  <a:spcBef>
                    <a:spcPct val="40000"/>
                  </a:spcBef>
                  <a:buClr>
                    <a:srgbClr val="004588"/>
                  </a:buClr>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40000"/>
                  </a:spcBef>
                  <a:buClr>
                    <a:srgbClr val="004588"/>
                  </a:buClr>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40000"/>
                  </a:spcBef>
                  <a:buClr>
                    <a:srgbClr val="004588"/>
                  </a:buClr>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r>
                  <a:rPr lang="es-PE" altLang="es-PE" sz="1000">
                    <a:solidFill>
                      <a:schemeClr val="tx1"/>
                    </a:solidFill>
                    <a:cs typeface="Times New Roman" panose="02020603050405020304" pitchFamily="18" charset="0"/>
                  </a:rPr>
                  <a:t>A</a:t>
                </a:r>
                <a:r>
                  <a:rPr lang="es-PE" altLang="es-PE" sz="1000" baseline="-30000">
                    <a:solidFill>
                      <a:schemeClr val="tx1"/>
                    </a:solidFill>
                    <a:cs typeface="Times New Roman" panose="02020603050405020304" pitchFamily="18" charset="0"/>
                  </a:rPr>
                  <a:t>3</a:t>
                </a:r>
                <a:r>
                  <a:rPr lang="es-PE" altLang="es-PE" sz="1000">
                    <a:solidFill>
                      <a:schemeClr val="tx1"/>
                    </a:solidFill>
                    <a:cs typeface="Times New Roman" panose="02020603050405020304" pitchFamily="18" charset="0"/>
                  </a:rPr>
                  <a:t>+ 40/60</a:t>
                </a:r>
                <a:endParaRPr lang="es-PE" altLang="es-PE" sz="1000">
                  <a:solidFill>
                    <a:schemeClr val="tx1"/>
                  </a:solidFill>
                </a:endParaRPr>
              </a:p>
            </p:txBody>
          </p:sp>
          <p:sp>
            <p:nvSpPr>
              <p:cNvPr id="16" name="Line 13">
                <a:extLst>
                  <a:ext uri="{FF2B5EF4-FFF2-40B4-BE49-F238E27FC236}">
                    <a16:creationId xmlns:a16="http://schemas.microsoft.com/office/drawing/2014/main" id="{27FC6447-AE0E-4E45-9923-C63580701ECE}"/>
                  </a:ext>
                </a:extLst>
              </p:cNvPr>
              <p:cNvSpPr>
                <a:spLocks noChangeShapeType="1"/>
              </p:cNvSpPr>
              <p:nvPr/>
            </p:nvSpPr>
            <p:spPr bwMode="auto">
              <a:xfrm>
                <a:off x="912813" y="3310797"/>
                <a:ext cx="1552628" cy="0"/>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s-PE"/>
              </a:p>
            </p:txBody>
          </p:sp>
          <p:sp>
            <p:nvSpPr>
              <p:cNvPr id="17" name="Text Box 14">
                <a:extLst>
                  <a:ext uri="{FF2B5EF4-FFF2-40B4-BE49-F238E27FC236}">
                    <a16:creationId xmlns:a16="http://schemas.microsoft.com/office/drawing/2014/main" id="{6B76D838-35AC-48C9-9BF5-D95090AD88A1}"/>
                  </a:ext>
                </a:extLst>
              </p:cNvPr>
              <p:cNvSpPr txBox="1">
                <a:spLocks noChangeArrowheads="1"/>
              </p:cNvSpPr>
              <p:nvPr/>
            </p:nvSpPr>
            <p:spPr bwMode="auto">
              <a:xfrm>
                <a:off x="518826" y="3211085"/>
                <a:ext cx="393987" cy="14792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Clr>
                    <a:srgbClr val="004588"/>
                  </a:buClr>
                  <a:buFont typeface="Wingdings" panose="05000000000000000000" pitchFamily="2" charset="2"/>
                  <a:buChar char="§"/>
                  <a:defRPr sz="2000">
                    <a:solidFill>
                      <a:srgbClr val="004588"/>
                    </a:solidFill>
                    <a:latin typeface="Arial" panose="020B0604020202020204" pitchFamily="34" charset="0"/>
                  </a:defRPr>
                </a:lvl1pPr>
                <a:lvl2pPr marL="742950" indent="-285750">
                  <a:spcBef>
                    <a:spcPct val="40000"/>
                  </a:spcBef>
                  <a:buClr>
                    <a:srgbClr val="004588"/>
                  </a:buClr>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40000"/>
                  </a:spcBef>
                  <a:buClr>
                    <a:srgbClr val="004588"/>
                  </a:buClr>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40000"/>
                  </a:spcBef>
                  <a:buClr>
                    <a:srgbClr val="004588"/>
                  </a:buClr>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r>
                  <a:rPr lang="es-PE" altLang="es-PE" sz="1000">
                    <a:solidFill>
                      <a:schemeClr val="tx1"/>
                    </a:solidFill>
                    <a:cs typeface="Times New Roman" panose="02020603050405020304" pitchFamily="18" charset="0"/>
                  </a:rPr>
                  <a:t>A</a:t>
                </a:r>
                <a:r>
                  <a:rPr lang="es-PE" altLang="es-PE" sz="1000" baseline="-30000">
                    <a:solidFill>
                      <a:schemeClr val="tx1"/>
                    </a:solidFill>
                    <a:cs typeface="Times New Roman" panose="02020603050405020304" pitchFamily="18" charset="0"/>
                  </a:rPr>
                  <a:t>3</a:t>
                </a:r>
                <a:endParaRPr lang="es-PE" altLang="es-PE" sz="1000">
                  <a:solidFill>
                    <a:schemeClr val="tx1"/>
                  </a:solidFill>
                </a:endParaRPr>
              </a:p>
            </p:txBody>
          </p:sp>
          <p:sp>
            <p:nvSpPr>
              <p:cNvPr id="18" name="Text Box 15">
                <a:extLst>
                  <a:ext uri="{FF2B5EF4-FFF2-40B4-BE49-F238E27FC236}">
                    <a16:creationId xmlns:a16="http://schemas.microsoft.com/office/drawing/2014/main" id="{7BA1D935-7FC0-44DE-A041-427F9159364C}"/>
                  </a:ext>
                </a:extLst>
              </p:cNvPr>
              <p:cNvSpPr txBox="1">
                <a:spLocks noChangeArrowheads="1"/>
              </p:cNvSpPr>
              <p:nvPr/>
            </p:nvSpPr>
            <p:spPr bwMode="auto">
              <a:xfrm>
                <a:off x="2905297" y="2923454"/>
                <a:ext cx="898438" cy="36159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Clr>
                    <a:srgbClr val="004588"/>
                  </a:buClr>
                  <a:buFont typeface="Wingdings" panose="05000000000000000000" pitchFamily="2" charset="2"/>
                  <a:buChar char="§"/>
                  <a:defRPr sz="2000">
                    <a:solidFill>
                      <a:srgbClr val="004588"/>
                    </a:solidFill>
                    <a:latin typeface="Arial" panose="020B0604020202020204" pitchFamily="34" charset="0"/>
                  </a:defRPr>
                </a:lvl1pPr>
                <a:lvl2pPr marL="742950" indent="-285750">
                  <a:spcBef>
                    <a:spcPct val="40000"/>
                  </a:spcBef>
                  <a:buClr>
                    <a:srgbClr val="004588"/>
                  </a:buClr>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40000"/>
                  </a:spcBef>
                  <a:buClr>
                    <a:srgbClr val="004588"/>
                  </a:buClr>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40000"/>
                  </a:spcBef>
                  <a:buClr>
                    <a:srgbClr val="004588"/>
                  </a:buClr>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r>
                  <a:rPr lang="es-PE" altLang="es-PE" sz="1100" dirty="0">
                    <a:solidFill>
                      <a:schemeClr val="tx1"/>
                    </a:solidFill>
                    <a:cs typeface="Times New Roman" panose="02020603050405020304" pitchFamily="18" charset="0"/>
                  </a:rPr>
                  <a:t>Enfriamiento en horno</a:t>
                </a:r>
                <a:endParaRPr lang="es-PE" altLang="es-PE" sz="1100" dirty="0">
                  <a:solidFill>
                    <a:schemeClr val="tx1"/>
                  </a:solidFill>
                </a:endParaRPr>
              </a:p>
              <a:p>
                <a:pPr>
                  <a:spcBef>
                    <a:spcPct val="0"/>
                  </a:spcBef>
                  <a:buClrTx/>
                  <a:buFontTx/>
                  <a:buNone/>
                </a:pPr>
                <a:r>
                  <a:rPr lang="es-PE" altLang="es-PE" sz="1100" dirty="0">
                    <a:solidFill>
                      <a:schemeClr val="tx1"/>
                    </a:solidFill>
                    <a:cs typeface="Times New Roman" panose="02020603050405020304" pitchFamily="18" charset="0"/>
                  </a:rPr>
                  <a:t>a puerta cerrada</a:t>
                </a:r>
                <a:endParaRPr lang="es-PE" altLang="es-PE" sz="1100" dirty="0">
                  <a:solidFill>
                    <a:schemeClr val="tx1"/>
                  </a:solidFill>
                </a:endParaRPr>
              </a:p>
            </p:txBody>
          </p:sp>
        </p:grpSp>
        <p:sp>
          <p:nvSpPr>
            <p:cNvPr id="9" name="CuadroTexto 8">
              <a:extLst>
                <a:ext uri="{FF2B5EF4-FFF2-40B4-BE49-F238E27FC236}">
                  <a16:creationId xmlns:a16="http://schemas.microsoft.com/office/drawing/2014/main" id="{410E9CEB-EEC8-48BC-A76B-9FF396327925}"/>
                </a:ext>
              </a:extLst>
            </p:cNvPr>
            <p:cNvSpPr txBox="1"/>
            <p:nvPr/>
          </p:nvSpPr>
          <p:spPr>
            <a:xfrm>
              <a:off x="2535066" y="4595973"/>
              <a:ext cx="840016" cy="220012"/>
            </a:xfrm>
            <a:prstGeom prst="rect">
              <a:avLst/>
            </a:prstGeom>
            <a:noFill/>
          </p:spPr>
          <p:txBody>
            <a:bodyPr wrap="square" rtlCol="0">
              <a:spAutoFit/>
            </a:bodyPr>
            <a:lstStyle/>
            <a:p>
              <a:r>
                <a:rPr lang="es-PE" sz="1200" dirty="0"/>
                <a:t>Tiempo</a:t>
              </a:r>
            </a:p>
          </p:txBody>
        </p:sp>
        <p:cxnSp>
          <p:nvCxnSpPr>
            <p:cNvPr id="20" name="Conector recto de flecha 19">
              <a:extLst>
                <a:ext uri="{FF2B5EF4-FFF2-40B4-BE49-F238E27FC236}">
                  <a16:creationId xmlns:a16="http://schemas.microsoft.com/office/drawing/2014/main" id="{9DBFC350-9CFE-4216-9C03-E78CCDFFA7E4}"/>
                </a:ext>
              </a:extLst>
            </p:cNvPr>
            <p:cNvCxnSpPr/>
            <p:nvPr/>
          </p:nvCxnSpPr>
          <p:spPr>
            <a:xfrm>
              <a:off x="2023340" y="3085405"/>
              <a:ext cx="1357969" cy="5823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24" name="CuadroTexto 23">
            <a:extLst>
              <a:ext uri="{FF2B5EF4-FFF2-40B4-BE49-F238E27FC236}">
                <a16:creationId xmlns:a16="http://schemas.microsoft.com/office/drawing/2014/main" id="{120B6F55-6A5E-4713-9707-BA816D3A2AD5}"/>
              </a:ext>
            </a:extLst>
          </p:cNvPr>
          <p:cNvSpPr txBox="1"/>
          <p:nvPr/>
        </p:nvSpPr>
        <p:spPr>
          <a:xfrm>
            <a:off x="2824619" y="3768257"/>
            <a:ext cx="1152394" cy="461665"/>
          </a:xfrm>
          <a:prstGeom prst="rect">
            <a:avLst/>
          </a:prstGeom>
          <a:noFill/>
        </p:spPr>
        <p:txBody>
          <a:bodyPr wrap="square" rtlCol="0">
            <a:spAutoFit/>
          </a:bodyPr>
          <a:lstStyle/>
          <a:p>
            <a:r>
              <a:rPr lang="es-ES" sz="1200" dirty="0">
                <a:solidFill>
                  <a:srgbClr val="FF0000"/>
                </a:solidFill>
              </a:rPr>
              <a:t>Enfriamiento al aire</a:t>
            </a:r>
            <a:endParaRPr lang="es-PE" sz="1200" dirty="0">
              <a:solidFill>
                <a:srgbClr val="FF0000"/>
              </a:solidFill>
            </a:endParaRPr>
          </a:p>
        </p:txBody>
      </p:sp>
      <p:sp>
        <p:nvSpPr>
          <p:cNvPr id="25" name="Rectángulo 24">
            <a:extLst>
              <a:ext uri="{FF2B5EF4-FFF2-40B4-BE49-F238E27FC236}">
                <a16:creationId xmlns:a16="http://schemas.microsoft.com/office/drawing/2014/main" id="{6A1E9565-D678-4D18-9BCF-50A3258B05AB}"/>
              </a:ext>
            </a:extLst>
          </p:cNvPr>
          <p:cNvSpPr/>
          <p:nvPr/>
        </p:nvSpPr>
        <p:spPr>
          <a:xfrm>
            <a:off x="5978392" y="2013931"/>
            <a:ext cx="6096000" cy="954107"/>
          </a:xfrm>
          <a:prstGeom prst="rect">
            <a:avLst/>
          </a:prstGeom>
        </p:spPr>
        <p:txBody>
          <a:bodyPr>
            <a:spAutoFit/>
          </a:bodyPr>
          <a:lstStyle/>
          <a:p>
            <a:r>
              <a:rPr lang="es-ES" sz="1400" dirty="0"/>
              <a:t>Se realiza con el objetivo de  aumentar la dureza y la resistencia del acero. Los mejores resultados se obtienen en aceros especialmente diseñados para ser templados. Se suelen usar  temperaturas entre 900° y 950º C. No se usa una pieza directamente después del temple porque es muy frágil. Se le hace un Revenido</a:t>
            </a:r>
          </a:p>
        </p:txBody>
      </p:sp>
      <p:cxnSp>
        <p:nvCxnSpPr>
          <p:cNvPr id="27" name="Conector recto de flecha 26">
            <a:extLst>
              <a:ext uri="{FF2B5EF4-FFF2-40B4-BE49-F238E27FC236}">
                <a16:creationId xmlns:a16="http://schemas.microsoft.com/office/drawing/2014/main" id="{70132CFB-A4BC-4215-93A2-56183C539904}"/>
              </a:ext>
            </a:extLst>
          </p:cNvPr>
          <p:cNvCxnSpPr/>
          <p:nvPr/>
        </p:nvCxnSpPr>
        <p:spPr>
          <a:xfrm>
            <a:off x="2023340" y="3069439"/>
            <a:ext cx="227970" cy="1011142"/>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8" name="CuadroTexto 27">
            <a:extLst>
              <a:ext uri="{FF2B5EF4-FFF2-40B4-BE49-F238E27FC236}">
                <a16:creationId xmlns:a16="http://schemas.microsoft.com/office/drawing/2014/main" id="{A524C398-E27A-446F-96D6-866F923DFA1C}"/>
              </a:ext>
            </a:extLst>
          </p:cNvPr>
          <p:cNvSpPr txBox="1"/>
          <p:nvPr/>
        </p:nvSpPr>
        <p:spPr>
          <a:xfrm>
            <a:off x="1319195" y="3674891"/>
            <a:ext cx="932116" cy="600164"/>
          </a:xfrm>
          <a:prstGeom prst="rect">
            <a:avLst/>
          </a:prstGeom>
          <a:noFill/>
        </p:spPr>
        <p:txBody>
          <a:bodyPr wrap="square" rtlCol="0">
            <a:spAutoFit/>
          </a:bodyPr>
          <a:lstStyle/>
          <a:p>
            <a:r>
              <a:rPr lang="es-ES" sz="1100" dirty="0">
                <a:solidFill>
                  <a:srgbClr val="00B050"/>
                </a:solidFill>
              </a:rPr>
              <a:t>Enfriamiento en agua, aceite, </a:t>
            </a:r>
            <a:r>
              <a:rPr lang="es-ES" sz="1100" dirty="0" err="1">
                <a:solidFill>
                  <a:srgbClr val="00B050"/>
                </a:solidFill>
              </a:rPr>
              <a:t>etc</a:t>
            </a:r>
            <a:endParaRPr lang="es-PE" sz="1100" dirty="0">
              <a:solidFill>
                <a:srgbClr val="00B050"/>
              </a:solidFill>
            </a:endParaRPr>
          </a:p>
        </p:txBody>
      </p:sp>
      <p:grpSp>
        <p:nvGrpSpPr>
          <p:cNvPr id="29" name="Grupo 28">
            <a:extLst>
              <a:ext uri="{FF2B5EF4-FFF2-40B4-BE49-F238E27FC236}">
                <a16:creationId xmlns:a16="http://schemas.microsoft.com/office/drawing/2014/main" id="{A4AC8520-0359-40D5-AD22-B6CD3948ABF4}"/>
              </a:ext>
            </a:extLst>
          </p:cNvPr>
          <p:cNvGrpSpPr/>
          <p:nvPr/>
        </p:nvGrpSpPr>
        <p:grpSpPr>
          <a:xfrm>
            <a:off x="6468459" y="5157115"/>
            <a:ext cx="2454234" cy="1452609"/>
            <a:chOff x="6468459" y="5157115"/>
            <a:chExt cx="2454234" cy="1452609"/>
          </a:xfrm>
        </p:grpSpPr>
        <p:sp>
          <p:nvSpPr>
            <p:cNvPr id="35" name="Line 4">
              <a:extLst>
                <a:ext uri="{FF2B5EF4-FFF2-40B4-BE49-F238E27FC236}">
                  <a16:creationId xmlns:a16="http://schemas.microsoft.com/office/drawing/2014/main" id="{EAA22EF5-96E6-436C-B08A-5DA68156C934}"/>
                </a:ext>
              </a:extLst>
            </p:cNvPr>
            <p:cNvSpPr>
              <a:spLocks noChangeShapeType="1"/>
            </p:cNvSpPr>
            <p:nvPr/>
          </p:nvSpPr>
          <p:spPr bwMode="auto">
            <a:xfrm flipV="1">
              <a:off x="6777730" y="5157115"/>
              <a:ext cx="687" cy="1434572"/>
            </a:xfrm>
            <a:prstGeom prst="line">
              <a:avLst/>
            </a:prstGeom>
            <a:noFill/>
            <a:ln w="9525">
              <a:solidFill>
                <a:srgbClr val="000000"/>
              </a:solidFill>
              <a:round/>
              <a:headEnd type="none" w="med" len="lg"/>
              <a:tailEnd type="triangle" w="med" len="lg"/>
            </a:ln>
            <a:extLst>
              <a:ext uri="{909E8E84-426E-40DD-AFC4-6F175D3DCCD1}">
                <a14:hiddenFill xmlns:a14="http://schemas.microsoft.com/office/drawing/2010/main">
                  <a:noFill/>
                </a14:hiddenFill>
              </a:ext>
            </a:extLst>
          </p:spPr>
          <p:txBody>
            <a:bodyPr/>
            <a:lstStyle/>
            <a:p>
              <a:endParaRPr lang="es-PE"/>
            </a:p>
          </p:txBody>
        </p:sp>
        <p:sp>
          <p:nvSpPr>
            <p:cNvPr id="36" name="Line 5">
              <a:extLst>
                <a:ext uri="{FF2B5EF4-FFF2-40B4-BE49-F238E27FC236}">
                  <a16:creationId xmlns:a16="http://schemas.microsoft.com/office/drawing/2014/main" id="{E58ABC7D-6685-4802-AD05-EADE0CA487E3}"/>
                </a:ext>
              </a:extLst>
            </p:cNvPr>
            <p:cNvSpPr>
              <a:spLocks noChangeShapeType="1"/>
            </p:cNvSpPr>
            <p:nvPr/>
          </p:nvSpPr>
          <p:spPr bwMode="auto">
            <a:xfrm>
              <a:off x="6777730" y="6600104"/>
              <a:ext cx="2144963" cy="601"/>
            </a:xfrm>
            <a:prstGeom prst="line">
              <a:avLst/>
            </a:prstGeom>
            <a:noFill/>
            <a:ln w="12700">
              <a:solidFill>
                <a:srgbClr val="000000"/>
              </a:solidFill>
              <a:round/>
              <a:headEnd type="none" w="med" len="lg"/>
              <a:tailEnd type="none" w="med" len="lg"/>
            </a:ln>
            <a:extLst>
              <a:ext uri="{909E8E84-426E-40DD-AFC4-6F175D3DCCD1}">
                <a14:hiddenFill xmlns:a14="http://schemas.microsoft.com/office/drawing/2010/main">
                  <a:noFill/>
                </a14:hiddenFill>
              </a:ext>
            </a:extLst>
          </p:spPr>
          <p:txBody>
            <a:bodyPr/>
            <a:lstStyle/>
            <a:p>
              <a:endParaRPr lang="es-PE"/>
            </a:p>
          </p:txBody>
        </p:sp>
        <p:sp>
          <p:nvSpPr>
            <p:cNvPr id="37" name="Line 6">
              <a:extLst>
                <a:ext uri="{FF2B5EF4-FFF2-40B4-BE49-F238E27FC236}">
                  <a16:creationId xmlns:a16="http://schemas.microsoft.com/office/drawing/2014/main" id="{175EEF1B-84EE-4D2D-A6E3-7330A67430D4}"/>
                </a:ext>
              </a:extLst>
            </p:cNvPr>
            <p:cNvSpPr>
              <a:spLocks noChangeShapeType="1"/>
            </p:cNvSpPr>
            <p:nvPr/>
          </p:nvSpPr>
          <p:spPr bwMode="auto">
            <a:xfrm>
              <a:off x="6777730" y="5553937"/>
              <a:ext cx="1856311" cy="601"/>
            </a:xfrm>
            <a:prstGeom prst="line">
              <a:avLst/>
            </a:prstGeom>
            <a:noFill/>
            <a:ln w="12700">
              <a:solidFill>
                <a:srgbClr val="000000"/>
              </a:solidFill>
              <a:round/>
              <a:headEnd type="none" w="med" len="lg"/>
              <a:tailEnd type="none" w="med" len="lg"/>
            </a:ln>
            <a:extLst>
              <a:ext uri="{909E8E84-426E-40DD-AFC4-6F175D3DCCD1}">
                <a14:hiddenFill xmlns:a14="http://schemas.microsoft.com/office/drawing/2010/main">
                  <a:noFill/>
                </a14:hiddenFill>
              </a:ext>
            </a:extLst>
          </p:spPr>
          <p:txBody>
            <a:bodyPr/>
            <a:lstStyle/>
            <a:p>
              <a:endParaRPr lang="es-PE"/>
            </a:p>
          </p:txBody>
        </p:sp>
        <p:sp>
          <p:nvSpPr>
            <p:cNvPr id="38" name="Line 7">
              <a:extLst>
                <a:ext uri="{FF2B5EF4-FFF2-40B4-BE49-F238E27FC236}">
                  <a16:creationId xmlns:a16="http://schemas.microsoft.com/office/drawing/2014/main" id="{7588D43F-4A6E-4703-BA03-0BFA7DC6A5F7}"/>
                </a:ext>
              </a:extLst>
            </p:cNvPr>
            <p:cNvSpPr>
              <a:spLocks noChangeShapeType="1"/>
            </p:cNvSpPr>
            <p:nvPr/>
          </p:nvSpPr>
          <p:spPr bwMode="auto">
            <a:xfrm flipV="1">
              <a:off x="6777730" y="5671180"/>
              <a:ext cx="567683" cy="938544"/>
            </a:xfrm>
            <a:prstGeom prst="line">
              <a:avLst/>
            </a:prstGeom>
            <a:noFill/>
            <a:ln w="12700">
              <a:solidFill>
                <a:srgbClr val="000000"/>
              </a:solidFill>
              <a:round/>
              <a:headEnd type="none" w="med" len="lg"/>
              <a:tailEnd type="none" w="med" len="lg"/>
            </a:ln>
            <a:extLst>
              <a:ext uri="{909E8E84-426E-40DD-AFC4-6F175D3DCCD1}">
                <a14:hiddenFill xmlns:a14="http://schemas.microsoft.com/office/drawing/2010/main">
                  <a:noFill/>
                </a14:hiddenFill>
              </a:ext>
            </a:extLst>
          </p:spPr>
          <p:txBody>
            <a:bodyPr/>
            <a:lstStyle/>
            <a:p>
              <a:endParaRPr lang="es-PE"/>
            </a:p>
          </p:txBody>
        </p:sp>
        <p:sp>
          <p:nvSpPr>
            <p:cNvPr id="39" name="Line 8">
              <a:extLst>
                <a:ext uri="{FF2B5EF4-FFF2-40B4-BE49-F238E27FC236}">
                  <a16:creationId xmlns:a16="http://schemas.microsoft.com/office/drawing/2014/main" id="{999E5AF9-4028-46DB-8652-148E2A0FF2F7}"/>
                </a:ext>
              </a:extLst>
            </p:cNvPr>
            <p:cNvSpPr>
              <a:spLocks noChangeShapeType="1"/>
            </p:cNvSpPr>
            <p:nvPr/>
          </p:nvSpPr>
          <p:spPr bwMode="auto">
            <a:xfrm>
              <a:off x="7355035" y="5680199"/>
              <a:ext cx="629537" cy="601"/>
            </a:xfrm>
            <a:prstGeom prst="line">
              <a:avLst/>
            </a:prstGeom>
            <a:noFill/>
            <a:ln w="12700">
              <a:solidFill>
                <a:srgbClr val="000000"/>
              </a:solidFill>
              <a:round/>
              <a:headEnd type="none" w="med" len="lg"/>
              <a:tailEnd type="none" w="med" len="lg"/>
            </a:ln>
            <a:extLst>
              <a:ext uri="{909E8E84-426E-40DD-AFC4-6F175D3DCCD1}">
                <a14:hiddenFill xmlns:a14="http://schemas.microsoft.com/office/drawing/2010/main">
                  <a:noFill/>
                </a14:hiddenFill>
              </a:ext>
            </a:extLst>
          </p:spPr>
          <p:txBody>
            <a:bodyPr/>
            <a:lstStyle/>
            <a:p>
              <a:endParaRPr lang="es-PE"/>
            </a:p>
          </p:txBody>
        </p:sp>
        <p:sp>
          <p:nvSpPr>
            <p:cNvPr id="40" name="Line 9">
              <a:extLst>
                <a:ext uri="{FF2B5EF4-FFF2-40B4-BE49-F238E27FC236}">
                  <a16:creationId xmlns:a16="http://schemas.microsoft.com/office/drawing/2014/main" id="{6C84307C-E3D0-435E-BD86-C6D5CD52137D}"/>
                </a:ext>
              </a:extLst>
            </p:cNvPr>
            <p:cNvSpPr>
              <a:spLocks noChangeShapeType="1"/>
            </p:cNvSpPr>
            <p:nvPr/>
          </p:nvSpPr>
          <p:spPr bwMode="auto">
            <a:xfrm>
              <a:off x="7983885" y="5671180"/>
              <a:ext cx="10996" cy="601"/>
            </a:xfrm>
            <a:prstGeom prst="line">
              <a:avLst/>
            </a:prstGeom>
            <a:noFill/>
            <a:ln w="12700">
              <a:solidFill>
                <a:srgbClr val="000000"/>
              </a:solidFill>
              <a:round/>
              <a:headEnd type="none" w="med" len="lg"/>
              <a:tailEnd type="none" w="med" len="lg"/>
            </a:ln>
            <a:extLst>
              <a:ext uri="{909E8E84-426E-40DD-AFC4-6F175D3DCCD1}">
                <a14:hiddenFill xmlns:a14="http://schemas.microsoft.com/office/drawing/2010/main">
                  <a:noFill/>
                </a14:hiddenFill>
              </a:ext>
            </a:extLst>
          </p:spPr>
          <p:txBody>
            <a:bodyPr/>
            <a:lstStyle/>
            <a:p>
              <a:endParaRPr lang="es-PE"/>
            </a:p>
          </p:txBody>
        </p:sp>
        <p:sp>
          <p:nvSpPr>
            <p:cNvPr id="41" name="Line 10">
              <a:extLst>
                <a:ext uri="{FF2B5EF4-FFF2-40B4-BE49-F238E27FC236}">
                  <a16:creationId xmlns:a16="http://schemas.microsoft.com/office/drawing/2014/main" id="{3C5A9316-D0A7-4A5A-BD9D-683D35886D9F}"/>
                </a:ext>
              </a:extLst>
            </p:cNvPr>
            <p:cNvSpPr>
              <a:spLocks noChangeShapeType="1"/>
            </p:cNvSpPr>
            <p:nvPr/>
          </p:nvSpPr>
          <p:spPr bwMode="auto">
            <a:xfrm>
              <a:off x="7981340" y="5680800"/>
              <a:ext cx="382121" cy="794245"/>
            </a:xfrm>
            <a:prstGeom prst="line">
              <a:avLst/>
            </a:prstGeom>
            <a:noFill/>
            <a:ln w="9525">
              <a:solidFill>
                <a:srgbClr val="000000"/>
              </a:solidFill>
              <a:round/>
              <a:headEnd type="none" w="med" len="lg"/>
              <a:tailEnd type="triangle" w="med" len="lg"/>
            </a:ln>
            <a:extLst>
              <a:ext uri="{909E8E84-426E-40DD-AFC4-6F175D3DCCD1}">
                <a14:hiddenFill xmlns:a14="http://schemas.microsoft.com/office/drawing/2010/main">
                  <a:noFill/>
                </a14:hiddenFill>
              </a:ext>
            </a:extLst>
          </p:spPr>
          <p:txBody>
            <a:bodyPr/>
            <a:lstStyle/>
            <a:p>
              <a:endParaRPr lang="es-PE"/>
            </a:p>
          </p:txBody>
        </p:sp>
        <p:sp>
          <p:nvSpPr>
            <p:cNvPr id="42" name="Rectangle 11">
              <a:extLst>
                <a:ext uri="{FF2B5EF4-FFF2-40B4-BE49-F238E27FC236}">
                  <a16:creationId xmlns:a16="http://schemas.microsoft.com/office/drawing/2014/main" id="{9AEED3C3-7E27-419B-A96B-57EBB457D7B8}"/>
                </a:ext>
              </a:extLst>
            </p:cNvPr>
            <p:cNvSpPr>
              <a:spLocks noChangeArrowheads="1"/>
            </p:cNvSpPr>
            <p:nvPr/>
          </p:nvSpPr>
          <p:spPr bwMode="auto">
            <a:xfrm>
              <a:off x="6468459" y="5418657"/>
              <a:ext cx="248104" cy="19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spcBef>
                  <a:spcPct val="40000"/>
                </a:spcBef>
                <a:buClr>
                  <a:srgbClr val="004588"/>
                </a:buClr>
                <a:buFont typeface="Wingdings" panose="05000000000000000000" pitchFamily="2" charset="2"/>
                <a:buChar char="§"/>
                <a:defRPr sz="2000">
                  <a:solidFill>
                    <a:srgbClr val="004588"/>
                  </a:solidFill>
                  <a:latin typeface="Arial" panose="020B0604020202020204" pitchFamily="34" charset="0"/>
                </a:defRPr>
              </a:lvl1pPr>
              <a:lvl2pPr marL="742950" indent="-285750">
                <a:spcBef>
                  <a:spcPct val="40000"/>
                </a:spcBef>
                <a:buClr>
                  <a:srgbClr val="004588"/>
                </a:buClr>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40000"/>
                </a:spcBef>
                <a:buClr>
                  <a:srgbClr val="004588"/>
                </a:buClr>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40000"/>
                </a:spcBef>
                <a:buClr>
                  <a:srgbClr val="004588"/>
                </a:buClr>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r>
                <a:rPr lang="es-PE" altLang="es-PE" sz="1000" dirty="0">
                  <a:solidFill>
                    <a:schemeClr val="tx1"/>
                  </a:solidFill>
                  <a:cs typeface="Times New Roman" panose="02020603050405020304" pitchFamily="18" charset="0"/>
                </a:rPr>
                <a:t>A</a:t>
              </a:r>
              <a:r>
                <a:rPr lang="es-PE" altLang="es-PE" sz="1000" baseline="-25000" dirty="0">
                  <a:solidFill>
                    <a:schemeClr val="tx1"/>
                  </a:solidFill>
                  <a:cs typeface="Times New Roman" panose="02020603050405020304" pitchFamily="18" charset="0"/>
                </a:rPr>
                <a:t>1</a:t>
              </a:r>
              <a:endParaRPr lang="es-PE" altLang="es-PE" sz="1800" dirty="0">
                <a:solidFill>
                  <a:schemeClr val="tx1"/>
                </a:solidFill>
              </a:endParaRPr>
            </a:p>
          </p:txBody>
        </p:sp>
      </p:gr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3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3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7" grpId="0"/>
      <p:bldP spid="13318" grpId="0"/>
      <p:bldP spid="19" grpId="0"/>
      <p:bldP spid="24" grpId="0"/>
      <p:bldP spid="25" grpId="0"/>
      <p:bldP spid="2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2BCB03-83EA-40A9-8C32-7BACB2B18DE1}"/>
              </a:ext>
            </a:extLst>
          </p:cNvPr>
          <p:cNvSpPr>
            <a:spLocks noGrp="1"/>
          </p:cNvSpPr>
          <p:nvPr>
            <p:ph type="title"/>
          </p:nvPr>
        </p:nvSpPr>
        <p:spPr/>
        <p:txBody>
          <a:bodyPr>
            <a:normAutofit fontScale="90000"/>
          </a:bodyPr>
          <a:lstStyle/>
          <a:p>
            <a:r>
              <a:rPr lang="es-ES" dirty="0"/>
              <a:t>Diagrama Fe-C y microestructura de los aceros</a:t>
            </a:r>
            <a:endParaRPr lang="es-PE" dirty="0"/>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06352397-62A4-4F73-85B6-B853DDAE0098}"/>
                  </a:ext>
                </a:extLst>
              </p:cNvPr>
              <p:cNvSpPr txBox="1"/>
              <p:nvPr/>
            </p:nvSpPr>
            <p:spPr>
              <a:xfrm>
                <a:off x="150745" y="1435041"/>
                <a:ext cx="4744278" cy="12003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PE" b="1" i="1" smtClean="0">
                          <a:solidFill>
                            <a:srgbClr val="8C1F1C"/>
                          </a:solidFill>
                          <a:latin typeface="Cambria Math" panose="02040503050406030204" pitchFamily="18" charset="0"/>
                          <a:ea typeface="Cambria Math" panose="02040503050406030204" pitchFamily="18" charset="0"/>
                        </a:rPr>
                        <m:t>𝜸</m:t>
                      </m:r>
                      <m:r>
                        <a:rPr lang="es-ES" b="1" i="1" smtClean="0">
                          <a:solidFill>
                            <a:srgbClr val="8C1F1C"/>
                          </a:solidFill>
                          <a:latin typeface="Cambria Math" panose="02040503050406030204" pitchFamily="18" charset="0"/>
                          <a:ea typeface="Cambria Math" panose="02040503050406030204" pitchFamily="18" charset="0"/>
                        </a:rPr>
                        <m:t>:</m:t>
                      </m:r>
                      <m:r>
                        <a:rPr lang="es-ES" b="1" i="1" smtClean="0">
                          <a:solidFill>
                            <a:srgbClr val="8C1F1C"/>
                          </a:solidFill>
                          <a:latin typeface="Cambria Math" panose="02040503050406030204" pitchFamily="18" charset="0"/>
                          <a:ea typeface="Cambria Math" panose="02040503050406030204" pitchFamily="18" charset="0"/>
                        </a:rPr>
                        <m:t>𝑨𝒖𝒔𝒕𝒆𝒏𝒊𝒕𝒂</m:t>
                      </m:r>
                      <m:r>
                        <a:rPr lang="es-ES" b="1" i="1" smtClean="0">
                          <a:solidFill>
                            <a:srgbClr val="8C1F1C"/>
                          </a:solidFill>
                          <a:latin typeface="Cambria Math" panose="02040503050406030204" pitchFamily="18" charset="0"/>
                          <a:ea typeface="Cambria Math" panose="02040503050406030204" pitchFamily="18" charset="0"/>
                        </a:rPr>
                        <m:t> </m:t>
                      </m:r>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𝑠𝑜𝑙𝑢𝑐𝑖</m:t>
                          </m:r>
                          <m:r>
                            <a:rPr lang="es-ES" b="0" i="1" smtClean="0">
                              <a:latin typeface="Cambria Math" panose="02040503050406030204" pitchFamily="18" charset="0"/>
                              <a:ea typeface="Cambria Math" panose="02040503050406030204" pitchFamily="18" charset="0"/>
                            </a:rPr>
                            <m:t>ó</m:t>
                          </m:r>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𝑠</m:t>
                          </m:r>
                          <m:r>
                            <a:rPr lang="es-ES" b="0" i="1" smtClean="0">
                              <a:latin typeface="Cambria Math" panose="02040503050406030204" pitchFamily="18" charset="0"/>
                              <a:ea typeface="Cambria Math" panose="02040503050406030204" pitchFamily="18" charset="0"/>
                            </a:rPr>
                            <m:t>ó</m:t>
                          </m:r>
                          <m:r>
                            <a:rPr lang="es-ES" b="0" i="1" smtClean="0">
                              <a:latin typeface="Cambria Math" panose="02040503050406030204" pitchFamily="18" charset="0"/>
                              <a:ea typeface="Cambria Math" panose="02040503050406030204" pitchFamily="18" charset="0"/>
                            </a:rPr>
                            <m:t>𝑙𝑖𝑑𝑎</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𝑑𝑒</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𝐶</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𝑒𝑛</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𝐹𝑒</m:t>
                          </m:r>
                          <m:r>
                            <a:rPr lang="es-ES" b="0" i="1" smtClean="0">
                              <a:latin typeface="Cambria Math" panose="02040503050406030204" pitchFamily="18" charset="0"/>
                              <a:ea typeface="Cambria Math" panose="02040503050406030204" pitchFamily="18" charset="0"/>
                            </a:rPr>
                            <m:t>𝛾</m:t>
                          </m:r>
                        </m:e>
                      </m:d>
                    </m:oMath>
                  </m:oMathPara>
                </a14:m>
                <a:endParaRPr lang="es-ES" b="0" dirty="0">
                  <a:ea typeface="Cambria Math" panose="02040503050406030204" pitchFamily="18" charset="0"/>
                </a:endParaRPr>
              </a:p>
              <a:p>
                <a:r>
                  <a:rPr lang="es-ES" dirty="0"/>
                  <a:t>Resistente </a:t>
                </a:r>
                <a14:m>
                  <m:oMath xmlns:m="http://schemas.openxmlformats.org/officeDocument/2006/math">
                    <m:sSub>
                      <m:sSubPr>
                        <m:ctrlPr>
                          <a:rPr lang="es-PE" i="1">
                            <a:latin typeface="Cambria Math" panose="02040503050406030204" pitchFamily="18" charset="0"/>
                          </a:rPr>
                        </m:ctrlPr>
                      </m:sSubPr>
                      <m:e>
                        <m:r>
                          <a:rPr lang="es-ES" b="0" i="1" smtClean="0">
                            <a:latin typeface="Cambria Math" panose="02040503050406030204" pitchFamily="18" charset="0"/>
                          </a:rPr>
                          <m:t>(</m:t>
                        </m:r>
                        <m:r>
                          <a:rPr lang="es-PE" i="1">
                            <a:latin typeface="Cambria Math" panose="02040503050406030204" pitchFamily="18" charset="0"/>
                            <a:ea typeface="Cambria Math" panose="02040503050406030204" pitchFamily="18" charset="0"/>
                          </a:rPr>
                          <m:t>𝜎</m:t>
                        </m:r>
                      </m:e>
                      <m:sub>
                        <m:r>
                          <a:rPr lang="es-ES" i="1">
                            <a:latin typeface="Cambria Math" panose="02040503050406030204" pitchFamily="18" charset="0"/>
                          </a:rPr>
                          <m:t>𝑚</m:t>
                        </m:r>
                      </m:sub>
                    </m:sSub>
                    <m:r>
                      <a:rPr lang="es-ES" i="1">
                        <a:latin typeface="Cambria Math" panose="02040503050406030204" pitchFamily="18" charset="0"/>
                      </a:rPr>
                      <m:t>=</m:t>
                    </m:r>
                    <m:r>
                      <a:rPr lang="es-ES" b="0" i="1" smtClean="0">
                        <a:latin typeface="Cambria Math" panose="02040503050406030204" pitchFamily="18" charset="0"/>
                      </a:rPr>
                      <m:t>88−100</m:t>
                    </m:r>
                    <m:r>
                      <a:rPr lang="es-ES" i="1">
                        <a:latin typeface="Cambria Math" panose="02040503050406030204" pitchFamily="18" charset="0"/>
                      </a:rPr>
                      <m:t> </m:t>
                    </m:r>
                    <m:r>
                      <a:rPr lang="es-ES" i="1">
                        <a:latin typeface="Cambria Math" panose="02040503050406030204" pitchFamily="18" charset="0"/>
                      </a:rPr>
                      <m:t>𝑘𝑔</m:t>
                    </m:r>
                    <m:r>
                      <a:rPr lang="es-ES" i="1">
                        <a:latin typeface="Cambria Math" panose="02040503050406030204" pitchFamily="18" charset="0"/>
                      </a:rPr>
                      <m:t>/</m:t>
                    </m:r>
                    <m:r>
                      <a:rPr lang="es-ES" i="1">
                        <a:latin typeface="Cambria Math" panose="02040503050406030204" pitchFamily="18" charset="0"/>
                      </a:rPr>
                      <m:t>𝑚</m:t>
                    </m:r>
                    <m:sSup>
                      <m:sSupPr>
                        <m:ctrlPr>
                          <a:rPr lang="es-ES" i="1">
                            <a:latin typeface="Cambria Math" panose="02040503050406030204" pitchFamily="18" charset="0"/>
                          </a:rPr>
                        </m:ctrlPr>
                      </m:sSupPr>
                      <m:e>
                        <m:r>
                          <a:rPr lang="es-ES" i="1">
                            <a:latin typeface="Cambria Math" panose="02040503050406030204" pitchFamily="18" charset="0"/>
                          </a:rPr>
                          <m:t>𝑚</m:t>
                        </m:r>
                      </m:e>
                      <m:sup>
                        <m:r>
                          <a:rPr lang="es-ES" i="1">
                            <a:latin typeface="Cambria Math" panose="02040503050406030204" pitchFamily="18" charset="0"/>
                          </a:rPr>
                          <m:t>2</m:t>
                        </m:r>
                      </m:sup>
                    </m:sSup>
                  </m:oMath>
                </a14:m>
                <a:r>
                  <a:rPr lang="es-PE" dirty="0"/>
                  <a:t>), dúctil (A%= 30-60%), muy tenaz (bajísima ITT). Pero no es estable a </a:t>
                </a:r>
                <a:r>
                  <a:rPr lang="es-PE" dirty="0" err="1"/>
                  <a:t>T°</a:t>
                </a:r>
                <a:r>
                  <a:rPr lang="es-PE" dirty="0"/>
                  <a:t> ambiente.</a:t>
                </a:r>
              </a:p>
            </p:txBody>
          </p:sp>
        </mc:Choice>
        <mc:Fallback xmlns="">
          <p:sp>
            <p:nvSpPr>
              <p:cNvPr id="5" name="CuadroTexto 4">
                <a:extLst>
                  <a:ext uri="{FF2B5EF4-FFF2-40B4-BE49-F238E27FC236}">
                    <a16:creationId xmlns:a16="http://schemas.microsoft.com/office/drawing/2014/main" id="{06352397-62A4-4F73-85B6-B853DDAE0098}"/>
                  </a:ext>
                </a:extLst>
              </p:cNvPr>
              <p:cNvSpPr txBox="1">
                <a:spLocks noRot="1" noChangeAspect="1" noMove="1" noResize="1" noEditPoints="1" noAdjustHandles="1" noChangeArrowheads="1" noChangeShapeType="1" noTextEdit="1"/>
              </p:cNvSpPr>
              <p:nvPr/>
            </p:nvSpPr>
            <p:spPr>
              <a:xfrm>
                <a:off x="150745" y="1435041"/>
                <a:ext cx="4744278" cy="1200329"/>
              </a:xfrm>
              <a:prstGeom prst="rect">
                <a:avLst/>
              </a:prstGeom>
              <a:blipFill>
                <a:blip r:embed="rId2"/>
                <a:stretch>
                  <a:fillRect l="-1157" r="-900" b="-7107"/>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0889339A-3CAF-4F92-8032-98F013376501}"/>
                  </a:ext>
                </a:extLst>
              </p:cNvPr>
              <p:cNvSpPr txBox="1"/>
              <p:nvPr/>
            </p:nvSpPr>
            <p:spPr>
              <a:xfrm>
                <a:off x="124583" y="2789877"/>
                <a:ext cx="4744278" cy="94699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ES" b="1" i="1" smtClean="0">
                          <a:solidFill>
                            <a:srgbClr val="8C1F1C"/>
                          </a:solidFill>
                          <a:latin typeface="Cambria Math" panose="02040503050406030204" pitchFamily="18" charset="0"/>
                          <a:ea typeface="Cambria Math" panose="02040503050406030204" pitchFamily="18" charset="0"/>
                        </a:rPr>
                        <m:t>𝜶</m:t>
                      </m:r>
                      <m:r>
                        <a:rPr lang="es-ES" b="1" i="1" smtClean="0">
                          <a:solidFill>
                            <a:srgbClr val="8C1F1C"/>
                          </a:solidFill>
                          <a:latin typeface="Cambria Math" panose="02040503050406030204" pitchFamily="18" charset="0"/>
                          <a:ea typeface="Cambria Math" panose="02040503050406030204" pitchFamily="18" charset="0"/>
                        </a:rPr>
                        <m:t>:</m:t>
                      </m:r>
                      <m:r>
                        <a:rPr lang="es-ES" b="1" i="1" smtClean="0">
                          <a:solidFill>
                            <a:srgbClr val="8C1F1C"/>
                          </a:solidFill>
                          <a:latin typeface="Cambria Math" panose="02040503050406030204" pitchFamily="18" charset="0"/>
                          <a:ea typeface="Cambria Math" panose="02040503050406030204" pitchFamily="18" charset="0"/>
                        </a:rPr>
                        <m:t>𝑭𝒆𝒓𝒓𝒊𝒕𝒂</m:t>
                      </m:r>
                      <m:r>
                        <a:rPr lang="es-ES" b="1" i="1" smtClean="0">
                          <a:solidFill>
                            <a:srgbClr val="8C1F1C"/>
                          </a:solidFill>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𝑠𝑜𝑙𝑢𝑐𝑖</m:t>
                      </m:r>
                      <m:r>
                        <a:rPr lang="es-ES" b="0" i="1" smtClean="0">
                          <a:latin typeface="Cambria Math" panose="02040503050406030204" pitchFamily="18" charset="0"/>
                          <a:ea typeface="Cambria Math" panose="02040503050406030204" pitchFamily="18" charset="0"/>
                        </a:rPr>
                        <m:t>ó</m:t>
                      </m:r>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𝑠</m:t>
                      </m:r>
                      <m:r>
                        <a:rPr lang="es-ES" b="0" i="1" smtClean="0">
                          <a:latin typeface="Cambria Math" panose="02040503050406030204" pitchFamily="18" charset="0"/>
                          <a:ea typeface="Cambria Math" panose="02040503050406030204" pitchFamily="18" charset="0"/>
                        </a:rPr>
                        <m:t>ó</m:t>
                      </m:r>
                      <m:r>
                        <a:rPr lang="es-ES" b="0" i="1" smtClean="0">
                          <a:latin typeface="Cambria Math" panose="02040503050406030204" pitchFamily="18" charset="0"/>
                          <a:ea typeface="Cambria Math" panose="02040503050406030204" pitchFamily="18" charset="0"/>
                        </a:rPr>
                        <m:t>𝑙𝑖𝑑𝑎</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𝑑𝑒</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𝐶</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𝑒𝑛</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𝐹𝑒</m:t>
                      </m:r>
                      <m:r>
                        <a:rPr lang="es-ES" b="0"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m:t>
                      </m:r>
                    </m:oMath>
                  </m:oMathPara>
                </a14:m>
                <a:endParaRPr lang="es-PE" dirty="0"/>
              </a:p>
              <a:p>
                <a:r>
                  <a:rPr lang="es-ES" dirty="0"/>
                  <a:t>M</a:t>
                </a:r>
                <a:r>
                  <a:rPr lang="es-PE" dirty="0"/>
                  <a:t>uy deformable (A%= 40%) y poco resistente (</a:t>
                </a:r>
                <a14:m>
                  <m:oMath xmlns:m="http://schemas.openxmlformats.org/officeDocument/2006/math">
                    <m:sSub>
                      <m:sSubPr>
                        <m:ctrlPr>
                          <a:rPr lang="es-PE" i="1" smtClean="0">
                            <a:latin typeface="Cambria Math" panose="02040503050406030204" pitchFamily="18" charset="0"/>
                          </a:rPr>
                        </m:ctrlPr>
                      </m:sSubPr>
                      <m:e>
                        <m:r>
                          <a:rPr lang="es-PE" i="1" smtClean="0">
                            <a:latin typeface="Cambria Math" panose="02040503050406030204" pitchFamily="18" charset="0"/>
                            <a:ea typeface="Cambria Math" panose="02040503050406030204" pitchFamily="18" charset="0"/>
                          </a:rPr>
                          <m:t>𝜎</m:t>
                        </m:r>
                      </m:e>
                      <m:sub>
                        <m:r>
                          <a:rPr lang="es-ES" b="0" i="1" smtClean="0">
                            <a:latin typeface="Cambria Math" panose="02040503050406030204" pitchFamily="18" charset="0"/>
                          </a:rPr>
                          <m:t>𝑚</m:t>
                        </m:r>
                      </m:sub>
                    </m:sSub>
                    <m:r>
                      <a:rPr lang="es-ES" b="0" i="1" smtClean="0">
                        <a:latin typeface="Cambria Math" panose="02040503050406030204" pitchFamily="18" charset="0"/>
                      </a:rPr>
                      <m:t>=30 </m:t>
                    </m:r>
                    <m:r>
                      <a:rPr lang="es-ES" b="0" i="1" smtClean="0">
                        <a:latin typeface="Cambria Math" panose="02040503050406030204" pitchFamily="18" charset="0"/>
                      </a:rPr>
                      <m:t>𝑘𝑔</m:t>
                    </m:r>
                    <m:r>
                      <a:rPr lang="es-ES" b="0" i="1" smtClean="0">
                        <a:latin typeface="Cambria Math" panose="02040503050406030204" pitchFamily="18" charset="0"/>
                      </a:rPr>
                      <m:t>/</m:t>
                    </m:r>
                    <m:r>
                      <a:rPr lang="es-ES" b="0" i="1" smtClean="0">
                        <a:latin typeface="Cambria Math" panose="02040503050406030204" pitchFamily="18" charset="0"/>
                      </a:rPr>
                      <m:t>𝑚</m:t>
                    </m:r>
                    <m:sSup>
                      <m:sSupPr>
                        <m:ctrlPr>
                          <a:rPr lang="es-ES" b="0" i="1" smtClean="0">
                            <a:latin typeface="Cambria Math" panose="02040503050406030204" pitchFamily="18" charset="0"/>
                          </a:rPr>
                        </m:ctrlPr>
                      </m:sSupPr>
                      <m:e>
                        <m:r>
                          <a:rPr lang="es-ES" b="0" i="1" smtClean="0">
                            <a:latin typeface="Cambria Math" panose="02040503050406030204" pitchFamily="18" charset="0"/>
                          </a:rPr>
                          <m:t>𝑚</m:t>
                        </m:r>
                      </m:e>
                      <m:sup>
                        <m:r>
                          <a:rPr lang="es-ES" b="0" i="1" smtClean="0">
                            <a:latin typeface="Cambria Math" panose="02040503050406030204" pitchFamily="18" charset="0"/>
                          </a:rPr>
                          <m:t>2</m:t>
                        </m:r>
                      </m:sup>
                    </m:sSup>
                  </m:oMath>
                </a14:m>
                <a:r>
                  <a:rPr lang="es-PE" dirty="0"/>
                  <a:t>)</a:t>
                </a:r>
              </a:p>
            </p:txBody>
          </p:sp>
        </mc:Choice>
        <mc:Fallback xmlns="">
          <p:sp>
            <p:nvSpPr>
              <p:cNvPr id="6" name="CuadroTexto 5">
                <a:extLst>
                  <a:ext uri="{FF2B5EF4-FFF2-40B4-BE49-F238E27FC236}">
                    <a16:creationId xmlns:a16="http://schemas.microsoft.com/office/drawing/2014/main" id="{0889339A-3CAF-4F92-8032-98F013376501}"/>
                  </a:ext>
                </a:extLst>
              </p:cNvPr>
              <p:cNvSpPr txBox="1">
                <a:spLocks noRot="1" noChangeAspect="1" noMove="1" noResize="1" noEditPoints="1" noAdjustHandles="1" noChangeArrowheads="1" noChangeShapeType="1" noTextEdit="1"/>
              </p:cNvSpPr>
              <p:nvPr/>
            </p:nvSpPr>
            <p:spPr>
              <a:xfrm>
                <a:off x="124583" y="2789877"/>
                <a:ext cx="4744278" cy="946991"/>
              </a:xfrm>
              <a:prstGeom prst="rect">
                <a:avLst/>
              </a:prstGeom>
              <a:blipFill>
                <a:blip r:embed="rId3"/>
                <a:stretch>
                  <a:fillRect l="-1027" b="-7097"/>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BA1DB899-3277-46BE-83C1-E3BC088B1AFE}"/>
                  </a:ext>
                </a:extLst>
              </p:cNvPr>
              <p:cNvSpPr txBox="1"/>
              <p:nvPr/>
            </p:nvSpPr>
            <p:spPr>
              <a:xfrm>
                <a:off x="445785" y="3911848"/>
                <a:ext cx="5199157" cy="1200329"/>
              </a:xfrm>
              <a:prstGeom prst="rect">
                <a:avLst/>
              </a:prstGeom>
              <a:noFill/>
            </p:spPr>
            <p:txBody>
              <a:bodyPr wrap="square" rtlCol="0">
                <a:spAutoFit/>
              </a:bodyPr>
              <a:lstStyle/>
              <a:p>
                <a14:m>
                  <m:oMath xmlns:m="http://schemas.openxmlformats.org/officeDocument/2006/math">
                    <m:r>
                      <a:rPr lang="es-ES" b="1" i="1" smtClean="0">
                        <a:solidFill>
                          <a:srgbClr val="8C1F1C"/>
                        </a:solidFill>
                        <a:latin typeface="Cambria Math" panose="02040503050406030204" pitchFamily="18" charset="0"/>
                        <a:ea typeface="Cambria Math" panose="02040503050406030204" pitchFamily="18" charset="0"/>
                      </a:rPr>
                      <m:t>𝑷𝒆𝒓𝒍𝒊𝒕𝒂</m:t>
                    </m:r>
                    <m:r>
                      <a:rPr lang="es-ES" b="1" i="1" smtClean="0">
                        <a:solidFill>
                          <a:srgbClr val="8C1F1C"/>
                        </a:solidFill>
                        <a:latin typeface="Cambria Math" panose="02040503050406030204" pitchFamily="18" charset="0"/>
                        <a:ea typeface="Cambria Math" panose="02040503050406030204" pitchFamily="18" charset="0"/>
                      </a:rPr>
                      <m:t>:</m:t>
                    </m:r>
                  </m:oMath>
                </a14:m>
                <a:r>
                  <a:rPr lang="es-ES" b="1" i="1" dirty="0">
                    <a:solidFill>
                      <a:srgbClr val="8C1F1C"/>
                    </a:solidFill>
                    <a:latin typeface="Cambria Math" panose="02040503050406030204" pitchFamily="18" charset="0"/>
                    <a:ea typeface="Cambria Math" panose="02040503050406030204" pitchFamily="18" charset="0"/>
                  </a:rPr>
                  <a:t>  </a:t>
                </a:r>
              </a:p>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ea typeface="Cambria Math" panose="02040503050406030204" pitchFamily="18" charset="0"/>
                        </a:rPr>
                        <m:t>𝐹𝑒𝑟𝑟𝑖𝑡𝑎</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𝐶𝑒𝑚𝑒𝑛𝑡𝑖𝑡𝑎</m:t>
                      </m:r>
                      <m:r>
                        <a:rPr lang="es-ES" b="0" i="1" smtClean="0">
                          <a:latin typeface="Cambria Math" panose="02040503050406030204" pitchFamily="18" charset="0"/>
                          <a:ea typeface="Cambria Math" panose="02040503050406030204" pitchFamily="18" charset="0"/>
                        </a:rPr>
                        <m:t> </m:t>
                      </m:r>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𝑚𝑒𝑧𝑐𝑙𝑎</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𝑒𝑢𝑡𝑒𝑐𝑡𝑖𝑑𝑒</m:t>
                          </m:r>
                        </m:e>
                      </m:d>
                    </m:oMath>
                  </m:oMathPara>
                </a14:m>
                <a:endParaRPr lang="es-ES" b="0" dirty="0">
                  <a:ea typeface="Cambria Math" panose="02040503050406030204" pitchFamily="18" charset="0"/>
                </a:endParaRPr>
              </a:p>
              <a:p>
                <a:r>
                  <a:rPr lang="es-ES" dirty="0">
                    <a:ea typeface="Cambria Math" panose="02040503050406030204" pitchFamily="18" charset="0"/>
                  </a:rPr>
                  <a:t>Resistente </a:t>
                </a:r>
                <a:r>
                  <a:rPr lang="es-PE" dirty="0"/>
                  <a:t>(</a:t>
                </a:r>
                <a14:m>
                  <m:oMath xmlns:m="http://schemas.openxmlformats.org/officeDocument/2006/math">
                    <m:sSub>
                      <m:sSubPr>
                        <m:ctrlPr>
                          <a:rPr lang="es-PE" i="1">
                            <a:latin typeface="Cambria Math" panose="02040503050406030204" pitchFamily="18" charset="0"/>
                          </a:rPr>
                        </m:ctrlPr>
                      </m:sSubPr>
                      <m:e>
                        <m:r>
                          <a:rPr lang="es-PE" i="1">
                            <a:latin typeface="Cambria Math" panose="02040503050406030204" pitchFamily="18" charset="0"/>
                            <a:ea typeface="Cambria Math" panose="02040503050406030204" pitchFamily="18" charset="0"/>
                          </a:rPr>
                          <m:t>𝜎</m:t>
                        </m:r>
                      </m:e>
                      <m:sub>
                        <m:r>
                          <a:rPr lang="es-ES" i="1">
                            <a:latin typeface="Cambria Math" panose="02040503050406030204" pitchFamily="18" charset="0"/>
                          </a:rPr>
                          <m:t>𝑚</m:t>
                        </m:r>
                      </m:sub>
                    </m:sSub>
                    <m:r>
                      <a:rPr lang="es-ES" i="1">
                        <a:latin typeface="Cambria Math" panose="02040503050406030204" pitchFamily="18" charset="0"/>
                      </a:rPr>
                      <m:t>=</m:t>
                    </m:r>
                    <m:r>
                      <a:rPr lang="es-ES" b="0" i="1" smtClean="0">
                        <a:latin typeface="Cambria Math" panose="02040503050406030204" pitchFamily="18" charset="0"/>
                      </a:rPr>
                      <m:t>8</m:t>
                    </m:r>
                    <m:r>
                      <a:rPr lang="es-ES" i="1">
                        <a:latin typeface="Cambria Math" panose="02040503050406030204" pitchFamily="18" charset="0"/>
                      </a:rPr>
                      <m:t>0 </m:t>
                    </m:r>
                    <m:r>
                      <a:rPr lang="es-ES" i="1">
                        <a:latin typeface="Cambria Math" panose="02040503050406030204" pitchFamily="18" charset="0"/>
                      </a:rPr>
                      <m:t>𝑘𝑔</m:t>
                    </m:r>
                    <m:r>
                      <a:rPr lang="es-ES" i="1">
                        <a:latin typeface="Cambria Math" panose="02040503050406030204" pitchFamily="18" charset="0"/>
                      </a:rPr>
                      <m:t>/</m:t>
                    </m:r>
                    <m:r>
                      <a:rPr lang="es-ES" i="1">
                        <a:latin typeface="Cambria Math" panose="02040503050406030204" pitchFamily="18" charset="0"/>
                      </a:rPr>
                      <m:t>𝑚</m:t>
                    </m:r>
                    <m:sSup>
                      <m:sSupPr>
                        <m:ctrlPr>
                          <a:rPr lang="es-ES" i="1">
                            <a:latin typeface="Cambria Math" panose="02040503050406030204" pitchFamily="18" charset="0"/>
                          </a:rPr>
                        </m:ctrlPr>
                      </m:sSupPr>
                      <m:e>
                        <m:r>
                          <a:rPr lang="es-ES" i="1">
                            <a:latin typeface="Cambria Math" panose="02040503050406030204" pitchFamily="18" charset="0"/>
                          </a:rPr>
                          <m:t>𝑚</m:t>
                        </m:r>
                      </m:e>
                      <m:sup>
                        <m:r>
                          <a:rPr lang="es-ES" i="1">
                            <a:latin typeface="Cambria Math" panose="02040503050406030204" pitchFamily="18" charset="0"/>
                          </a:rPr>
                          <m:t>2</m:t>
                        </m:r>
                      </m:sup>
                    </m:sSup>
                  </m:oMath>
                </a14:m>
                <a:r>
                  <a:rPr lang="es-PE" dirty="0"/>
                  <a:t>), poco tenaz</a:t>
                </a:r>
                <a:endParaRPr lang="es-ES" b="0" dirty="0">
                  <a:ea typeface="Cambria Math" panose="02040503050406030204" pitchFamily="18" charset="0"/>
                </a:endParaRPr>
              </a:p>
              <a:p>
                <a:endParaRPr lang="es-PE" dirty="0"/>
              </a:p>
            </p:txBody>
          </p:sp>
        </mc:Choice>
        <mc:Fallback xmlns="">
          <p:sp>
            <p:nvSpPr>
              <p:cNvPr id="7" name="CuadroTexto 6">
                <a:extLst>
                  <a:ext uri="{FF2B5EF4-FFF2-40B4-BE49-F238E27FC236}">
                    <a16:creationId xmlns:a16="http://schemas.microsoft.com/office/drawing/2014/main" id="{BA1DB899-3277-46BE-83C1-E3BC088B1AFE}"/>
                  </a:ext>
                </a:extLst>
              </p:cNvPr>
              <p:cNvSpPr txBox="1">
                <a:spLocks noRot="1" noChangeAspect="1" noMove="1" noResize="1" noEditPoints="1" noAdjustHandles="1" noChangeArrowheads="1" noChangeShapeType="1" noTextEdit="1"/>
              </p:cNvSpPr>
              <p:nvPr/>
            </p:nvSpPr>
            <p:spPr>
              <a:xfrm>
                <a:off x="445785" y="3911848"/>
                <a:ext cx="5199157" cy="1200329"/>
              </a:xfrm>
              <a:prstGeom prst="rect">
                <a:avLst/>
              </a:prstGeom>
              <a:blipFill>
                <a:blip r:embed="rId4"/>
                <a:stretch>
                  <a:fillRect l="-938"/>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70656139-55D9-44C9-BEBE-8279A3BC3833}"/>
                  </a:ext>
                </a:extLst>
              </p:cNvPr>
              <p:cNvSpPr txBox="1"/>
              <p:nvPr/>
            </p:nvSpPr>
            <p:spPr>
              <a:xfrm>
                <a:off x="445785" y="5209282"/>
                <a:ext cx="3724702" cy="1200329"/>
              </a:xfrm>
              <a:prstGeom prst="rect">
                <a:avLst/>
              </a:prstGeom>
              <a:noFill/>
            </p:spPr>
            <p:txBody>
              <a:bodyPr wrap="square" rtlCol="0">
                <a:spAutoFit/>
              </a:bodyPr>
              <a:lstStyle/>
              <a:p>
                <a:r>
                  <a:rPr lang="es-ES" b="1" dirty="0">
                    <a:solidFill>
                      <a:srgbClr val="8C1F1C"/>
                    </a:solidFill>
                    <a:ea typeface="Cambria Math" panose="02040503050406030204" pitchFamily="18" charset="0"/>
                  </a:rPr>
                  <a:t>Cementita</a:t>
                </a:r>
                <a:r>
                  <a:rPr lang="es-ES" dirty="0">
                    <a:ea typeface="Cambria Math" panose="02040503050406030204" pitchFamily="18" charset="0"/>
                  </a:rPr>
                  <a:t>:</a:t>
                </a:r>
                <a:endParaRPr lang="es-ES"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ea typeface="Cambria Math" panose="02040503050406030204" pitchFamily="18" charset="0"/>
                        </a:rPr>
                        <m:t>𝐶𝑜𝑚𝑝𝑢𝑒𝑠𝑡𝑜</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𝑓𝑜𝑟𝑚𝑎𝑑𝑜</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𝑒𝑛𝑡𝑟𝑒</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𝐹𝑒</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𝑦</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𝐶</m:t>
                      </m:r>
                      <m:r>
                        <a:rPr lang="es-ES" b="0" i="1" smtClean="0">
                          <a:latin typeface="Cambria Math" panose="02040503050406030204" pitchFamily="18" charset="0"/>
                          <a:ea typeface="Cambria Math" panose="02040503050406030204" pitchFamily="18" charset="0"/>
                        </a:rPr>
                        <m:t>:</m:t>
                      </m:r>
                    </m:oMath>
                  </m:oMathPara>
                </a14:m>
                <a:endParaRPr lang="es-ES"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ea typeface="Cambria Math" panose="02040503050406030204" pitchFamily="18" charset="0"/>
                        </a:rPr>
                        <m:t>𝐹</m:t>
                      </m:r>
                      <m:sSub>
                        <m:sSubPr>
                          <m:ctrlPr>
                            <a:rPr lang="es-ES" b="0" i="1" smtClean="0">
                              <a:latin typeface="Cambria Math" panose="02040503050406030204" pitchFamily="18" charset="0"/>
                              <a:ea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𝑒</m:t>
                          </m:r>
                        </m:e>
                        <m:sub>
                          <m:r>
                            <a:rPr lang="es-ES" b="0" i="1" smtClean="0">
                              <a:latin typeface="Cambria Math" panose="02040503050406030204" pitchFamily="18" charset="0"/>
                              <a:ea typeface="Cambria Math" panose="02040503050406030204" pitchFamily="18" charset="0"/>
                            </a:rPr>
                            <m:t>3</m:t>
                          </m:r>
                        </m:sub>
                      </m:sSub>
                      <m:r>
                        <a:rPr lang="es-ES" b="0" i="1" smtClean="0">
                          <a:latin typeface="Cambria Math" panose="02040503050406030204" pitchFamily="18" charset="0"/>
                          <a:ea typeface="Cambria Math" panose="02040503050406030204" pitchFamily="18" charset="0"/>
                        </a:rPr>
                        <m:t>𝐶</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𝐶𝑎𝑟𝑏𝑢𝑟𝑜</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𝑑𝑒</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𝐹𝑒</m:t>
                      </m:r>
                      <m:r>
                        <a:rPr lang="es-ES" b="0" i="1" smtClean="0">
                          <a:latin typeface="Cambria Math" panose="02040503050406030204" pitchFamily="18" charset="0"/>
                          <a:ea typeface="Cambria Math" panose="02040503050406030204" pitchFamily="18" charset="0"/>
                        </a:rPr>
                        <m:t>)</m:t>
                      </m:r>
                    </m:oMath>
                  </m:oMathPara>
                </a14:m>
                <a:endParaRPr lang="es-PE" dirty="0"/>
              </a:p>
              <a:p>
                <a:r>
                  <a:rPr lang="es-ES" dirty="0"/>
                  <a:t>M</a:t>
                </a:r>
                <a:r>
                  <a:rPr lang="es-PE" dirty="0"/>
                  <a:t>uy duro (69 HRC), muy frágil</a:t>
                </a:r>
              </a:p>
            </p:txBody>
          </p:sp>
        </mc:Choice>
        <mc:Fallback xmlns="">
          <p:sp>
            <p:nvSpPr>
              <p:cNvPr id="8" name="CuadroTexto 7">
                <a:extLst>
                  <a:ext uri="{FF2B5EF4-FFF2-40B4-BE49-F238E27FC236}">
                    <a16:creationId xmlns:a16="http://schemas.microsoft.com/office/drawing/2014/main" id="{70656139-55D9-44C9-BEBE-8279A3BC3833}"/>
                  </a:ext>
                </a:extLst>
              </p:cNvPr>
              <p:cNvSpPr txBox="1">
                <a:spLocks noRot="1" noChangeAspect="1" noMove="1" noResize="1" noEditPoints="1" noAdjustHandles="1" noChangeArrowheads="1" noChangeShapeType="1" noTextEdit="1"/>
              </p:cNvSpPr>
              <p:nvPr/>
            </p:nvSpPr>
            <p:spPr>
              <a:xfrm>
                <a:off x="445785" y="5209282"/>
                <a:ext cx="3724702" cy="1200329"/>
              </a:xfrm>
              <a:prstGeom prst="rect">
                <a:avLst/>
              </a:prstGeom>
              <a:blipFill>
                <a:blip r:embed="rId5"/>
                <a:stretch>
                  <a:fillRect l="-1309" t="-3061" b="-7653"/>
                </a:stretch>
              </a:blipFill>
            </p:spPr>
            <p:txBody>
              <a:bodyPr/>
              <a:lstStyle/>
              <a:p>
                <a:r>
                  <a:rPr lang="es-PE">
                    <a:noFill/>
                  </a:rPr>
                  <a:t> </a:t>
                </a:r>
              </a:p>
            </p:txBody>
          </p:sp>
        </mc:Fallback>
      </mc:AlternateContent>
      <p:grpSp>
        <p:nvGrpSpPr>
          <p:cNvPr id="21685" name="Grupo 21684">
            <a:extLst>
              <a:ext uri="{FF2B5EF4-FFF2-40B4-BE49-F238E27FC236}">
                <a16:creationId xmlns:a16="http://schemas.microsoft.com/office/drawing/2014/main" id="{F1B68954-A8B1-4767-B094-2459850A8ABA}"/>
              </a:ext>
            </a:extLst>
          </p:cNvPr>
          <p:cNvGrpSpPr/>
          <p:nvPr/>
        </p:nvGrpSpPr>
        <p:grpSpPr>
          <a:xfrm>
            <a:off x="4972921" y="1012758"/>
            <a:ext cx="6380879" cy="5300174"/>
            <a:chOff x="4972921" y="1012758"/>
            <a:chExt cx="6380879" cy="5300174"/>
          </a:xfrm>
        </p:grpSpPr>
        <p:sp>
          <p:nvSpPr>
            <p:cNvPr id="9" name="CuadroTexto 8">
              <a:extLst>
                <a:ext uri="{FF2B5EF4-FFF2-40B4-BE49-F238E27FC236}">
                  <a16:creationId xmlns:a16="http://schemas.microsoft.com/office/drawing/2014/main" id="{418695A6-319D-41B4-9D3D-499AEC022CB0}"/>
                </a:ext>
              </a:extLst>
            </p:cNvPr>
            <p:cNvSpPr txBox="1"/>
            <p:nvPr/>
          </p:nvSpPr>
          <p:spPr>
            <a:xfrm>
              <a:off x="6484246" y="4360654"/>
              <a:ext cx="1484244" cy="646331"/>
            </a:xfrm>
            <a:prstGeom prst="rect">
              <a:avLst/>
            </a:prstGeom>
            <a:noFill/>
          </p:spPr>
          <p:txBody>
            <a:bodyPr wrap="square" rtlCol="0">
              <a:spAutoFit/>
            </a:bodyPr>
            <a:lstStyle/>
            <a:p>
              <a:r>
                <a:rPr lang="es-ES" dirty="0"/>
                <a:t>Perlita + ferrita</a:t>
              </a:r>
              <a:endParaRPr lang="es-PE" dirty="0"/>
            </a:p>
          </p:txBody>
        </p:sp>
        <p:sp>
          <p:nvSpPr>
            <p:cNvPr id="10" name="CuadroTexto 9">
              <a:extLst>
                <a:ext uri="{FF2B5EF4-FFF2-40B4-BE49-F238E27FC236}">
                  <a16:creationId xmlns:a16="http://schemas.microsoft.com/office/drawing/2014/main" id="{9B6FE9C2-FF1D-45AE-B5A7-01E7706309C3}"/>
                </a:ext>
              </a:extLst>
            </p:cNvPr>
            <p:cNvSpPr txBox="1"/>
            <p:nvPr/>
          </p:nvSpPr>
          <p:spPr>
            <a:xfrm>
              <a:off x="9354298" y="4360653"/>
              <a:ext cx="1484244" cy="646331"/>
            </a:xfrm>
            <a:prstGeom prst="rect">
              <a:avLst/>
            </a:prstGeom>
            <a:noFill/>
          </p:spPr>
          <p:txBody>
            <a:bodyPr wrap="square" rtlCol="0">
              <a:spAutoFit/>
            </a:bodyPr>
            <a:lstStyle/>
            <a:p>
              <a:r>
                <a:rPr lang="es-ES" dirty="0"/>
                <a:t>Perlita + cementita</a:t>
              </a:r>
              <a:endParaRPr lang="es-PE" dirty="0"/>
            </a:p>
          </p:txBody>
        </p:sp>
        <p:cxnSp>
          <p:nvCxnSpPr>
            <p:cNvPr id="21651" name="Conector recto de flecha 21650">
              <a:extLst>
                <a:ext uri="{FF2B5EF4-FFF2-40B4-BE49-F238E27FC236}">
                  <a16:creationId xmlns:a16="http://schemas.microsoft.com/office/drawing/2014/main" id="{F992218A-9D1F-4B9D-9385-4ABDEA95C9C7}"/>
                </a:ext>
              </a:extLst>
            </p:cNvPr>
            <p:cNvCxnSpPr>
              <a:cxnSpLocks/>
            </p:cNvCxnSpPr>
            <p:nvPr/>
          </p:nvCxnSpPr>
          <p:spPr>
            <a:xfrm flipV="1">
              <a:off x="5905500" y="5254464"/>
              <a:ext cx="4933042" cy="8384"/>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653" name="Conector recto de flecha 21652">
              <a:extLst>
                <a:ext uri="{FF2B5EF4-FFF2-40B4-BE49-F238E27FC236}">
                  <a16:creationId xmlns:a16="http://schemas.microsoft.com/office/drawing/2014/main" id="{9B1C6021-50C2-481A-B82E-BE79C4AF6ABA}"/>
                </a:ext>
              </a:extLst>
            </p:cNvPr>
            <p:cNvCxnSpPr>
              <a:cxnSpLocks/>
            </p:cNvCxnSpPr>
            <p:nvPr/>
          </p:nvCxnSpPr>
          <p:spPr>
            <a:xfrm flipH="1" flipV="1">
              <a:off x="5901276" y="1333500"/>
              <a:ext cx="4224" cy="39293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655" name="Conector recto 21654">
              <a:extLst>
                <a:ext uri="{FF2B5EF4-FFF2-40B4-BE49-F238E27FC236}">
                  <a16:creationId xmlns:a16="http://schemas.microsoft.com/office/drawing/2014/main" id="{979D8A48-CA49-49D9-9C9E-3434ABF82402}"/>
                </a:ext>
              </a:extLst>
            </p:cNvPr>
            <p:cNvCxnSpPr>
              <a:cxnSpLocks/>
            </p:cNvCxnSpPr>
            <p:nvPr/>
          </p:nvCxnSpPr>
          <p:spPr>
            <a:xfrm>
              <a:off x="6400800" y="3778515"/>
              <a:ext cx="4400550" cy="0"/>
            </a:xfrm>
            <a:prstGeom prst="line">
              <a:avLst/>
            </a:prstGeom>
          </p:spPr>
          <p:style>
            <a:lnRef idx="1">
              <a:schemeClr val="accent1"/>
            </a:lnRef>
            <a:fillRef idx="0">
              <a:schemeClr val="accent1"/>
            </a:fillRef>
            <a:effectRef idx="0">
              <a:schemeClr val="accent1"/>
            </a:effectRef>
            <a:fontRef idx="minor">
              <a:schemeClr val="tx1"/>
            </a:fontRef>
          </p:style>
        </p:cxnSp>
        <p:sp>
          <p:nvSpPr>
            <p:cNvPr id="21657" name="Forma libre: forma 21656">
              <a:extLst>
                <a:ext uri="{FF2B5EF4-FFF2-40B4-BE49-F238E27FC236}">
                  <a16:creationId xmlns:a16="http://schemas.microsoft.com/office/drawing/2014/main" id="{5CCED4D3-3D4E-4321-BB89-57DC229AFB5D}"/>
                </a:ext>
              </a:extLst>
            </p:cNvPr>
            <p:cNvSpPr/>
            <p:nvPr/>
          </p:nvSpPr>
          <p:spPr>
            <a:xfrm>
              <a:off x="5901276" y="3778515"/>
              <a:ext cx="503746" cy="1484332"/>
            </a:xfrm>
            <a:custGeom>
              <a:avLst/>
              <a:gdLst>
                <a:gd name="connsiteX0" fmla="*/ 503746 w 503746"/>
                <a:gd name="connsiteY0" fmla="*/ 0 h 1484332"/>
                <a:gd name="connsiteX1" fmla="*/ 313246 w 503746"/>
                <a:gd name="connsiteY1" fmla="*/ 266700 h 1484332"/>
                <a:gd name="connsiteX2" fmla="*/ 27496 w 503746"/>
                <a:gd name="connsiteY2" fmla="*/ 1371600 h 1484332"/>
                <a:gd name="connsiteX3" fmla="*/ 27496 w 503746"/>
                <a:gd name="connsiteY3" fmla="*/ 1390650 h 1484332"/>
              </a:gdLst>
              <a:ahLst/>
              <a:cxnLst>
                <a:cxn ang="0">
                  <a:pos x="connsiteX0" y="connsiteY0"/>
                </a:cxn>
                <a:cxn ang="0">
                  <a:pos x="connsiteX1" y="connsiteY1"/>
                </a:cxn>
                <a:cxn ang="0">
                  <a:pos x="connsiteX2" y="connsiteY2"/>
                </a:cxn>
                <a:cxn ang="0">
                  <a:pos x="connsiteX3" y="connsiteY3"/>
                </a:cxn>
              </a:cxnLst>
              <a:rect l="l" t="t" r="r" b="b"/>
              <a:pathLst>
                <a:path w="503746" h="1484332">
                  <a:moveTo>
                    <a:pt x="503746" y="0"/>
                  </a:moveTo>
                  <a:cubicBezTo>
                    <a:pt x="448183" y="19050"/>
                    <a:pt x="392621" y="38100"/>
                    <a:pt x="313246" y="266700"/>
                  </a:cubicBezTo>
                  <a:cubicBezTo>
                    <a:pt x="233871" y="495300"/>
                    <a:pt x="27496" y="1371600"/>
                    <a:pt x="27496" y="1371600"/>
                  </a:cubicBezTo>
                  <a:cubicBezTo>
                    <a:pt x="-20129" y="1558925"/>
                    <a:pt x="3683" y="1474787"/>
                    <a:pt x="27496" y="139065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21659" name="Conector recto 21658">
              <a:extLst>
                <a:ext uri="{FF2B5EF4-FFF2-40B4-BE49-F238E27FC236}">
                  <a16:creationId xmlns:a16="http://schemas.microsoft.com/office/drawing/2014/main" id="{2A5399C8-956D-41C7-8B7E-5F2A7F7ECA43}"/>
                </a:ext>
              </a:extLst>
            </p:cNvPr>
            <p:cNvCxnSpPr>
              <a:stCxn id="21657" idx="0"/>
            </p:cNvCxnSpPr>
            <p:nvPr/>
          </p:nvCxnSpPr>
          <p:spPr>
            <a:xfrm flipH="1" flipV="1">
              <a:off x="5905500" y="3276600"/>
              <a:ext cx="499522" cy="501915"/>
            </a:xfrm>
            <a:prstGeom prst="line">
              <a:avLst/>
            </a:prstGeom>
          </p:spPr>
          <p:style>
            <a:lnRef idx="1">
              <a:schemeClr val="accent1"/>
            </a:lnRef>
            <a:fillRef idx="0">
              <a:schemeClr val="accent1"/>
            </a:fillRef>
            <a:effectRef idx="0">
              <a:schemeClr val="accent1"/>
            </a:effectRef>
            <a:fontRef idx="minor">
              <a:schemeClr val="tx1"/>
            </a:fontRef>
          </p:style>
        </p:cxnSp>
        <p:cxnSp>
          <p:nvCxnSpPr>
            <p:cNvPr id="21661" name="Conector recto 21660">
              <a:extLst>
                <a:ext uri="{FF2B5EF4-FFF2-40B4-BE49-F238E27FC236}">
                  <a16:creationId xmlns:a16="http://schemas.microsoft.com/office/drawing/2014/main" id="{34E7FEB0-968B-450D-8D13-F3C206979F09}"/>
                </a:ext>
              </a:extLst>
            </p:cNvPr>
            <p:cNvCxnSpPr/>
            <p:nvPr/>
          </p:nvCxnSpPr>
          <p:spPr>
            <a:xfrm>
              <a:off x="5901276" y="3276600"/>
              <a:ext cx="2690274" cy="501915"/>
            </a:xfrm>
            <a:prstGeom prst="line">
              <a:avLst/>
            </a:prstGeom>
          </p:spPr>
          <p:style>
            <a:lnRef idx="1">
              <a:schemeClr val="accent1"/>
            </a:lnRef>
            <a:fillRef idx="0">
              <a:schemeClr val="accent1"/>
            </a:fillRef>
            <a:effectRef idx="0">
              <a:schemeClr val="accent1"/>
            </a:effectRef>
            <a:fontRef idx="minor">
              <a:schemeClr val="tx1"/>
            </a:fontRef>
          </p:style>
        </p:cxnSp>
        <p:cxnSp>
          <p:nvCxnSpPr>
            <p:cNvPr id="21663" name="Conector recto 21662">
              <a:extLst>
                <a:ext uri="{FF2B5EF4-FFF2-40B4-BE49-F238E27FC236}">
                  <a16:creationId xmlns:a16="http://schemas.microsoft.com/office/drawing/2014/main" id="{0B46CD27-1D3E-4C50-A72D-58DC08460B59}"/>
                </a:ext>
              </a:extLst>
            </p:cNvPr>
            <p:cNvCxnSpPr/>
            <p:nvPr/>
          </p:nvCxnSpPr>
          <p:spPr>
            <a:xfrm flipV="1">
              <a:off x="8591550" y="1800651"/>
              <a:ext cx="2209800" cy="19778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1665" name="Conector recto de flecha 21664">
              <a:extLst>
                <a:ext uri="{FF2B5EF4-FFF2-40B4-BE49-F238E27FC236}">
                  <a16:creationId xmlns:a16="http://schemas.microsoft.com/office/drawing/2014/main" id="{8113FCDC-8CC7-4F46-98B4-60CFBAAB853A}"/>
                </a:ext>
              </a:extLst>
            </p:cNvPr>
            <p:cNvCxnSpPr>
              <a:cxnSpLocks/>
            </p:cNvCxnSpPr>
            <p:nvPr/>
          </p:nvCxnSpPr>
          <p:spPr>
            <a:xfrm flipV="1">
              <a:off x="10838542" y="1012758"/>
              <a:ext cx="0" cy="42417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670" name="Conector recto 21669">
              <a:extLst>
                <a:ext uri="{FF2B5EF4-FFF2-40B4-BE49-F238E27FC236}">
                  <a16:creationId xmlns:a16="http://schemas.microsoft.com/office/drawing/2014/main" id="{5C054262-DBC3-45CB-BF82-412ADE91A7F2}"/>
                </a:ext>
              </a:extLst>
            </p:cNvPr>
            <p:cNvCxnSpPr/>
            <p:nvPr/>
          </p:nvCxnSpPr>
          <p:spPr>
            <a:xfrm>
              <a:off x="8601075" y="3778515"/>
              <a:ext cx="0" cy="1484332"/>
            </a:xfrm>
            <a:prstGeom prst="line">
              <a:avLst/>
            </a:prstGeom>
            <a:ln w="9525">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671" name="CuadroTexto 21670">
                  <a:extLst>
                    <a:ext uri="{FF2B5EF4-FFF2-40B4-BE49-F238E27FC236}">
                      <a16:creationId xmlns:a16="http://schemas.microsoft.com/office/drawing/2014/main" id="{1F45D00F-3EA9-4182-B858-22D055E82E09}"/>
                    </a:ext>
                  </a:extLst>
                </p:cNvPr>
                <p:cNvSpPr txBox="1"/>
                <p:nvPr/>
              </p:nvSpPr>
              <p:spPr>
                <a:xfrm>
                  <a:off x="10398672" y="5280134"/>
                  <a:ext cx="8953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𝐹</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𝑒</m:t>
                            </m:r>
                          </m:e>
                          <m:sub>
                            <m:r>
                              <a:rPr lang="es-ES" b="0" i="1" smtClean="0">
                                <a:latin typeface="Cambria Math" panose="02040503050406030204" pitchFamily="18" charset="0"/>
                              </a:rPr>
                              <m:t>3</m:t>
                            </m:r>
                          </m:sub>
                        </m:sSub>
                        <m:r>
                          <a:rPr lang="es-ES" b="0" i="1" smtClean="0">
                            <a:latin typeface="Cambria Math" panose="02040503050406030204" pitchFamily="18" charset="0"/>
                          </a:rPr>
                          <m:t>𝐶</m:t>
                        </m:r>
                      </m:oMath>
                    </m:oMathPara>
                  </a14:m>
                  <a:endParaRPr lang="es-PE" dirty="0"/>
                </a:p>
              </p:txBody>
            </p:sp>
          </mc:Choice>
          <mc:Fallback xmlns="">
            <p:sp>
              <p:nvSpPr>
                <p:cNvPr id="21671" name="CuadroTexto 21670">
                  <a:extLst>
                    <a:ext uri="{FF2B5EF4-FFF2-40B4-BE49-F238E27FC236}">
                      <a16:creationId xmlns:a16="http://schemas.microsoft.com/office/drawing/2014/main" id="{1F45D00F-3EA9-4182-B858-22D055E82E09}"/>
                    </a:ext>
                  </a:extLst>
                </p:cNvPr>
                <p:cNvSpPr txBox="1">
                  <a:spLocks noRot="1" noChangeAspect="1" noMove="1" noResize="1" noEditPoints="1" noAdjustHandles="1" noChangeArrowheads="1" noChangeShapeType="1" noTextEdit="1"/>
                </p:cNvSpPr>
                <p:nvPr/>
              </p:nvSpPr>
              <p:spPr>
                <a:xfrm>
                  <a:off x="10398672" y="5280134"/>
                  <a:ext cx="895350" cy="369332"/>
                </a:xfrm>
                <a:prstGeom prst="rect">
                  <a:avLst/>
                </a:prstGeom>
                <a:blipFill>
                  <a:blip r:embed="rId6"/>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21672" name="CuadroTexto 21671">
                  <a:extLst>
                    <a:ext uri="{FF2B5EF4-FFF2-40B4-BE49-F238E27FC236}">
                      <a16:creationId xmlns:a16="http://schemas.microsoft.com/office/drawing/2014/main" id="{62CBB362-9069-4AB4-B296-D44D501E6411}"/>
                    </a:ext>
                  </a:extLst>
                </p:cNvPr>
                <p:cNvSpPr txBox="1"/>
                <p:nvPr/>
              </p:nvSpPr>
              <p:spPr>
                <a:xfrm>
                  <a:off x="5791201" y="3673484"/>
                  <a:ext cx="503746" cy="37868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PE" i="1" smtClean="0">
                            <a:latin typeface="Cambria Math" panose="02040503050406030204" pitchFamily="18" charset="0"/>
                            <a:ea typeface="Cambria Math" panose="02040503050406030204" pitchFamily="18" charset="0"/>
                          </a:rPr>
                          <m:t>𝛼</m:t>
                        </m:r>
                      </m:oMath>
                    </m:oMathPara>
                  </a14:m>
                  <a:endParaRPr lang="es-PE" dirty="0"/>
                </a:p>
              </p:txBody>
            </p:sp>
          </mc:Choice>
          <mc:Fallback xmlns="">
            <p:sp>
              <p:nvSpPr>
                <p:cNvPr id="21672" name="CuadroTexto 21671">
                  <a:extLst>
                    <a:ext uri="{FF2B5EF4-FFF2-40B4-BE49-F238E27FC236}">
                      <a16:creationId xmlns:a16="http://schemas.microsoft.com/office/drawing/2014/main" id="{62CBB362-9069-4AB4-B296-D44D501E6411}"/>
                    </a:ext>
                  </a:extLst>
                </p:cNvPr>
                <p:cNvSpPr txBox="1">
                  <a:spLocks noRot="1" noChangeAspect="1" noMove="1" noResize="1" noEditPoints="1" noAdjustHandles="1" noChangeArrowheads="1" noChangeShapeType="1" noTextEdit="1"/>
                </p:cNvSpPr>
                <p:nvPr/>
              </p:nvSpPr>
              <p:spPr>
                <a:xfrm>
                  <a:off x="5791201" y="3673484"/>
                  <a:ext cx="503746" cy="378684"/>
                </a:xfrm>
                <a:prstGeom prst="rect">
                  <a:avLst/>
                </a:prstGeom>
                <a:blipFill>
                  <a:blip r:embed="rId7"/>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298" name="CuadroTexto 297">
                  <a:extLst>
                    <a:ext uri="{FF2B5EF4-FFF2-40B4-BE49-F238E27FC236}">
                      <a16:creationId xmlns:a16="http://schemas.microsoft.com/office/drawing/2014/main" id="{4FB411DE-64A3-45EB-BF84-1BDB2B8476B0}"/>
                    </a:ext>
                  </a:extLst>
                </p:cNvPr>
                <p:cNvSpPr txBox="1"/>
                <p:nvPr/>
              </p:nvSpPr>
              <p:spPr>
                <a:xfrm>
                  <a:off x="6363609" y="3443926"/>
                  <a:ext cx="76725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PE"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𝛾</m:t>
                        </m:r>
                      </m:oMath>
                    </m:oMathPara>
                  </a14:m>
                  <a:endParaRPr lang="es-PE" dirty="0"/>
                </a:p>
              </p:txBody>
            </p:sp>
          </mc:Choice>
          <mc:Fallback xmlns="">
            <p:sp>
              <p:nvSpPr>
                <p:cNvPr id="298" name="CuadroTexto 297">
                  <a:extLst>
                    <a:ext uri="{FF2B5EF4-FFF2-40B4-BE49-F238E27FC236}">
                      <a16:creationId xmlns:a16="http://schemas.microsoft.com/office/drawing/2014/main" id="{4FB411DE-64A3-45EB-BF84-1BDB2B8476B0}"/>
                    </a:ext>
                  </a:extLst>
                </p:cNvPr>
                <p:cNvSpPr txBox="1">
                  <a:spLocks noRot="1" noChangeAspect="1" noMove="1" noResize="1" noEditPoints="1" noAdjustHandles="1" noChangeArrowheads="1" noChangeShapeType="1" noTextEdit="1"/>
                </p:cNvSpPr>
                <p:nvPr/>
              </p:nvSpPr>
              <p:spPr>
                <a:xfrm>
                  <a:off x="6363609" y="3443926"/>
                  <a:ext cx="767255" cy="369332"/>
                </a:xfrm>
                <a:prstGeom prst="rect">
                  <a:avLst/>
                </a:prstGeom>
                <a:blipFill>
                  <a:blip r:embed="rId8"/>
                  <a:stretch>
                    <a:fillRect b="-3279"/>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299" name="CuadroTexto 298">
                  <a:extLst>
                    <a:ext uri="{FF2B5EF4-FFF2-40B4-BE49-F238E27FC236}">
                      <a16:creationId xmlns:a16="http://schemas.microsoft.com/office/drawing/2014/main" id="{58C54A82-F386-462D-A87A-6EF5A3DB5A36}"/>
                    </a:ext>
                  </a:extLst>
                </p:cNvPr>
                <p:cNvSpPr txBox="1"/>
                <p:nvPr/>
              </p:nvSpPr>
              <p:spPr>
                <a:xfrm>
                  <a:off x="7801471" y="2604917"/>
                  <a:ext cx="50374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PE" i="1" smtClean="0">
                            <a:latin typeface="Cambria Math" panose="02040503050406030204" pitchFamily="18" charset="0"/>
                            <a:ea typeface="Cambria Math" panose="02040503050406030204" pitchFamily="18" charset="0"/>
                          </a:rPr>
                          <m:t>𝛾</m:t>
                        </m:r>
                      </m:oMath>
                    </m:oMathPara>
                  </a14:m>
                  <a:endParaRPr lang="es-PE" dirty="0"/>
                </a:p>
              </p:txBody>
            </p:sp>
          </mc:Choice>
          <mc:Fallback xmlns="">
            <p:sp>
              <p:nvSpPr>
                <p:cNvPr id="299" name="CuadroTexto 298">
                  <a:extLst>
                    <a:ext uri="{FF2B5EF4-FFF2-40B4-BE49-F238E27FC236}">
                      <a16:creationId xmlns:a16="http://schemas.microsoft.com/office/drawing/2014/main" id="{58C54A82-F386-462D-A87A-6EF5A3DB5A36}"/>
                    </a:ext>
                  </a:extLst>
                </p:cNvPr>
                <p:cNvSpPr txBox="1">
                  <a:spLocks noRot="1" noChangeAspect="1" noMove="1" noResize="1" noEditPoints="1" noAdjustHandles="1" noChangeArrowheads="1" noChangeShapeType="1" noTextEdit="1"/>
                </p:cNvSpPr>
                <p:nvPr/>
              </p:nvSpPr>
              <p:spPr>
                <a:xfrm>
                  <a:off x="7801471" y="2604917"/>
                  <a:ext cx="503746" cy="369332"/>
                </a:xfrm>
                <a:prstGeom prst="rect">
                  <a:avLst/>
                </a:prstGeom>
                <a:blipFill>
                  <a:blip r:embed="rId9"/>
                  <a:stretch>
                    <a:fillRect b="-3279"/>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300" name="CuadroTexto 299">
                  <a:extLst>
                    <a:ext uri="{FF2B5EF4-FFF2-40B4-BE49-F238E27FC236}">
                      <a16:creationId xmlns:a16="http://schemas.microsoft.com/office/drawing/2014/main" id="{53AAF7A5-09FE-4D3E-B968-FC083F24C10B}"/>
                    </a:ext>
                  </a:extLst>
                </p:cNvPr>
                <p:cNvSpPr txBox="1"/>
                <p:nvPr/>
              </p:nvSpPr>
              <p:spPr>
                <a:xfrm>
                  <a:off x="9368378" y="2988510"/>
                  <a:ext cx="12874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ea typeface="Cambria Math" panose="02040503050406030204" pitchFamily="18" charset="0"/>
                          </a:rPr>
                          <m:t>𝛾</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𝐹</m:t>
                        </m:r>
                        <m:sSub>
                          <m:sSubPr>
                            <m:ctrlPr>
                              <a:rPr lang="es-ES" b="0" i="1" smtClean="0">
                                <a:latin typeface="Cambria Math" panose="02040503050406030204" pitchFamily="18" charset="0"/>
                                <a:ea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𝑒</m:t>
                            </m:r>
                          </m:e>
                          <m:sub>
                            <m:r>
                              <a:rPr lang="es-ES" b="0" i="1" smtClean="0">
                                <a:latin typeface="Cambria Math" panose="02040503050406030204" pitchFamily="18" charset="0"/>
                                <a:ea typeface="Cambria Math" panose="02040503050406030204" pitchFamily="18" charset="0"/>
                              </a:rPr>
                              <m:t>3</m:t>
                            </m:r>
                          </m:sub>
                        </m:sSub>
                        <m:r>
                          <a:rPr lang="es-ES" b="0" i="1" smtClean="0">
                            <a:latin typeface="Cambria Math" panose="02040503050406030204" pitchFamily="18" charset="0"/>
                            <a:ea typeface="Cambria Math" panose="02040503050406030204" pitchFamily="18" charset="0"/>
                          </a:rPr>
                          <m:t>𝐶</m:t>
                        </m:r>
                      </m:oMath>
                    </m:oMathPara>
                  </a14:m>
                  <a:endParaRPr lang="es-PE" dirty="0"/>
                </a:p>
              </p:txBody>
            </p:sp>
          </mc:Choice>
          <mc:Fallback xmlns="">
            <p:sp>
              <p:nvSpPr>
                <p:cNvPr id="300" name="CuadroTexto 299">
                  <a:extLst>
                    <a:ext uri="{FF2B5EF4-FFF2-40B4-BE49-F238E27FC236}">
                      <a16:creationId xmlns:a16="http://schemas.microsoft.com/office/drawing/2014/main" id="{53AAF7A5-09FE-4D3E-B968-FC083F24C10B}"/>
                    </a:ext>
                  </a:extLst>
                </p:cNvPr>
                <p:cNvSpPr txBox="1">
                  <a:spLocks noRot="1" noChangeAspect="1" noMove="1" noResize="1" noEditPoints="1" noAdjustHandles="1" noChangeArrowheads="1" noChangeShapeType="1" noTextEdit="1"/>
                </p:cNvSpPr>
                <p:nvPr/>
              </p:nvSpPr>
              <p:spPr>
                <a:xfrm>
                  <a:off x="9368378" y="2988510"/>
                  <a:ext cx="1287469" cy="369332"/>
                </a:xfrm>
                <a:prstGeom prst="rect">
                  <a:avLst/>
                </a:prstGeom>
                <a:blipFill>
                  <a:blip r:embed="rId10"/>
                  <a:stretch>
                    <a:fillRect b="-3279"/>
                  </a:stretch>
                </a:blipFill>
              </p:spPr>
              <p:txBody>
                <a:bodyPr/>
                <a:lstStyle/>
                <a:p>
                  <a:r>
                    <a:rPr lang="es-PE">
                      <a:noFill/>
                    </a:rPr>
                    <a:t> </a:t>
                  </a:r>
                </a:p>
              </p:txBody>
            </p:sp>
          </mc:Fallback>
        </mc:AlternateContent>
        <p:cxnSp>
          <p:nvCxnSpPr>
            <p:cNvPr id="21674" name="Conector recto de flecha 21673">
              <a:extLst>
                <a:ext uri="{FF2B5EF4-FFF2-40B4-BE49-F238E27FC236}">
                  <a16:creationId xmlns:a16="http://schemas.microsoft.com/office/drawing/2014/main" id="{22D2E42E-324A-4FC4-B3DF-CDB3712C2B0B}"/>
                </a:ext>
              </a:extLst>
            </p:cNvPr>
            <p:cNvCxnSpPr/>
            <p:nvPr/>
          </p:nvCxnSpPr>
          <p:spPr>
            <a:xfrm>
              <a:off x="7130864" y="5766785"/>
              <a:ext cx="22375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675" name="CuadroTexto 21674">
              <a:extLst>
                <a:ext uri="{FF2B5EF4-FFF2-40B4-BE49-F238E27FC236}">
                  <a16:creationId xmlns:a16="http://schemas.microsoft.com/office/drawing/2014/main" id="{B393E2C5-8D39-408E-9131-25BF3EE2EED5}"/>
                </a:ext>
              </a:extLst>
            </p:cNvPr>
            <p:cNvSpPr txBox="1"/>
            <p:nvPr/>
          </p:nvSpPr>
          <p:spPr>
            <a:xfrm>
              <a:off x="7801471" y="5943600"/>
              <a:ext cx="799604" cy="369332"/>
            </a:xfrm>
            <a:prstGeom prst="rect">
              <a:avLst/>
            </a:prstGeom>
            <a:noFill/>
          </p:spPr>
          <p:txBody>
            <a:bodyPr wrap="square" rtlCol="0">
              <a:spAutoFit/>
            </a:bodyPr>
            <a:lstStyle/>
            <a:p>
              <a:r>
                <a:rPr lang="es-ES" dirty="0"/>
                <a:t>%C</a:t>
              </a:r>
              <a:endParaRPr lang="es-PE" dirty="0"/>
            </a:p>
          </p:txBody>
        </p:sp>
        <p:sp>
          <p:nvSpPr>
            <p:cNvPr id="21676" name="CuadroTexto 21675">
              <a:extLst>
                <a:ext uri="{FF2B5EF4-FFF2-40B4-BE49-F238E27FC236}">
                  <a16:creationId xmlns:a16="http://schemas.microsoft.com/office/drawing/2014/main" id="{A350FAF5-C195-420E-BC74-878F9516EB1D}"/>
                </a:ext>
              </a:extLst>
            </p:cNvPr>
            <p:cNvSpPr txBox="1"/>
            <p:nvPr/>
          </p:nvSpPr>
          <p:spPr>
            <a:xfrm>
              <a:off x="5666302" y="5254464"/>
              <a:ext cx="628645" cy="369332"/>
            </a:xfrm>
            <a:prstGeom prst="rect">
              <a:avLst/>
            </a:prstGeom>
            <a:noFill/>
          </p:spPr>
          <p:txBody>
            <a:bodyPr wrap="square" rtlCol="0">
              <a:spAutoFit/>
            </a:bodyPr>
            <a:lstStyle/>
            <a:p>
              <a:r>
                <a:rPr lang="es-ES" dirty="0"/>
                <a:t>Fe</a:t>
              </a:r>
              <a:endParaRPr lang="es-PE" dirty="0"/>
            </a:p>
          </p:txBody>
        </p:sp>
        <p:sp>
          <p:nvSpPr>
            <p:cNvPr id="21677" name="CuadroTexto 21676">
              <a:extLst>
                <a:ext uri="{FF2B5EF4-FFF2-40B4-BE49-F238E27FC236}">
                  <a16:creationId xmlns:a16="http://schemas.microsoft.com/office/drawing/2014/main" id="{21DE2744-3E7B-43AB-8831-AD9389ACB65E}"/>
                </a:ext>
              </a:extLst>
            </p:cNvPr>
            <p:cNvSpPr txBox="1"/>
            <p:nvPr/>
          </p:nvSpPr>
          <p:spPr>
            <a:xfrm>
              <a:off x="10458450" y="5624781"/>
              <a:ext cx="895350" cy="369332"/>
            </a:xfrm>
            <a:prstGeom prst="rect">
              <a:avLst/>
            </a:prstGeom>
            <a:noFill/>
          </p:spPr>
          <p:txBody>
            <a:bodyPr wrap="square" rtlCol="0">
              <a:spAutoFit/>
            </a:bodyPr>
            <a:lstStyle/>
            <a:p>
              <a:r>
                <a:rPr lang="es-ES" dirty="0"/>
                <a:t>6,67%C</a:t>
              </a:r>
              <a:endParaRPr lang="es-PE" dirty="0"/>
            </a:p>
          </p:txBody>
        </p:sp>
        <p:sp>
          <p:nvSpPr>
            <p:cNvPr id="21682" name="CuadroTexto 21681">
              <a:extLst>
                <a:ext uri="{FF2B5EF4-FFF2-40B4-BE49-F238E27FC236}">
                  <a16:creationId xmlns:a16="http://schemas.microsoft.com/office/drawing/2014/main" id="{F71A81E9-7F7B-4AAD-BD84-0D310622EC5B}"/>
                </a:ext>
              </a:extLst>
            </p:cNvPr>
            <p:cNvSpPr txBox="1"/>
            <p:nvPr/>
          </p:nvSpPr>
          <p:spPr>
            <a:xfrm>
              <a:off x="4972921" y="1261025"/>
              <a:ext cx="602379" cy="369332"/>
            </a:xfrm>
            <a:prstGeom prst="rect">
              <a:avLst/>
            </a:prstGeom>
            <a:noFill/>
          </p:spPr>
          <p:txBody>
            <a:bodyPr wrap="square" rtlCol="0">
              <a:spAutoFit/>
            </a:bodyPr>
            <a:lstStyle/>
            <a:p>
              <a:r>
                <a:rPr lang="es-ES" dirty="0" err="1"/>
                <a:t>T°C</a:t>
              </a:r>
              <a:endParaRPr lang="es-PE" dirty="0"/>
            </a:p>
          </p:txBody>
        </p:sp>
        <p:sp>
          <p:nvSpPr>
            <p:cNvPr id="21683" name="CuadroTexto 21682">
              <a:extLst>
                <a:ext uri="{FF2B5EF4-FFF2-40B4-BE49-F238E27FC236}">
                  <a16:creationId xmlns:a16="http://schemas.microsoft.com/office/drawing/2014/main" id="{CAF241B2-B1A1-4524-B477-BBA09E58A61C}"/>
                </a:ext>
              </a:extLst>
            </p:cNvPr>
            <p:cNvSpPr txBox="1"/>
            <p:nvPr/>
          </p:nvSpPr>
          <p:spPr>
            <a:xfrm>
              <a:off x="4972921" y="3072269"/>
              <a:ext cx="818280" cy="369332"/>
            </a:xfrm>
            <a:prstGeom prst="rect">
              <a:avLst/>
            </a:prstGeom>
            <a:noFill/>
          </p:spPr>
          <p:txBody>
            <a:bodyPr wrap="square" rtlCol="0">
              <a:spAutoFit/>
            </a:bodyPr>
            <a:lstStyle/>
            <a:p>
              <a:r>
                <a:rPr lang="es-ES" dirty="0"/>
                <a:t>912°C</a:t>
              </a:r>
              <a:endParaRPr lang="es-PE" dirty="0"/>
            </a:p>
          </p:txBody>
        </p:sp>
        <p:sp>
          <p:nvSpPr>
            <p:cNvPr id="21684" name="CuadroTexto 21683">
              <a:extLst>
                <a:ext uri="{FF2B5EF4-FFF2-40B4-BE49-F238E27FC236}">
                  <a16:creationId xmlns:a16="http://schemas.microsoft.com/office/drawing/2014/main" id="{313A9A8A-5147-4A33-B350-48D2E553C681}"/>
                </a:ext>
              </a:extLst>
            </p:cNvPr>
            <p:cNvSpPr txBox="1"/>
            <p:nvPr/>
          </p:nvSpPr>
          <p:spPr>
            <a:xfrm>
              <a:off x="8991600" y="3443926"/>
              <a:ext cx="825314" cy="369332"/>
            </a:xfrm>
            <a:prstGeom prst="rect">
              <a:avLst/>
            </a:prstGeom>
            <a:noFill/>
          </p:spPr>
          <p:txBody>
            <a:bodyPr wrap="square" rtlCol="0">
              <a:spAutoFit/>
            </a:bodyPr>
            <a:lstStyle/>
            <a:p>
              <a:r>
                <a:rPr lang="es-ES" dirty="0"/>
                <a:t>727°C</a:t>
              </a:r>
              <a:endParaRPr lang="es-PE" dirty="0"/>
            </a:p>
          </p:txBody>
        </p:sp>
      </p:grpSp>
      <p:sp>
        <p:nvSpPr>
          <p:cNvPr id="3" name="CuadroTexto 2">
            <a:extLst>
              <a:ext uri="{FF2B5EF4-FFF2-40B4-BE49-F238E27FC236}">
                <a16:creationId xmlns:a16="http://schemas.microsoft.com/office/drawing/2014/main" id="{F6FF8A67-898F-4D38-BA90-C1C217EC0186}"/>
              </a:ext>
            </a:extLst>
          </p:cNvPr>
          <p:cNvSpPr txBox="1"/>
          <p:nvPr/>
        </p:nvSpPr>
        <p:spPr>
          <a:xfrm>
            <a:off x="8112075" y="5395915"/>
            <a:ext cx="1579072" cy="307777"/>
          </a:xfrm>
          <a:prstGeom prst="rect">
            <a:avLst/>
          </a:prstGeom>
          <a:noFill/>
        </p:spPr>
        <p:txBody>
          <a:bodyPr wrap="square" rtlCol="0">
            <a:spAutoFit/>
          </a:bodyPr>
          <a:lstStyle/>
          <a:p>
            <a:r>
              <a:rPr lang="es-ES" sz="1400" dirty="0"/>
              <a:t>Perlita (0,77%C)</a:t>
            </a:r>
            <a:endParaRPr lang="es-PE" sz="1400" dirty="0"/>
          </a:p>
        </p:txBody>
      </p:sp>
      <p:cxnSp>
        <p:nvCxnSpPr>
          <p:cNvPr id="11" name="Conector recto de flecha 10">
            <a:extLst>
              <a:ext uri="{FF2B5EF4-FFF2-40B4-BE49-F238E27FC236}">
                <a16:creationId xmlns:a16="http://schemas.microsoft.com/office/drawing/2014/main" id="{BA7A8121-83C7-4F87-923E-43D5AD3E7250}"/>
              </a:ext>
            </a:extLst>
          </p:cNvPr>
          <p:cNvCxnSpPr>
            <a:cxnSpLocks/>
            <a:stCxn id="3" idx="0"/>
          </p:cNvCxnSpPr>
          <p:nvPr/>
        </p:nvCxnSpPr>
        <p:spPr>
          <a:xfrm flipH="1" flipV="1">
            <a:off x="8601077" y="5166589"/>
            <a:ext cx="300534" cy="2293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5586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1 Título"/>
          <p:cNvSpPr>
            <a:spLocks noGrp="1"/>
          </p:cNvSpPr>
          <p:nvPr>
            <p:ph type="title"/>
          </p:nvPr>
        </p:nvSpPr>
        <p:spPr>
          <a:xfrm>
            <a:off x="838200" y="106874"/>
            <a:ext cx="10515600" cy="461493"/>
          </a:xfrm>
        </p:spPr>
        <p:txBody>
          <a:bodyPr>
            <a:normAutofit/>
          </a:bodyPr>
          <a:lstStyle/>
          <a:p>
            <a:pPr eaLnBrk="1" hangingPunct="1"/>
            <a:r>
              <a:rPr lang="es-PE" altLang="es-PE" sz="2000" dirty="0">
                <a:solidFill>
                  <a:srgbClr val="002060"/>
                </a:solidFill>
              </a:rPr>
              <a:t>Microestructuras de equilibrio y no equilibrio en los aceros</a:t>
            </a:r>
          </a:p>
        </p:txBody>
      </p:sp>
      <p:grpSp>
        <p:nvGrpSpPr>
          <p:cNvPr id="17412" name="Group 8"/>
          <p:cNvGrpSpPr>
            <a:grpSpLocks noChangeAspect="1"/>
          </p:cNvGrpSpPr>
          <p:nvPr/>
        </p:nvGrpSpPr>
        <p:grpSpPr bwMode="auto">
          <a:xfrm>
            <a:off x="1525589" y="9525"/>
            <a:ext cx="3175" cy="1588"/>
            <a:chOff x="1" y="6"/>
            <a:chExt cx="2" cy="1"/>
          </a:xfrm>
        </p:grpSpPr>
        <p:sp>
          <p:nvSpPr>
            <p:cNvPr id="17421" name="AutoShape 7"/>
            <p:cNvSpPr>
              <a:spLocks noChangeAspect="1" noChangeArrowheads="1" noTextEdit="1"/>
            </p:cNvSpPr>
            <p:nvPr/>
          </p:nvSpPr>
          <p:spPr bwMode="auto">
            <a:xfrm>
              <a:off x="1" y="6"/>
              <a:ext cx="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PE"/>
            </a:p>
          </p:txBody>
        </p:sp>
        <p:pic>
          <p:nvPicPr>
            <p:cNvPr id="17422"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6"/>
              <a:ext cx="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7418" name="AutoShape 2"/>
          <p:cNvSpPr>
            <a:spLocks noChangeAspect="1" noChangeArrowheads="1"/>
          </p:cNvSpPr>
          <p:nvPr/>
        </p:nvSpPr>
        <p:spPr bwMode="auto">
          <a:xfrm>
            <a:off x="1530351" y="9525"/>
            <a:ext cx="4763"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Clr>
                <a:srgbClr val="004588"/>
              </a:buClr>
              <a:buFont typeface="Wingdings" panose="05000000000000000000" pitchFamily="2" charset="2"/>
              <a:buChar char="§"/>
              <a:defRPr sz="2000">
                <a:solidFill>
                  <a:srgbClr val="004588"/>
                </a:solidFill>
                <a:latin typeface="Arial" panose="020B0604020202020204" pitchFamily="34" charset="0"/>
              </a:defRPr>
            </a:lvl1pPr>
            <a:lvl2pPr marL="742950" indent="-285750">
              <a:spcBef>
                <a:spcPct val="40000"/>
              </a:spcBef>
              <a:buClr>
                <a:srgbClr val="004588"/>
              </a:buClr>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40000"/>
              </a:spcBef>
              <a:buClr>
                <a:srgbClr val="004588"/>
              </a:buClr>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40000"/>
              </a:spcBef>
              <a:buClr>
                <a:srgbClr val="004588"/>
              </a:buClr>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buClrTx/>
              <a:buFontTx/>
              <a:buNone/>
            </a:pPr>
            <a:endParaRPr lang="es-PE" altLang="es-PE" sz="1800">
              <a:solidFill>
                <a:schemeClr val="tx1"/>
              </a:solidFill>
            </a:endParaRPr>
          </a:p>
        </p:txBody>
      </p:sp>
      <p:grpSp>
        <p:nvGrpSpPr>
          <p:cNvPr id="17" name="Grupo 16">
            <a:extLst>
              <a:ext uri="{FF2B5EF4-FFF2-40B4-BE49-F238E27FC236}">
                <a16:creationId xmlns:a16="http://schemas.microsoft.com/office/drawing/2014/main" id="{C142E99A-1E33-4A09-AB8A-4F1980490BB1}"/>
              </a:ext>
            </a:extLst>
          </p:cNvPr>
          <p:cNvGrpSpPr/>
          <p:nvPr/>
        </p:nvGrpSpPr>
        <p:grpSpPr>
          <a:xfrm>
            <a:off x="-136880" y="576424"/>
            <a:ext cx="8263873" cy="5917589"/>
            <a:chOff x="-136880" y="576424"/>
            <a:chExt cx="8263873" cy="5917589"/>
          </a:xfrm>
        </p:grpSpPr>
        <p:pic>
          <p:nvPicPr>
            <p:cNvPr id="1741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5589" y="4641537"/>
              <a:ext cx="1692170" cy="1199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type="none" w="sm" len="sm"/>
                  <a:tailEnd type="none" w="sm" len="sm"/>
                </a14:hiddenLine>
              </a:ext>
            </a:extLst>
          </p:spPr>
        </p:pic>
        <p:pic>
          <p:nvPicPr>
            <p:cNvPr id="17413" name="Picture 28" descr="halftone:I0032150"/>
            <p:cNvPicPr>
              <a:picLocks noChangeAspect="1" noChangeArrowheads="1"/>
            </p:cNvPicPr>
            <p:nvPr/>
          </p:nvPicPr>
          <p:blipFill>
            <a:blip r:embed="rId4" r:link="rId5">
              <a:lum bright="-12000" contrast="60000"/>
              <a:extLst>
                <a:ext uri="{28A0092B-C50C-407E-A947-70E740481C1C}">
                  <a14:useLocalDpi xmlns:a14="http://schemas.microsoft.com/office/drawing/2010/main" val="0"/>
                </a:ext>
              </a:extLst>
            </a:blip>
            <a:srcRect/>
            <a:stretch>
              <a:fillRect/>
            </a:stretch>
          </p:blipFill>
          <p:spPr bwMode="auto">
            <a:xfrm>
              <a:off x="163433" y="2555721"/>
              <a:ext cx="1366918" cy="1397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4" name="Picture 30" descr="perlita fina eutectoide"/>
            <p:cNvPicPr>
              <a:picLocks noChangeAspect="1" noChangeArrowheads="1"/>
            </p:cNvPicPr>
            <p:nvPr/>
          </p:nvPicPr>
          <p:blipFill>
            <a:blip r:embed="rId6">
              <a:lum bright="12000"/>
              <a:extLst>
                <a:ext uri="{28A0092B-C50C-407E-A947-70E740481C1C}">
                  <a14:useLocalDpi xmlns:a14="http://schemas.microsoft.com/office/drawing/2010/main" val="0"/>
                </a:ext>
              </a:extLst>
            </a:blip>
            <a:srcRect/>
            <a:stretch>
              <a:fillRect/>
            </a:stretch>
          </p:blipFill>
          <p:spPr bwMode="auto">
            <a:xfrm>
              <a:off x="4132707" y="4649964"/>
              <a:ext cx="1425180" cy="1200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5" name="14 CuadroTexto"/>
            <p:cNvSpPr txBox="1">
              <a:spLocks noChangeArrowheads="1"/>
            </p:cNvSpPr>
            <p:nvPr/>
          </p:nvSpPr>
          <p:spPr bwMode="auto">
            <a:xfrm>
              <a:off x="-136880" y="4061184"/>
              <a:ext cx="192881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Clr>
                  <a:srgbClr val="004588"/>
                </a:buClr>
                <a:buFont typeface="Wingdings" panose="05000000000000000000" pitchFamily="2" charset="2"/>
                <a:buChar char="§"/>
                <a:defRPr sz="2000">
                  <a:solidFill>
                    <a:srgbClr val="004588"/>
                  </a:solidFill>
                  <a:latin typeface="Arial" panose="020B0604020202020204" pitchFamily="34" charset="0"/>
                </a:defRPr>
              </a:lvl1pPr>
              <a:lvl2pPr marL="742950" indent="-285750">
                <a:spcBef>
                  <a:spcPct val="40000"/>
                </a:spcBef>
                <a:buClr>
                  <a:srgbClr val="004588"/>
                </a:buClr>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40000"/>
                </a:spcBef>
                <a:buClr>
                  <a:srgbClr val="004588"/>
                </a:buClr>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40000"/>
                </a:spcBef>
                <a:buClr>
                  <a:srgbClr val="004588"/>
                </a:buClr>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buClrTx/>
                <a:buFontTx/>
                <a:buNone/>
              </a:pPr>
              <a:r>
                <a:rPr lang="es-PE" altLang="es-PE" sz="1200" dirty="0">
                  <a:solidFill>
                    <a:srgbClr val="0066FF"/>
                  </a:solidFill>
                </a:rPr>
                <a:t>Ferrita: blanda y dúctil</a:t>
              </a:r>
            </a:p>
          </p:txBody>
        </p:sp>
        <p:sp>
          <p:nvSpPr>
            <p:cNvPr id="17416" name="15 CuadroTexto"/>
            <p:cNvSpPr txBox="1">
              <a:spLocks noChangeArrowheads="1"/>
            </p:cNvSpPr>
            <p:nvPr/>
          </p:nvSpPr>
          <p:spPr bwMode="auto">
            <a:xfrm>
              <a:off x="3881438" y="5970793"/>
              <a:ext cx="221456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40000"/>
                </a:spcBef>
                <a:buClr>
                  <a:srgbClr val="004588"/>
                </a:buClr>
                <a:buFont typeface="Wingdings" panose="05000000000000000000" pitchFamily="2" charset="2"/>
                <a:buChar char="§"/>
                <a:defRPr sz="2000">
                  <a:solidFill>
                    <a:srgbClr val="004588"/>
                  </a:solidFill>
                  <a:latin typeface="Arial" panose="020B0604020202020204" pitchFamily="34" charset="0"/>
                </a:defRPr>
              </a:lvl1pPr>
              <a:lvl2pPr marL="742950" indent="-285750">
                <a:spcBef>
                  <a:spcPct val="40000"/>
                </a:spcBef>
                <a:buClr>
                  <a:srgbClr val="004588"/>
                </a:buClr>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40000"/>
                </a:spcBef>
                <a:buClr>
                  <a:srgbClr val="004588"/>
                </a:buClr>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40000"/>
                </a:spcBef>
                <a:buClr>
                  <a:srgbClr val="004588"/>
                </a:buClr>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buClrTx/>
                <a:buFontTx/>
                <a:buNone/>
              </a:pPr>
              <a:r>
                <a:rPr lang="es-PE" altLang="es-PE" sz="1400" dirty="0">
                  <a:solidFill>
                    <a:srgbClr val="006600"/>
                  </a:solidFill>
                </a:rPr>
                <a:t>Perlita: resistente y poco tenaz</a:t>
              </a:r>
            </a:p>
          </p:txBody>
        </p:sp>
        <p:sp>
          <p:nvSpPr>
            <p:cNvPr id="17417" name="16 CuadroTexto"/>
            <p:cNvSpPr txBox="1">
              <a:spLocks noChangeArrowheads="1"/>
            </p:cNvSpPr>
            <p:nvPr/>
          </p:nvSpPr>
          <p:spPr bwMode="auto">
            <a:xfrm>
              <a:off x="1136886" y="5898295"/>
              <a:ext cx="221456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Clr>
                  <a:srgbClr val="004588"/>
                </a:buClr>
                <a:buFont typeface="Wingdings" panose="05000000000000000000" pitchFamily="2" charset="2"/>
                <a:buChar char="§"/>
                <a:defRPr sz="2000">
                  <a:solidFill>
                    <a:srgbClr val="004588"/>
                  </a:solidFill>
                  <a:latin typeface="Arial" panose="020B0604020202020204" pitchFamily="34" charset="0"/>
                </a:defRPr>
              </a:lvl1pPr>
              <a:lvl2pPr marL="742950" indent="-285750">
                <a:spcBef>
                  <a:spcPct val="40000"/>
                </a:spcBef>
                <a:buClr>
                  <a:srgbClr val="004588"/>
                </a:buClr>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40000"/>
                </a:spcBef>
                <a:buClr>
                  <a:srgbClr val="004588"/>
                </a:buClr>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40000"/>
                </a:spcBef>
                <a:buClr>
                  <a:srgbClr val="004588"/>
                </a:buClr>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buClrTx/>
                <a:buFontTx/>
                <a:buNone/>
              </a:pPr>
              <a:r>
                <a:rPr lang="es-PE" altLang="es-PE" sz="1600" dirty="0">
                  <a:solidFill>
                    <a:srgbClr val="993300"/>
                  </a:solidFill>
                </a:rPr>
                <a:t>Ferrita-perlita: Resistente y tenaz</a:t>
              </a:r>
            </a:p>
          </p:txBody>
        </p:sp>
        <p:pic>
          <p:nvPicPr>
            <p:cNvPr id="17419" name="Picture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57964" y="2370786"/>
              <a:ext cx="1453785" cy="1251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
          <p:nvSpPr>
            <p:cNvPr id="17420" name="Text Box 15"/>
            <p:cNvSpPr txBox="1">
              <a:spLocks noChangeArrowheads="1"/>
            </p:cNvSpPr>
            <p:nvPr/>
          </p:nvSpPr>
          <p:spPr bwMode="auto">
            <a:xfrm>
              <a:off x="6155966" y="3491349"/>
              <a:ext cx="162216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40000"/>
                </a:spcBef>
                <a:buClr>
                  <a:srgbClr val="004588"/>
                </a:buClr>
                <a:buFont typeface="Wingdings" panose="05000000000000000000" pitchFamily="2" charset="2"/>
                <a:buChar char="§"/>
                <a:defRPr sz="2000">
                  <a:solidFill>
                    <a:srgbClr val="004588"/>
                  </a:solidFill>
                  <a:latin typeface="Arial" panose="020B0604020202020204" pitchFamily="34" charset="0"/>
                </a:defRPr>
              </a:lvl1pPr>
              <a:lvl2pPr marL="742950" indent="-285750">
                <a:spcBef>
                  <a:spcPct val="40000"/>
                </a:spcBef>
                <a:buClr>
                  <a:srgbClr val="004588"/>
                </a:buClr>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40000"/>
                </a:spcBef>
                <a:buClr>
                  <a:srgbClr val="004588"/>
                </a:buClr>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40000"/>
                </a:spcBef>
                <a:buClr>
                  <a:srgbClr val="004588"/>
                </a:buClr>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a:spcBef>
                  <a:spcPct val="50000"/>
                </a:spcBef>
                <a:buClrTx/>
                <a:buFontTx/>
                <a:buNone/>
              </a:pPr>
              <a:r>
                <a:rPr lang="es-ES" altLang="es-PE" sz="1200" b="1" dirty="0">
                  <a:solidFill>
                    <a:srgbClr val="660066"/>
                  </a:solidFill>
                </a:rPr>
                <a:t>Cementita-perlita:</a:t>
              </a:r>
            </a:p>
            <a:p>
              <a:pPr>
                <a:spcBef>
                  <a:spcPct val="50000"/>
                </a:spcBef>
                <a:buClrTx/>
                <a:buFontTx/>
                <a:buNone/>
              </a:pPr>
              <a:r>
                <a:rPr lang="es-ES" altLang="es-PE" sz="1200" b="1" dirty="0">
                  <a:solidFill>
                    <a:srgbClr val="660066"/>
                  </a:solidFill>
                </a:rPr>
                <a:t>Duro (resistente al desgaste), frágil</a:t>
              </a:r>
            </a:p>
          </p:txBody>
        </p:sp>
        <p:sp>
          <p:nvSpPr>
            <p:cNvPr id="4" name="CuadroTexto 3">
              <a:extLst>
                <a:ext uri="{FF2B5EF4-FFF2-40B4-BE49-F238E27FC236}">
                  <a16:creationId xmlns:a16="http://schemas.microsoft.com/office/drawing/2014/main" id="{8E1A95C8-BCB5-44B1-AE1E-89A9688DD770}"/>
                </a:ext>
              </a:extLst>
            </p:cNvPr>
            <p:cNvSpPr txBox="1"/>
            <p:nvPr/>
          </p:nvSpPr>
          <p:spPr>
            <a:xfrm>
              <a:off x="420511" y="4704113"/>
              <a:ext cx="835378" cy="369332"/>
            </a:xfrm>
            <a:prstGeom prst="rect">
              <a:avLst/>
            </a:prstGeom>
            <a:noFill/>
          </p:spPr>
          <p:txBody>
            <a:bodyPr wrap="square" rtlCol="0">
              <a:spAutoFit/>
            </a:bodyPr>
            <a:lstStyle/>
            <a:p>
              <a:r>
                <a:rPr lang="es-ES" dirty="0"/>
                <a:t>Perlita</a:t>
              </a:r>
              <a:endParaRPr lang="es-PE" dirty="0"/>
            </a:p>
          </p:txBody>
        </p:sp>
        <p:sp>
          <p:nvSpPr>
            <p:cNvPr id="7" name="CuadroTexto 6">
              <a:extLst>
                <a:ext uri="{FF2B5EF4-FFF2-40B4-BE49-F238E27FC236}">
                  <a16:creationId xmlns:a16="http://schemas.microsoft.com/office/drawing/2014/main" id="{49683F78-5113-4968-AD33-C67F6B49CA51}"/>
                </a:ext>
              </a:extLst>
            </p:cNvPr>
            <p:cNvSpPr txBox="1"/>
            <p:nvPr/>
          </p:nvSpPr>
          <p:spPr>
            <a:xfrm>
              <a:off x="250506" y="5562485"/>
              <a:ext cx="1162756" cy="369332"/>
            </a:xfrm>
            <a:prstGeom prst="rect">
              <a:avLst/>
            </a:prstGeom>
            <a:noFill/>
          </p:spPr>
          <p:txBody>
            <a:bodyPr wrap="square" rtlCol="0">
              <a:spAutoFit/>
            </a:bodyPr>
            <a:lstStyle/>
            <a:p>
              <a:r>
                <a:rPr lang="es-ES" dirty="0"/>
                <a:t>Ferrita</a:t>
              </a:r>
              <a:endParaRPr lang="es-PE" dirty="0"/>
            </a:p>
          </p:txBody>
        </p:sp>
        <p:sp>
          <p:nvSpPr>
            <p:cNvPr id="10" name="CuadroTexto 9">
              <a:extLst>
                <a:ext uri="{FF2B5EF4-FFF2-40B4-BE49-F238E27FC236}">
                  <a16:creationId xmlns:a16="http://schemas.microsoft.com/office/drawing/2014/main" id="{57A8EEB1-C47B-4ED8-B64F-CA0EE8F22ED9}"/>
                </a:ext>
              </a:extLst>
            </p:cNvPr>
            <p:cNvSpPr txBox="1"/>
            <p:nvPr/>
          </p:nvSpPr>
          <p:spPr>
            <a:xfrm>
              <a:off x="6896504" y="1612704"/>
              <a:ext cx="1230489" cy="369332"/>
            </a:xfrm>
            <a:prstGeom prst="rect">
              <a:avLst/>
            </a:prstGeom>
            <a:noFill/>
          </p:spPr>
          <p:txBody>
            <a:bodyPr wrap="square" rtlCol="0">
              <a:spAutoFit/>
            </a:bodyPr>
            <a:lstStyle/>
            <a:p>
              <a:r>
                <a:rPr lang="es-ES" dirty="0"/>
                <a:t>Cementita</a:t>
              </a:r>
              <a:endParaRPr lang="es-PE" dirty="0"/>
            </a:p>
          </p:txBody>
        </p:sp>
        <p:pic>
          <p:nvPicPr>
            <p:cNvPr id="11" name="Imagen 10">
              <a:extLst>
                <a:ext uri="{FF2B5EF4-FFF2-40B4-BE49-F238E27FC236}">
                  <a16:creationId xmlns:a16="http://schemas.microsoft.com/office/drawing/2014/main" id="{E18E2C0D-8DFA-479E-B325-2EB63C67DC8F}"/>
                </a:ext>
              </a:extLst>
            </p:cNvPr>
            <p:cNvPicPr>
              <a:picLocks noChangeAspect="1"/>
            </p:cNvPicPr>
            <p:nvPr/>
          </p:nvPicPr>
          <p:blipFill>
            <a:blip r:embed="rId8"/>
            <a:stretch>
              <a:fillRect/>
            </a:stretch>
          </p:blipFill>
          <p:spPr>
            <a:xfrm>
              <a:off x="1098586" y="576424"/>
              <a:ext cx="5339265" cy="4523264"/>
            </a:xfrm>
            <a:prstGeom prst="rect">
              <a:avLst/>
            </a:prstGeom>
          </p:spPr>
        </p:pic>
        <p:cxnSp>
          <p:nvCxnSpPr>
            <p:cNvPr id="16" name="Conector recto de flecha 15">
              <a:extLst>
                <a:ext uri="{FF2B5EF4-FFF2-40B4-BE49-F238E27FC236}">
                  <a16:creationId xmlns:a16="http://schemas.microsoft.com/office/drawing/2014/main" id="{9C4B680A-D92C-4F7D-8034-57FB9C646949}"/>
                </a:ext>
              </a:extLst>
            </p:cNvPr>
            <p:cNvCxnSpPr>
              <a:cxnSpLocks/>
            </p:cNvCxnSpPr>
            <p:nvPr/>
          </p:nvCxnSpPr>
          <p:spPr>
            <a:xfrm flipV="1">
              <a:off x="2561069" y="3683874"/>
              <a:ext cx="173373" cy="9790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ector recto de flecha 17">
              <a:extLst>
                <a:ext uri="{FF2B5EF4-FFF2-40B4-BE49-F238E27FC236}">
                  <a16:creationId xmlns:a16="http://schemas.microsoft.com/office/drawing/2014/main" id="{4FA66AF5-21B5-4D7D-A695-69EAB0D4E01F}"/>
                </a:ext>
              </a:extLst>
            </p:cNvPr>
            <p:cNvCxnSpPr>
              <a:cxnSpLocks/>
              <a:stCxn id="17413" idx="3"/>
            </p:cNvCxnSpPr>
            <p:nvPr/>
          </p:nvCxnSpPr>
          <p:spPr>
            <a:xfrm>
              <a:off x="1530351" y="3254502"/>
              <a:ext cx="523165" cy="787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ector recto de flecha 19">
              <a:extLst>
                <a:ext uri="{FF2B5EF4-FFF2-40B4-BE49-F238E27FC236}">
                  <a16:creationId xmlns:a16="http://schemas.microsoft.com/office/drawing/2014/main" id="{B9BEB60F-3C5F-48EF-9F76-2CB18A904675}"/>
                </a:ext>
              </a:extLst>
            </p:cNvPr>
            <p:cNvCxnSpPr>
              <a:cxnSpLocks/>
            </p:cNvCxnSpPr>
            <p:nvPr/>
          </p:nvCxnSpPr>
          <p:spPr>
            <a:xfrm flipH="1" flipV="1">
              <a:off x="4146879" y="3683874"/>
              <a:ext cx="189990" cy="7725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CuadroTexto 20">
              <a:extLst>
                <a:ext uri="{FF2B5EF4-FFF2-40B4-BE49-F238E27FC236}">
                  <a16:creationId xmlns:a16="http://schemas.microsoft.com/office/drawing/2014/main" id="{DE25AF7F-704F-4EDB-BBD0-FF2931B7ED14}"/>
                </a:ext>
              </a:extLst>
            </p:cNvPr>
            <p:cNvSpPr txBox="1"/>
            <p:nvPr/>
          </p:nvSpPr>
          <p:spPr>
            <a:xfrm>
              <a:off x="5222727" y="3896417"/>
              <a:ext cx="647348" cy="276999"/>
            </a:xfrm>
            <a:prstGeom prst="rect">
              <a:avLst/>
            </a:prstGeom>
            <a:noFill/>
          </p:spPr>
          <p:txBody>
            <a:bodyPr wrap="square" rtlCol="0">
              <a:spAutoFit/>
            </a:bodyPr>
            <a:lstStyle/>
            <a:p>
              <a:r>
                <a:rPr lang="es-ES" sz="1200" dirty="0"/>
                <a:t>0.77%C</a:t>
              </a:r>
              <a:endParaRPr lang="es-PE" sz="1200" dirty="0"/>
            </a:p>
          </p:txBody>
        </p:sp>
        <p:cxnSp>
          <p:nvCxnSpPr>
            <p:cNvPr id="23" name="Conector recto de flecha 22">
              <a:extLst>
                <a:ext uri="{FF2B5EF4-FFF2-40B4-BE49-F238E27FC236}">
                  <a16:creationId xmlns:a16="http://schemas.microsoft.com/office/drawing/2014/main" id="{8459DDF3-14A0-4EED-873A-B29DF026C2D4}"/>
                </a:ext>
              </a:extLst>
            </p:cNvPr>
            <p:cNvCxnSpPr>
              <a:stCxn id="7" idx="3"/>
            </p:cNvCxnSpPr>
            <p:nvPr/>
          </p:nvCxnSpPr>
          <p:spPr>
            <a:xfrm flipV="1">
              <a:off x="1413262" y="5570542"/>
              <a:ext cx="727327" cy="17660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ector recto de flecha 24">
              <a:extLst>
                <a:ext uri="{FF2B5EF4-FFF2-40B4-BE49-F238E27FC236}">
                  <a16:creationId xmlns:a16="http://schemas.microsoft.com/office/drawing/2014/main" id="{BB7204F9-757D-460B-9939-0203C296BF9A}"/>
                </a:ext>
              </a:extLst>
            </p:cNvPr>
            <p:cNvCxnSpPr>
              <a:cxnSpLocks/>
              <a:stCxn id="4" idx="3"/>
            </p:cNvCxnSpPr>
            <p:nvPr/>
          </p:nvCxnSpPr>
          <p:spPr>
            <a:xfrm>
              <a:off x="1255889" y="4888779"/>
              <a:ext cx="785122" cy="18466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onector recto de flecha 26">
              <a:extLst>
                <a:ext uri="{FF2B5EF4-FFF2-40B4-BE49-F238E27FC236}">
                  <a16:creationId xmlns:a16="http://schemas.microsoft.com/office/drawing/2014/main" id="{AE007AB1-12B5-42D9-A8CE-0C881840F197}"/>
                </a:ext>
              </a:extLst>
            </p:cNvPr>
            <p:cNvCxnSpPr/>
            <p:nvPr/>
          </p:nvCxnSpPr>
          <p:spPr>
            <a:xfrm flipH="1">
              <a:off x="6502270" y="1889556"/>
              <a:ext cx="1142668" cy="73211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ector recto de flecha 28">
              <a:extLst>
                <a:ext uri="{FF2B5EF4-FFF2-40B4-BE49-F238E27FC236}">
                  <a16:creationId xmlns:a16="http://schemas.microsoft.com/office/drawing/2014/main" id="{A607F6B4-85EA-4084-BDED-DF4B851A0E35}"/>
                </a:ext>
              </a:extLst>
            </p:cNvPr>
            <p:cNvCxnSpPr>
              <a:cxnSpLocks/>
            </p:cNvCxnSpPr>
            <p:nvPr/>
          </p:nvCxnSpPr>
          <p:spPr>
            <a:xfrm flipH="1">
              <a:off x="5222727" y="2978087"/>
              <a:ext cx="1034010" cy="3344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pic>
        <p:nvPicPr>
          <p:cNvPr id="28" name="Picture 10" descr="halftone:I0032175">
            <a:extLst>
              <a:ext uri="{FF2B5EF4-FFF2-40B4-BE49-F238E27FC236}">
                <a16:creationId xmlns:a16="http://schemas.microsoft.com/office/drawing/2014/main" id="{6B1C3738-B04C-4842-93D0-CB8266BEA155}"/>
              </a:ext>
            </a:extLst>
          </p:cNvPr>
          <p:cNvPicPr>
            <a:picLocks noChangeAspect="1" noChangeArrowheads="1"/>
          </p:cNvPicPr>
          <p:nvPr/>
        </p:nvPicPr>
        <p:blipFill>
          <a:blip r:embed="rId9" r:link="rId10">
            <a:lum bright="12000"/>
            <a:extLst>
              <a:ext uri="{28A0092B-C50C-407E-A947-70E740481C1C}">
                <a14:useLocalDpi xmlns:a14="http://schemas.microsoft.com/office/drawing/2010/main" val="0"/>
              </a:ext>
            </a:extLst>
          </a:blip>
          <a:srcRect/>
          <a:stretch>
            <a:fillRect/>
          </a:stretch>
        </p:blipFill>
        <p:spPr bwMode="auto">
          <a:xfrm>
            <a:off x="9545282" y="2380335"/>
            <a:ext cx="1851947" cy="1502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CuadroTexto 11">
            <a:extLst>
              <a:ext uri="{FF2B5EF4-FFF2-40B4-BE49-F238E27FC236}">
                <a16:creationId xmlns:a16="http://schemas.microsoft.com/office/drawing/2014/main" id="{F65EBE6D-D2FA-402E-A904-A6DBC8EC0E41}"/>
              </a:ext>
            </a:extLst>
          </p:cNvPr>
          <p:cNvSpPr txBox="1"/>
          <p:nvPr/>
        </p:nvSpPr>
        <p:spPr>
          <a:xfrm>
            <a:off x="8802348" y="564445"/>
            <a:ext cx="3389652" cy="1754326"/>
          </a:xfrm>
          <a:prstGeom prst="rect">
            <a:avLst/>
          </a:prstGeom>
          <a:noFill/>
        </p:spPr>
        <p:txBody>
          <a:bodyPr wrap="square" rtlCol="0">
            <a:spAutoFit/>
          </a:bodyPr>
          <a:lstStyle/>
          <a:p>
            <a:r>
              <a:rPr lang="es-ES" b="1" dirty="0"/>
              <a:t>Microestructuras de no equilibrio:</a:t>
            </a:r>
          </a:p>
          <a:p>
            <a:r>
              <a:rPr lang="es-ES" dirty="0"/>
              <a:t>Martensita, martensita revenida</a:t>
            </a:r>
          </a:p>
          <a:p>
            <a:r>
              <a:rPr lang="es-ES" dirty="0"/>
              <a:t>Bainita</a:t>
            </a:r>
          </a:p>
          <a:p>
            <a:endParaRPr lang="es-ES" dirty="0"/>
          </a:p>
          <a:p>
            <a:r>
              <a:rPr lang="es-ES" dirty="0"/>
              <a:t>Son productos de TT especiales</a:t>
            </a:r>
            <a:endParaRPr lang="es-PE" dirty="0"/>
          </a:p>
        </p:txBody>
      </p:sp>
      <p:sp>
        <p:nvSpPr>
          <p:cNvPr id="15" name="CuadroTexto 14">
            <a:extLst>
              <a:ext uri="{FF2B5EF4-FFF2-40B4-BE49-F238E27FC236}">
                <a16:creationId xmlns:a16="http://schemas.microsoft.com/office/drawing/2014/main" id="{B51021D4-F25E-40BF-83C1-FCFCCA10A2E2}"/>
              </a:ext>
            </a:extLst>
          </p:cNvPr>
          <p:cNvSpPr txBox="1"/>
          <p:nvPr/>
        </p:nvSpPr>
        <p:spPr>
          <a:xfrm>
            <a:off x="9897396" y="3896417"/>
            <a:ext cx="1456404" cy="369332"/>
          </a:xfrm>
          <a:prstGeom prst="rect">
            <a:avLst/>
          </a:prstGeom>
          <a:noFill/>
        </p:spPr>
        <p:txBody>
          <a:bodyPr wrap="square" rtlCol="0">
            <a:spAutoFit/>
          </a:bodyPr>
          <a:lstStyle/>
          <a:p>
            <a:r>
              <a:rPr lang="es-ES" dirty="0"/>
              <a:t>Martensita</a:t>
            </a:r>
            <a:endParaRPr lang="es-PE" dirty="0"/>
          </a:p>
        </p:txBody>
      </p:sp>
      <p:pic>
        <p:nvPicPr>
          <p:cNvPr id="38" name="Picture 4" descr="halftone:I0032167">
            <a:extLst>
              <a:ext uri="{FF2B5EF4-FFF2-40B4-BE49-F238E27FC236}">
                <a16:creationId xmlns:a16="http://schemas.microsoft.com/office/drawing/2014/main" id="{DFFCC337-4750-4DEB-B8F5-9E6B223851D0}"/>
              </a:ext>
            </a:extLst>
          </p:cNvPr>
          <p:cNvPicPr>
            <a:picLocks noChangeAspect="1" noChangeArrowheads="1"/>
          </p:cNvPicPr>
          <p:nvPr/>
        </p:nvPicPr>
        <p:blipFill rotWithShape="1">
          <a:blip r:embed="rId11">
            <a:lum bright="6000" contrast="6000"/>
            <a:extLst>
              <a:ext uri="{28A0092B-C50C-407E-A947-70E740481C1C}">
                <a14:useLocalDpi xmlns:a14="http://schemas.microsoft.com/office/drawing/2010/main" val="0"/>
              </a:ext>
            </a:extLst>
          </a:blip>
          <a:srcRect l="50000"/>
          <a:stretch/>
        </p:blipFill>
        <p:spPr bwMode="auto">
          <a:xfrm>
            <a:off x="9630931" y="4381694"/>
            <a:ext cx="1854729" cy="1548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 name="CuadroTexto 38">
            <a:extLst>
              <a:ext uri="{FF2B5EF4-FFF2-40B4-BE49-F238E27FC236}">
                <a16:creationId xmlns:a16="http://schemas.microsoft.com/office/drawing/2014/main" id="{C43A5F2B-B955-4DDA-B457-6898EBCBB027}"/>
              </a:ext>
            </a:extLst>
          </p:cNvPr>
          <p:cNvSpPr txBox="1"/>
          <p:nvPr/>
        </p:nvSpPr>
        <p:spPr>
          <a:xfrm>
            <a:off x="10029256" y="5947684"/>
            <a:ext cx="1456404" cy="369332"/>
          </a:xfrm>
          <a:prstGeom prst="rect">
            <a:avLst/>
          </a:prstGeom>
          <a:noFill/>
        </p:spPr>
        <p:txBody>
          <a:bodyPr wrap="square" rtlCol="0">
            <a:spAutoFit/>
          </a:bodyPr>
          <a:lstStyle/>
          <a:p>
            <a:r>
              <a:rPr lang="es-ES" dirty="0"/>
              <a:t>Bainita</a:t>
            </a:r>
            <a:endParaRPr lang="es-PE"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p:bldP spid="3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eaLnBrk="1" hangingPunct="1"/>
            <a:r>
              <a:rPr lang="es-ES_tradnl" altLang="es-PE" sz="2400" dirty="0">
                <a:solidFill>
                  <a:srgbClr val="002060"/>
                </a:solidFill>
              </a:rPr>
              <a:t>Tratamientos termoquímicos</a:t>
            </a:r>
            <a:r>
              <a:rPr lang="es-ES_tradnl" altLang="es-PE" sz="1600" i="1" dirty="0">
                <a:solidFill>
                  <a:srgbClr val="800000"/>
                </a:solidFill>
              </a:rPr>
              <a:t>:</a:t>
            </a:r>
            <a:endParaRPr lang="es-ES" altLang="es-PE" sz="1600" i="1" dirty="0">
              <a:solidFill>
                <a:srgbClr val="800000"/>
              </a:solidFill>
            </a:endParaRPr>
          </a:p>
        </p:txBody>
      </p:sp>
      <p:sp>
        <p:nvSpPr>
          <p:cNvPr id="52227" name="Rectangle 3"/>
          <p:cNvSpPr>
            <a:spLocks noGrp="1" noChangeArrowheads="1"/>
          </p:cNvSpPr>
          <p:nvPr>
            <p:ph type="body" sz="quarter" idx="10"/>
          </p:nvPr>
        </p:nvSpPr>
        <p:spPr/>
        <p:txBody>
          <a:bodyPr>
            <a:normAutofit/>
          </a:bodyPr>
          <a:lstStyle/>
          <a:p>
            <a:pPr eaLnBrk="1" hangingPunct="1"/>
            <a:r>
              <a:rPr lang="es-ES_tradnl" altLang="es-PE" sz="1800" dirty="0"/>
              <a:t>Suponen modificar periféricamente la composición de la pieza. No son recubrimientos.</a:t>
            </a:r>
          </a:p>
          <a:p>
            <a:pPr eaLnBrk="1" hangingPunct="1"/>
            <a:endParaRPr lang="es-ES_tradnl" altLang="es-PE" sz="1800" dirty="0"/>
          </a:p>
          <a:p>
            <a:pPr eaLnBrk="1" hangingPunct="1"/>
            <a:r>
              <a:rPr lang="es-ES_tradnl" altLang="es-PE" sz="1800" dirty="0"/>
              <a:t>Cuando se requiere además de propiedades masivas, propiedades superficiales especiales: protección frente a la corrosión, dureza periférica para resistir el desgaste, pero con requerimientos de tenacidad en el interior.</a:t>
            </a:r>
          </a:p>
          <a:p>
            <a:pPr eaLnBrk="1" hangingPunct="1">
              <a:buFont typeface="Wingdings" panose="05000000000000000000" pitchFamily="2" charset="2"/>
              <a:buNone/>
            </a:pPr>
            <a:endParaRPr lang="es-ES_tradnl" altLang="es-PE" sz="1800" dirty="0"/>
          </a:p>
          <a:p>
            <a:pPr eaLnBrk="1" hangingPunct="1"/>
            <a:r>
              <a:rPr lang="es-ES_tradnl" altLang="es-PE" sz="1800" dirty="0"/>
              <a:t>Principales: cementación, nitruración y carbonitruración.</a:t>
            </a:r>
            <a:endParaRPr lang="es-ES" altLang="es-PE" sz="1800" dirty="0"/>
          </a:p>
        </p:txBody>
      </p:sp>
      <p:pic>
        <p:nvPicPr>
          <p:cNvPr id="52228" name="Picture 4" descr="PIÑON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0014" y="3951289"/>
            <a:ext cx="2232025" cy="195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29" name="Picture 5" descr="piñón  Ramsey Products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8301" y="4076700"/>
            <a:ext cx="1584325"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30" name="Picture 6" descr="engranaje helicoida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96225" y="4149726"/>
            <a:ext cx="142875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3763D0-6FE5-4EEC-BE3B-2413132FAAFA}"/>
              </a:ext>
            </a:extLst>
          </p:cNvPr>
          <p:cNvSpPr>
            <a:spLocks noGrp="1"/>
          </p:cNvSpPr>
          <p:nvPr>
            <p:ph type="title"/>
          </p:nvPr>
        </p:nvSpPr>
        <p:spPr/>
        <p:txBody>
          <a:bodyPr>
            <a:normAutofit/>
          </a:bodyPr>
          <a:lstStyle/>
          <a:p>
            <a:r>
              <a:rPr lang="es-PE" sz="3600" dirty="0">
                <a:solidFill>
                  <a:srgbClr val="002060"/>
                </a:solidFill>
                <a:latin typeface="Georgia" charset="0"/>
              </a:rPr>
              <a:t>Tratamiento termoquímico</a:t>
            </a:r>
          </a:p>
        </p:txBody>
      </p:sp>
      <p:sp>
        <p:nvSpPr>
          <p:cNvPr id="3" name="Marcador de contenido 2">
            <a:extLst>
              <a:ext uri="{FF2B5EF4-FFF2-40B4-BE49-F238E27FC236}">
                <a16:creationId xmlns:a16="http://schemas.microsoft.com/office/drawing/2014/main" id="{BCD0BC19-86E9-4353-8820-C2A3E16C0DCC}"/>
              </a:ext>
            </a:extLst>
          </p:cNvPr>
          <p:cNvSpPr>
            <a:spLocks noGrp="1"/>
          </p:cNvSpPr>
          <p:nvPr>
            <p:ph idx="1"/>
          </p:nvPr>
        </p:nvSpPr>
        <p:spPr/>
        <p:txBody>
          <a:bodyPr/>
          <a:lstStyle/>
          <a:p>
            <a:r>
              <a:rPr lang="es-PE" dirty="0"/>
              <a:t>El material es sometido a un proceso que le modificará la composición química de toda la periferia del materia.</a:t>
            </a:r>
          </a:p>
        </p:txBody>
      </p:sp>
      <p:pic>
        <p:nvPicPr>
          <p:cNvPr id="5" name="Imagen 4">
            <a:extLst>
              <a:ext uri="{FF2B5EF4-FFF2-40B4-BE49-F238E27FC236}">
                <a16:creationId xmlns:a16="http://schemas.microsoft.com/office/drawing/2014/main" id="{57D25ACF-BCE0-4C5F-A393-C9D393A5B4DD}"/>
              </a:ext>
            </a:extLst>
          </p:cNvPr>
          <p:cNvPicPr>
            <a:picLocks noChangeAspect="1"/>
          </p:cNvPicPr>
          <p:nvPr/>
        </p:nvPicPr>
        <p:blipFill rotWithShape="1">
          <a:blip r:embed="rId3"/>
          <a:srcRect l="21696" t="36550" r="61697" b="30000"/>
          <a:stretch/>
        </p:blipFill>
        <p:spPr>
          <a:xfrm>
            <a:off x="4555671" y="3094489"/>
            <a:ext cx="2024743" cy="2293940"/>
          </a:xfrm>
          <a:prstGeom prst="rect">
            <a:avLst/>
          </a:prstGeom>
        </p:spPr>
      </p:pic>
    </p:spTree>
    <p:extLst>
      <p:ext uri="{BB962C8B-B14F-4D97-AF65-F5344CB8AC3E}">
        <p14:creationId xmlns:p14="http://schemas.microsoft.com/office/powerpoint/2010/main" val="2361483149"/>
      </p:ext>
    </p:extLst>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9">
            <a:extLst>
              <a:ext uri="{FF2B5EF4-FFF2-40B4-BE49-F238E27FC236}">
                <a16:creationId xmlns:a16="http://schemas.microsoft.com/office/drawing/2014/main" id="{2299CAF5-789E-4444-AC88-2A40837D0782}"/>
              </a:ext>
            </a:extLst>
          </p:cNvPr>
          <p:cNvSpPr>
            <a:spLocks noGrp="1" noChangeArrowheads="1"/>
          </p:cNvSpPr>
          <p:nvPr>
            <p:ph type="title"/>
          </p:nvPr>
        </p:nvSpPr>
        <p:spPr>
          <a:xfrm>
            <a:off x="1852614" y="88901"/>
            <a:ext cx="4294187" cy="600075"/>
          </a:xfrm>
        </p:spPr>
        <p:txBody>
          <a:bodyPr>
            <a:noAutofit/>
          </a:bodyPr>
          <a:lstStyle/>
          <a:p>
            <a:r>
              <a:rPr lang="de-DE" altLang="es-PE" sz="2400" dirty="0">
                <a:solidFill>
                  <a:srgbClr val="002060"/>
                </a:solidFill>
                <a:latin typeface="Georgia" charset="0"/>
              </a:rPr>
              <a:t>Tratamientos termoquímicos</a:t>
            </a:r>
          </a:p>
        </p:txBody>
      </p:sp>
      <p:pic>
        <p:nvPicPr>
          <p:cNvPr id="15363" name="Picture 11" descr="logo 40 años ppb1">
            <a:extLst>
              <a:ext uri="{FF2B5EF4-FFF2-40B4-BE49-F238E27FC236}">
                <a16:creationId xmlns:a16="http://schemas.microsoft.com/office/drawing/2014/main" id="{558F7F5B-2762-466F-BE84-2CF91563FE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6891" b="3810"/>
          <a:stretch>
            <a:fillRect/>
          </a:stretch>
        </p:blipFill>
        <p:spPr bwMode="auto">
          <a:xfrm>
            <a:off x="9174163" y="77788"/>
            <a:ext cx="1320800"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10">
            <a:extLst>
              <a:ext uri="{FF2B5EF4-FFF2-40B4-BE49-F238E27FC236}">
                <a16:creationId xmlns:a16="http://schemas.microsoft.com/office/drawing/2014/main" id="{0A9BBFF8-85AA-4725-BD4F-8A0FD702760F}"/>
              </a:ext>
            </a:extLst>
          </p:cNvPr>
          <p:cNvSpPr txBox="1">
            <a:spLocks noChangeArrowheads="1"/>
          </p:cNvSpPr>
          <p:nvPr/>
        </p:nvSpPr>
        <p:spPr bwMode="auto">
          <a:xfrm>
            <a:off x="543308" y="836066"/>
            <a:ext cx="6645768" cy="2096320"/>
          </a:xfrm>
          <a:prstGeom prst="rect">
            <a:avLst/>
          </a:prstGeom>
          <a:noFill/>
          <a:ln w="9525">
            <a:noFill/>
            <a:miter lim="800000"/>
            <a:headEnd/>
            <a:tailEnd/>
          </a:ln>
        </p:spPr>
        <p:txBody>
          <a:bodyPr lIns="0" rIns="0"/>
          <a:lstStyle/>
          <a:p>
            <a:pPr>
              <a:lnSpc>
                <a:spcPct val="80000"/>
              </a:lnSpc>
              <a:spcBef>
                <a:spcPts val="1000"/>
              </a:spcBef>
              <a:spcAft>
                <a:spcPts val="1200"/>
              </a:spcAft>
              <a:buClr>
                <a:srgbClr val="004588"/>
              </a:buClr>
              <a:defRPr/>
            </a:pPr>
            <a:r>
              <a:rPr lang="es-PE" b="1" dirty="0"/>
              <a:t>Cementación: </a:t>
            </a:r>
            <a:r>
              <a:rPr lang="es-PE" dirty="0"/>
              <a:t>logra aumentar el contenido de carbono de la zona periférica, obteniéndose después, por medio de temples y revenidos, una gran dureza superficial, resistencia al desgaste y buena tenacidad en el núcleo. Se realiza en aceros de bajo carbono. Las temperaturas de TT son altas (más de 900°C). Los medios cementantes pueden ser líquidos, gaseosos o sólidos. </a:t>
            </a:r>
          </a:p>
          <a:p>
            <a:pPr>
              <a:lnSpc>
                <a:spcPct val="80000"/>
              </a:lnSpc>
              <a:spcBef>
                <a:spcPts val="1000"/>
              </a:spcBef>
              <a:spcAft>
                <a:spcPts val="1200"/>
              </a:spcAft>
              <a:buClr>
                <a:srgbClr val="004588"/>
              </a:buClr>
              <a:defRPr/>
            </a:pPr>
            <a:r>
              <a:rPr lang="es-ES" dirty="0"/>
              <a:t>E</a:t>
            </a:r>
            <a:r>
              <a:rPr lang="es-PE" dirty="0"/>
              <a:t>l sólido (con uso de sales cementantes) es el más sencillo y          económico.</a:t>
            </a:r>
          </a:p>
          <a:p>
            <a:pPr marL="228600" indent="-228600">
              <a:lnSpc>
                <a:spcPct val="80000"/>
              </a:lnSpc>
              <a:spcBef>
                <a:spcPts val="1000"/>
              </a:spcBef>
              <a:spcAft>
                <a:spcPts val="1200"/>
              </a:spcAft>
              <a:buClr>
                <a:srgbClr val="004588"/>
              </a:buClr>
              <a:buFont typeface="Arial"/>
              <a:buChar char="•"/>
              <a:defRPr/>
            </a:pPr>
            <a:endParaRPr lang="es-PE" dirty="0"/>
          </a:p>
          <a:p>
            <a:pPr algn="just">
              <a:lnSpc>
                <a:spcPct val="120000"/>
              </a:lnSpc>
              <a:spcAft>
                <a:spcPts val="1200"/>
              </a:spcAft>
              <a:buClr>
                <a:srgbClr val="004588"/>
              </a:buClr>
              <a:defRPr/>
            </a:pPr>
            <a:endParaRPr lang="es-PE" kern="0" dirty="0">
              <a:solidFill>
                <a:schemeClr val="tx2"/>
              </a:solidFill>
            </a:endParaRPr>
          </a:p>
        </p:txBody>
      </p:sp>
      <p:pic>
        <p:nvPicPr>
          <p:cNvPr id="15365" name="Picture 6" descr="Resultado de imagen para cementación">
            <a:extLst>
              <a:ext uri="{FF2B5EF4-FFF2-40B4-BE49-F238E27FC236}">
                <a16:creationId xmlns:a16="http://schemas.microsoft.com/office/drawing/2014/main" id="{C42469ED-4DFF-4EC5-8F47-470007D8F4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34654" y="880433"/>
            <a:ext cx="3103563" cy="223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6" name="Picture 10" descr="Resultado de imagen para nitruración">
            <a:extLst>
              <a:ext uri="{FF2B5EF4-FFF2-40B4-BE49-F238E27FC236}">
                <a16:creationId xmlns:a16="http://schemas.microsoft.com/office/drawing/2014/main" id="{B7983F03-4DED-4351-9391-6895D7E1E30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78310" y="4181476"/>
            <a:ext cx="3016250" cy="215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Marcador de texto 2">
            <a:extLst>
              <a:ext uri="{FF2B5EF4-FFF2-40B4-BE49-F238E27FC236}">
                <a16:creationId xmlns:a16="http://schemas.microsoft.com/office/drawing/2014/main" id="{12802B4C-D2A3-4993-8DB3-E5D83A5DE477}"/>
              </a:ext>
            </a:extLst>
          </p:cNvPr>
          <p:cNvSpPr txBox="1">
            <a:spLocks/>
          </p:cNvSpPr>
          <p:nvPr/>
        </p:nvSpPr>
        <p:spPr>
          <a:xfrm>
            <a:off x="543308" y="4764800"/>
            <a:ext cx="5825961" cy="1734413"/>
          </a:xfrm>
          <a:prstGeom prst="rect">
            <a:avLst/>
          </a:prstGeom>
        </p:spPr>
        <p:txBody>
          <a:bodyPr>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80000"/>
              </a:lnSpc>
              <a:buNone/>
            </a:pPr>
            <a:r>
              <a:rPr lang="es-ES_tradnl" altLang="es-PE" sz="1600" b="1" dirty="0"/>
              <a:t>Carbonitruración: </a:t>
            </a:r>
            <a:r>
              <a:rPr lang="es-ES_tradnl" altLang="es-PE" sz="1600" dirty="0"/>
              <a:t>Consiste en introducir simultáneamente C y N. Es como una cementación gaseosa complementada con NH</a:t>
            </a:r>
            <a:r>
              <a:rPr lang="es-ES_tradnl" altLang="es-PE" sz="1600" baseline="-25000" dirty="0"/>
              <a:t>3</a:t>
            </a:r>
            <a:r>
              <a:rPr lang="es-ES_tradnl" altLang="es-PE" sz="1600" dirty="0"/>
              <a:t> </a:t>
            </a:r>
          </a:p>
          <a:p>
            <a:pPr marL="0" indent="0">
              <a:lnSpc>
                <a:spcPct val="80000"/>
              </a:lnSpc>
              <a:buNone/>
            </a:pPr>
            <a:r>
              <a:rPr lang="es-ES_tradnl" altLang="es-PE" sz="1600" dirty="0"/>
              <a:t>Se realiza a temperaturas variables:</a:t>
            </a:r>
          </a:p>
          <a:p>
            <a:pPr marL="0" indent="0">
              <a:lnSpc>
                <a:spcPct val="80000"/>
              </a:lnSpc>
              <a:buNone/>
            </a:pPr>
            <a:r>
              <a:rPr lang="es-ES_tradnl" altLang="es-PE" sz="1600" dirty="0"/>
              <a:t>600ºC:  Predomina el efecto de la nitruración.</a:t>
            </a:r>
          </a:p>
          <a:p>
            <a:pPr marL="0" indent="0">
              <a:lnSpc>
                <a:spcPct val="80000"/>
              </a:lnSpc>
              <a:buNone/>
            </a:pPr>
            <a:r>
              <a:rPr lang="es-ES_tradnl" altLang="es-PE" sz="1600" dirty="0"/>
              <a:t>900 – 800ºC: Predomina el efecto de la cementación.</a:t>
            </a:r>
            <a:endParaRPr lang="es-PE" sz="1600" dirty="0"/>
          </a:p>
        </p:txBody>
      </p:sp>
      <p:sp>
        <p:nvSpPr>
          <p:cNvPr id="2" name="Rectángulo 1">
            <a:extLst>
              <a:ext uri="{FF2B5EF4-FFF2-40B4-BE49-F238E27FC236}">
                <a16:creationId xmlns:a16="http://schemas.microsoft.com/office/drawing/2014/main" id="{49EC7BB7-9D26-4F03-A777-B8A94F025E47}"/>
              </a:ext>
            </a:extLst>
          </p:cNvPr>
          <p:cNvSpPr/>
          <p:nvPr/>
        </p:nvSpPr>
        <p:spPr>
          <a:xfrm>
            <a:off x="408288" y="3222379"/>
            <a:ext cx="6780788" cy="1205843"/>
          </a:xfrm>
          <a:prstGeom prst="rect">
            <a:avLst/>
          </a:prstGeom>
        </p:spPr>
        <p:txBody>
          <a:bodyPr wrap="square">
            <a:spAutoFit/>
          </a:bodyPr>
          <a:lstStyle/>
          <a:p>
            <a:pPr>
              <a:lnSpc>
                <a:spcPct val="80000"/>
              </a:lnSpc>
              <a:spcBef>
                <a:spcPts val="1000"/>
              </a:spcBef>
              <a:spcAft>
                <a:spcPts val="1200"/>
              </a:spcAft>
              <a:buClr>
                <a:srgbClr val="004588"/>
              </a:buClr>
              <a:defRPr/>
            </a:pPr>
            <a:r>
              <a:rPr lang="es-PE" b="1" dirty="0"/>
              <a:t>Nitruración: </a:t>
            </a:r>
            <a:r>
              <a:rPr lang="es-PE" dirty="0"/>
              <a:t>mayor dureza que en cementación, incorporando nitrógeno en la composición de superficie de la pieza. Se logra calentando el acero a temperaturas comprendidas entre 400 – 525º C, dentro de una corriente de gas amoníaco. SE forman nitruros en la periferia. </a:t>
            </a:r>
          </a:p>
        </p:txBody>
      </p:sp>
    </p:spTree>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094B4B-9377-4E8B-A131-1C4BDADB27B3}"/>
              </a:ext>
            </a:extLst>
          </p:cNvPr>
          <p:cNvSpPr>
            <a:spLocks noGrp="1"/>
          </p:cNvSpPr>
          <p:nvPr>
            <p:ph type="title"/>
          </p:nvPr>
        </p:nvSpPr>
        <p:spPr/>
        <p:txBody>
          <a:bodyPr/>
          <a:lstStyle/>
          <a:p>
            <a:r>
              <a:rPr lang="es-ES" dirty="0"/>
              <a:t>Exposiciones y evaluación oral</a:t>
            </a:r>
            <a:endParaRPr lang="es-PE" dirty="0"/>
          </a:p>
        </p:txBody>
      </p:sp>
      <p:graphicFrame>
        <p:nvGraphicFramePr>
          <p:cNvPr id="4" name="Tabla 3">
            <a:extLst>
              <a:ext uri="{FF2B5EF4-FFF2-40B4-BE49-F238E27FC236}">
                <a16:creationId xmlns:a16="http://schemas.microsoft.com/office/drawing/2014/main" id="{9FD03D1E-AD4C-405E-AD3F-0A2B7D050C64}"/>
              </a:ext>
            </a:extLst>
          </p:cNvPr>
          <p:cNvGraphicFramePr>
            <a:graphicFrameLocks noGrp="1"/>
          </p:cNvGraphicFramePr>
          <p:nvPr>
            <p:extLst>
              <p:ext uri="{D42A27DB-BD31-4B8C-83A1-F6EECF244321}">
                <p14:modId xmlns:p14="http://schemas.microsoft.com/office/powerpoint/2010/main" val="493344034"/>
              </p:ext>
            </p:extLst>
          </p:nvPr>
        </p:nvGraphicFramePr>
        <p:xfrm>
          <a:off x="498279" y="1465606"/>
          <a:ext cx="8000027" cy="3455311"/>
        </p:xfrm>
        <a:graphic>
          <a:graphicData uri="http://schemas.openxmlformats.org/drawingml/2006/table">
            <a:tbl>
              <a:tblPr firstRow="1" firstCol="1" bandRow="1" bandCol="1">
                <a:tableStyleId>{5C22544A-7EE6-4342-B048-85BDC9FD1C3A}</a:tableStyleId>
              </a:tblPr>
              <a:tblGrid>
                <a:gridCol w="1143384">
                  <a:extLst>
                    <a:ext uri="{9D8B030D-6E8A-4147-A177-3AD203B41FA5}">
                      <a16:colId xmlns:a16="http://schemas.microsoft.com/office/drawing/2014/main" val="731396493"/>
                    </a:ext>
                  </a:extLst>
                </a:gridCol>
                <a:gridCol w="1142652">
                  <a:extLst>
                    <a:ext uri="{9D8B030D-6E8A-4147-A177-3AD203B41FA5}">
                      <a16:colId xmlns:a16="http://schemas.microsoft.com/office/drawing/2014/main" val="2122623758"/>
                    </a:ext>
                  </a:extLst>
                </a:gridCol>
                <a:gridCol w="1350807">
                  <a:extLst>
                    <a:ext uri="{9D8B030D-6E8A-4147-A177-3AD203B41FA5}">
                      <a16:colId xmlns:a16="http://schemas.microsoft.com/office/drawing/2014/main" val="2073232589"/>
                    </a:ext>
                  </a:extLst>
                </a:gridCol>
                <a:gridCol w="1454150">
                  <a:extLst>
                    <a:ext uri="{9D8B030D-6E8A-4147-A177-3AD203B41FA5}">
                      <a16:colId xmlns:a16="http://schemas.microsoft.com/office/drawing/2014/main" val="617149273"/>
                    </a:ext>
                  </a:extLst>
                </a:gridCol>
                <a:gridCol w="1454884">
                  <a:extLst>
                    <a:ext uri="{9D8B030D-6E8A-4147-A177-3AD203B41FA5}">
                      <a16:colId xmlns:a16="http://schemas.microsoft.com/office/drawing/2014/main" val="363336515"/>
                    </a:ext>
                  </a:extLst>
                </a:gridCol>
                <a:gridCol w="1454150">
                  <a:extLst>
                    <a:ext uri="{9D8B030D-6E8A-4147-A177-3AD203B41FA5}">
                      <a16:colId xmlns:a16="http://schemas.microsoft.com/office/drawing/2014/main" val="1576190795"/>
                    </a:ext>
                  </a:extLst>
                </a:gridCol>
              </a:tblGrid>
              <a:tr h="570134">
                <a:tc>
                  <a:txBody>
                    <a:bodyPr/>
                    <a:lstStyle/>
                    <a:p>
                      <a:pPr>
                        <a:lnSpc>
                          <a:spcPct val="115000"/>
                        </a:lnSpc>
                        <a:spcAft>
                          <a:spcPts val="0"/>
                        </a:spcAft>
                      </a:pPr>
                      <a:r>
                        <a:rPr lang="es-PE" sz="1400">
                          <a:effectLst/>
                        </a:rPr>
                        <a:t>HORAS</a:t>
                      </a:r>
                      <a:endParaRPr lang="es-PE"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s-PE" sz="1400" dirty="0">
                          <a:effectLst/>
                        </a:rPr>
                        <a:t>Lunes 13/09</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s-PE" sz="1400">
                          <a:effectLst/>
                        </a:rPr>
                        <a:t>Martes 14/09</a:t>
                      </a:r>
                      <a:endParaRPr lang="es-PE"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s-PE" sz="1400">
                          <a:effectLst/>
                        </a:rPr>
                        <a:t>Miércoles 15/09</a:t>
                      </a:r>
                      <a:endParaRPr lang="es-PE"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s-PE" sz="1400" dirty="0">
                          <a:effectLst/>
                        </a:rPr>
                        <a:t>Jueves 16/09</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s-PE" sz="1400">
                          <a:effectLst/>
                        </a:rPr>
                        <a:t>Viernes 17/09</a:t>
                      </a:r>
                      <a:endParaRPr lang="es-PE"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41507616"/>
                  </a:ext>
                </a:extLst>
              </a:tr>
              <a:tr h="863828">
                <a:tc>
                  <a:txBody>
                    <a:bodyPr/>
                    <a:lstStyle/>
                    <a:p>
                      <a:pPr>
                        <a:lnSpc>
                          <a:spcPct val="115000"/>
                        </a:lnSpc>
                        <a:spcAft>
                          <a:spcPts val="0"/>
                        </a:spcAft>
                      </a:pPr>
                      <a:r>
                        <a:rPr lang="de-DE" sz="1400" dirty="0">
                          <a:effectLst/>
                        </a:rPr>
                        <a:t>9:00 10:00am</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de-DE" sz="1400" dirty="0">
                          <a:effectLst/>
                        </a:rPr>
                        <a:t>EXP TFA </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pP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pP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pP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16039545"/>
                  </a:ext>
                </a:extLst>
              </a:tr>
              <a:tr h="863828">
                <a:tc>
                  <a:txBody>
                    <a:bodyPr/>
                    <a:lstStyle/>
                    <a:p>
                      <a:pPr>
                        <a:lnSpc>
                          <a:spcPct val="115000"/>
                        </a:lnSpc>
                        <a:spcAft>
                          <a:spcPts val="0"/>
                        </a:spcAft>
                      </a:pPr>
                      <a:r>
                        <a:rPr lang="de-DE" sz="1400">
                          <a:effectLst/>
                        </a:rPr>
                        <a:t>10:00 -.11 am</a:t>
                      </a:r>
                      <a:endParaRPr lang="es-PE"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de-DE" sz="1400">
                          <a:effectLst/>
                        </a:rPr>
                        <a:t>EXP TFA  </a:t>
                      </a:r>
                      <a:endParaRPr lang="es-PE" sz="1400">
                        <a:effectLst/>
                      </a:endParaRPr>
                    </a:p>
                    <a:p>
                      <a:pPr>
                        <a:lnSpc>
                          <a:spcPct val="115000"/>
                        </a:lnSpc>
                        <a:spcAft>
                          <a:spcPts val="0"/>
                        </a:spcAft>
                      </a:pPr>
                      <a:r>
                        <a:rPr lang="de-DE" sz="1400">
                          <a:effectLst/>
                        </a:rPr>
                        <a:t> </a:t>
                      </a:r>
                      <a:endParaRPr lang="es-PE" sz="1400">
                        <a:effectLst/>
                      </a:endParaRPr>
                    </a:p>
                    <a:p>
                      <a:pPr>
                        <a:lnSpc>
                          <a:spcPct val="115000"/>
                        </a:lnSpc>
                        <a:spcAft>
                          <a:spcPts val="0"/>
                        </a:spcAft>
                      </a:pPr>
                      <a:r>
                        <a:rPr lang="de-DE" sz="1400">
                          <a:effectLst/>
                        </a:rPr>
                        <a:t> </a:t>
                      </a:r>
                      <a:endParaRPr lang="es-PE"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pPr>
                      <a:r>
                        <a:rPr lang="de-DE" sz="1400">
                          <a:effectLst/>
                        </a:rPr>
                        <a:t>EXP TFA </a:t>
                      </a:r>
                      <a:endParaRPr lang="es-PE"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pPr>
                      <a:r>
                        <a:rPr lang="de-DE" sz="1400">
                          <a:effectLst/>
                        </a:rPr>
                        <a:t>EXP TFA </a:t>
                      </a:r>
                      <a:endParaRPr lang="es-PE"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pPr>
                      <a:r>
                        <a:rPr lang="de-DE" sz="1400">
                          <a:effectLst/>
                        </a:rPr>
                        <a:t>EXP TFA </a:t>
                      </a:r>
                      <a:endParaRPr lang="es-PE"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pPr>
                      <a:r>
                        <a:rPr lang="de-DE" sz="1400" dirty="0">
                          <a:effectLst/>
                        </a:rPr>
                        <a:t>EXP TFA</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57240422"/>
                  </a:ext>
                </a:extLst>
              </a:tr>
              <a:tr h="1157521">
                <a:tc>
                  <a:txBody>
                    <a:bodyPr/>
                    <a:lstStyle/>
                    <a:p>
                      <a:pPr>
                        <a:lnSpc>
                          <a:spcPct val="115000"/>
                        </a:lnSpc>
                        <a:spcAft>
                          <a:spcPts val="0"/>
                        </a:spcAft>
                      </a:pPr>
                      <a:r>
                        <a:rPr lang="de-DE" sz="1400">
                          <a:effectLst/>
                        </a:rPr>
                        <a:t>2:00 – 3:00</a:t>
                      </a:r>
                      <a:r>
                        <a:rPr lang="es-PE" sz="1400">
                          <a:effectLst/>
                        </a:rPr>
                        <a:t> pm</a:t>
                      </a:r>
                      <a:endParaRPr lang="es-PE"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de-DE" sz="1400">
                          <a:effectLst/>
                        </a:rPr>
                        <a:t> </a:t>
                      </a:r>
                      <a:endParaRPr lang="es-PE"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de-DE" sz="1400">
                          <a:effectLst/>
                        </a:rPr>
                        <a:t> </a:t>
                      </a:r>
                      <a:endParaRPr lang="es-PE"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de-DE" sz="1400">
                          <a:effectLst/>
                        </a:rPr>
                        <a:t> </a:t>
                      </a:r>
                      <a:endParaRPr lang="es-PE"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de-DE" sz="1400">
                          <a:effectLst/>
                        </a:rPr>
                        <a:t> </a:t>
                      </a:r>
                      <a:endParaRPr lang="es-PE"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11760">
                        <a:lnSpc>
                          <a:spcPct val="115000"/>
                        </a:lnSpc>
                        <a:spcAft>
                          <a:spcPts val="0"/>
                        </a:spcAft>
                        <a:tabLst>
                          <a:tab pos="111760" algn="l"/>
                        </a:tabLst>
                      </a:pPr>
                      <a:r>
                        <a:rPr lang="de-DE" sz="1400" dirty="0">
                          <a:effectLst/>
                        </a:rPr>
                        <a:t>EXPOSICIÓN TFA  (2- 3 PM)</a:t>
                      </a:r>
                      <a:endParaRPr lang="es-PE" sz="1400" dirty="0">
                        <a:effectLst/>
                      </a:endParaRPr>
                    </a:p>
                    <a:p>
                      <a:pPr marL="111760">
                        <a:lnSpc>
                          <a:spcPct val="115000"/>
                        </a:lnSpc>
                        <a:spcAft>
                          <a:spcPts val="0"/>
                        </a:spcAft>
                        <a:tabLst>
                          <a:tab pos="111760" algn="l"/>
                        </a:tabLst>
                      </a:pPr>
                      <a:r>
                        <a:rPr lang="de-DE" sz="1400" dirty="0">
                          <a:effectLst/>
                        </a:rPr>
                        <a:t> </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46808969"/>
                  </a:ext>
                </a:extLst>
              </a:tr>
            </a:tbl>
          </a:graphicData>
        </a:graphic>
      </p:graphicFrame>
      <p:graphicFrame>
        <p:nvGraphicFramePr>
          <p:cNvPr id="5" name="Tabla 4">
            <a:extLst>
              <a:ext uri="{FF2B5EF4-FFF2-40B4-BE49-F238E27FC236}">
                <a16:creationId xmlns:a16="http://schemas.microsoft.com/office/drawing/2014/main" id="{7215DC18-B8D7-4F11-8A4E-F10A60141A43}"/>
              </a:ext>
            </a:extLst>
          </p:cNvPr>
          <p:cNvGraphicFramePr>
            <a:graphicFrameLocks noGrp="1"/>
          </p:cNvGraphicFramePr>
          <p:nvPr>
            <p:extLst>
              <p:ext uri="{D42A27DB-BD31-4B8C-83A1-F6EECF244321}">
                <p14:modId xmlns:p14="http://schemas.microsoft.com/office/powerpoint/2010/main" val="3241585668"/>
              </p:ext>
            </p:extLst>
          </p:nvPr>
        </p:nvGraphicFramePr>
        <p:xfrm>
          <a:off x="8662738" y="1465606"/>
          <a:ext cx="2526630" cy="2315828"/>
        </p:xfrm>
        <a:graphic>
          <a:graphicData uri="http://schemas.openxmlformats.org/drawingml/2006/table">
            <a:tbl>
              <a:tblPr firstRow="1" firstCol="1" bandRow="1" bandCol="1">
                <a:tableStyleId>{5C22544A-7EE6-4342-B048-85BDC9FD1C3A}</a:tableStyleId>
              </a:tblPr>
              <a:tblGrid>
                <a:gridCol w="1263720">
                  <a:extLst>
                    <a:ext uri="{9D8B030D-6E8A-4147-A177-3AD203B41FA5}">
                      <a16:colId xmlns:a16="http://schemas.microsoft.com/office/drawing/2014/main" val="512843202"/>
                    </a:ext>
                  </a:extLst>
                </a:gridCol>
                <a:gridCol w="1262910">
                  <a:extLst>
                    <a:ext uri="{9D8B030D-6E8A-4147-A177-3AD203B41FA5}">
                      <a16:colId xmlns:a16="http://schemas.microsoft.com/office/drawing/2014/main" val="2016182110"/>
                    </a:ext>
                  </a:extLst>
                </a:gridCol>
              </a:tblGrid>
              <a:tr h="319450">
                <a:tc>
                  <a:txBody>
                    <a:bodyPr/>
                    <a:lstStyle/>
                    <a:p>
                      <a:pPr>
                        <a:lnSpc>
                          <a:spcPct val="115000"/>
                        </a:lnSpc>
                        <a:spcAft>
                          <a:spcPts val="0"/>
                        </a:spcAft>
                      </a:pPr>
                      <a:r>
                        <a:rPr lang="es-PE" sz="1400">
                          <a:effectLst/>
                        </a:rPr>
                        <a:t>HORAS</a:t>
                      </a:r>
                      <a:endParaRPr lang="es-PE"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s-PE" sz="1400">
                          <a:effectLst/>
                        </a:rPr>
                        <a:t>Lunes 20/09</a:t>
                      </a:r>
                      <a:endParaRPr lang="es-PE"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61661988"/>
                  </a:ext>
                </a:extLst>
              </a:tr>
              <a:tr h="998189">
                <a:tc>
                  <a:txBody>
                    <a:bodyPr/>
                    <a:lstStyle/>
                    <a:p>
                      <a:pPr>
                        <a:lnSpc>
                          <a:spcPct val="115000"/>
                        </a:lnSpc>
                        <a:spcAft>
                          <a:spcPts val="0"/>
                        </a:spcAft>
                      </a:pPr>
                      <a:r>
                        <a:rPr lang="de-DE" sz="1400">
                          <a:effectLst/>
                        </a:rPr>
                        <a:t>9:00-10:00am</a:t>
                      </a:r>
                      <a:endParaRPr lang="es-PE"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de-DE" sz="1400" dirty="0">
                          <a:effectLst/>
                        </a:rPr>
                        <a:t>EXP TFA</a:t>
                      </a:r>
                      <a:endParaRPr lang="es-PE" sz="1400" dirty="0">
                        <a:effectLst/>
                      </a:endParaRPr>
                    </a:p>
                    <a:p>
                      <a:pPr>
                        <a:lnSpc>
                          <a:spcPct val="115000"/>
                        </a:lnSpc>
                        <a:spcAft>
                          <a:spcPts val="0"/>
                        </a:spcAft>
                      </a:pPr>
                      <a:r>
                        <a:rPr lang="de-DE" sz="1400" dirty="0">
                          <a:effectLst/>
                        </a:rPr>
                        <a:t> </a:t>
                      </a:r>
                      <a:endParaRPr lang="es-PE" sz="1400" dirty="0">
                        <a:effectLst/>
                      </a:endParaRPr>
                    </a:p>
                    <a:p>
                      <a:pPr>
                        <a:lnSpc>
                          <a:spcPct val="115000"/>
                        </a:lnSpc>
                        <a:spcAft>
                          <a:spcPts val="0"/>
                        </a:spcAft>
                      </a:pPr>
                      <a:r>
                        <a:rPr lang="de-DE" sz="1400" dirty="0">
                          <a:effectLst/>
                        </a:rPr>
                        <a:t> </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80081364"/>
                  </a:ext>
                </a:extLst>
              </a:tr>
              <a:tr h="998189">
                <a:tc>
                  <a:txBody>
                    <a:bodyPr/>
                    <a:lstStyle/>
                    <a:p>
                      <a:pPr>
                        <a:lnSpc>
                          <a:spcPct val="115000"/>
                        </a:lnSpc>
                        <a:spcAft>
                          <a:spcPts val="0"/>
                        </a:spcAft>
                      </a:pPr>
                      <a:r>
                        <a:rPr lang="de-DE" sz="1400">
                          <a:effectLst/>
                        </a:rPr>
                        <a:t>10:00 -.11:00 am</a:t>
                      </a:r>
                      <a:endParaRPr lang="es-PE"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de-DE" sz="1400" dirty="0">
                          <a:effectLst/>
                        </a:rPr>
                        <a:t>EXP TFA </a:t>
                      </a:r>
                      <a:endParaRPr lang="es-PE" sz="1400" dirty="0">
                        <a:effectLst/>
                      </a:endParaRPr>
                    </a:p>
                    <a:p>
                      <a:pPr>
                        <a:lnSpc>
                          <a:spcPct val="115000"/>
                        </a:lnSpc>
                        <a:spcAft>
                          <a:spcPts val="0"/>
                        </a:spcAft>
                      </a:pPr>
                      <a:r>
                        <a:rPr lang="de-DE" sz="1400" dirty="0">
                          <a:effectLst/>
                        </a:rPr>
                        <a:t> </a:t>
                      </a:r>
                      <a:endParaRPr lang="es-PE" sz="1400" dirty="0">
                        <a:effectLst/>
                      </a:endParaRPr>
                    </a:p>
                    <a:p>
                      <a:pPr>
                        <a:lnSpc>
                          <a:spcPct val="115000"/>
                        </a:lnSpc>
                        <a:spcAft>
                          <a:spcPts val="0"/>
                        </a:spcAft>
                      </a:pPr>
                      <a:r>
                        <a:rPr lang="de-DE" sz="1400" dirty="0">
                          <a:effectLst/>
                        </a:rPr>
                        <a:t> </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51058136"/>
                  </a:ext>
                </a:extLst>
              </a:tr>
            </a:tbl>
          </a:graphicData>
        </a:graphic>
      </p:graphicFrame>
    </p:spTree>
    <p:extLst>
      <p:ext uri="{BB962C8B-B14F-4D97-AF65-F5344CB8AC3E}">
        <p14:creationId xmlns:p14="http://schemas.microsoft.com/office/powerpoint/2010/main" val="1234859634"/>
      </p:ext>
    </p:extLst>
  </p:cSld>
  <p:clrMapOvr>
    <a:masterClrMapping/>
  </p:clrMapOvr>
  <p:transition spd="med">
    <p:wipe dir="r"/>
  </p:transition>
</p:sld>
</file>

<file path=ppt/theme/theme1.xml><?xml version="1.0" encoding="utf-8"?>
<a:theme xmlns:a="http://schemas.openxmlformats.org/drawingml/2006/main" name="UDEP Portada">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UDEP - Tonalidad clara">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UDEP - Tonalidad media">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UDEP - Tonalidad oscura">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UDEP - Pizarra">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ath_Settings xmlns="73fc2aac-ad62-4690-badc-8efc4f9d67f6" xsi:nil="true"/>
    <Templates xmlns="73fc2aac-ad62-4690-badc-8efc4f9d67f6" xsi:nil="true"/>
    <Members xmlns="73fc2aac-ad62-4690-badc-8efc4f9d67f6">
      <UserInfo>
        <DisplayName/>
        <AccountId xsi:nil="true"/>
        <AccountType/>
      </UserInfo>
    </Members>
    <Self_Registration_Enabled xmlns="73fc2aac-ad62-4690-badc-8efc4f9d67f6" xsi:nil="true"/>
    <Has_Leaders_Only_SectionGroup xmlns="73fc2aac-ad62-4690-badc-8efc4f9d67f6" xsi:nil="true"/>
    <Distribution_Groups xmlns="73fc2aac-ad62-4690-badc-8efc4f9d67f6" xsi:nil="true"/>
    <TeamsChannelId xmlns="73fc2aac-ad62-4690-badc-8efc4f9d67f6" xsi:nil="true"/>
    <Invited_Leaders xmlns="73fc2aac-ad62-4690-badc-8efc4f9d67f6" xsi:nil="true"/>
    <IsNotebookLocked xmlns="73fc2aac-ad62-4690-badc-8efc4f9d67f6" xsi:nil="true"/>
    <DefaultSectionNames xmlns="73fc2aac-ad62-4690-badc-8efc4f9d67f6" xsi:nil="true"/>
    <LMS_Mappings xmlns="73fc2aac-ad62-4690-badc-8efc4f9d67f6" xsi:nil="true"/>
    <Is_Collaboration_Space_Locked xmlns="73fc2aac-ad62-4690-badc-8efc4f9d67f6" xsi:nil="true"/>
    <NotebookType xmlns="73fc2aac-ad62-4690-badc-8efc4f9d67f6" xsi:nil="true"/>
    <Leaders xmlns="73fc2aac-ad62-4690-badc-8efc4f9d67f6">
      <UserInfo>
        <DisplayName/>
        <AccountId xsi:nil="true"/>
        <AccountType/>
      </UserInfo>
    </Leaders>
    <Member_Groups xmlns="73fc2aac-ad62-4690-badc-8efc4f9d67f6">
      <UserInfo>
        <DisplayName/>
        <AccountId xsi:nil="true"/>
        <AccountType/>
      </UserInfo>
    </Member_Groups>
    <Owner xmlns="73fc2aac-ad62-4690-badc-8efc4f9d67f6">
      <UserInfo>
        <DisplayName/>
        <AccountId xsi:nil="true"/>
        <AccountType/>
      </UserInfo>
    </Owner>
    <AppVersion xmlns="73fc2aac-ad62-4690-badc-8efc4f9d67f6" xsi:nil="true"/>
    <Invited_Members xmlns="73fc2aac-ad62-4690-badc-8efc4f9d67f6" xsi:nil="true"/>
    <FolderType xmlns="73fc2aac-ad62-4690-badc-8efc4f9d67f6" xsi:nil="true"/>
    <CultureName xmlns="73fc2aac-ad62-4690-badc-8efc4f9d67f6"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BB02BD22D4D828428BAA06EA1A84D8F6" ma:contentTypeVersion="32" ma:contentTypeDescription="Crear nuevo documento." ma:contentTypeScope="" ma:versionID="bfb47231ebf68423c78bcd6064d4933d">
  <xsd:schema xmlns:xsd="http://www.w3.org/2001/XMLSchema" xmlns:xs="http://www.w3.org/2001/XMLSchema" xmlns:p="http://schemas.microsoft.com/office/2006/metadata/properties" xmlns:ns2="73fc2aac-ad62-4690-badc-8efc4f9d67f6" xmlns:ns3="4e49f5a6-3dcf-425f-ae7f-7ebb09bd4307" targetNamespace="http://schemas.microsoft.com/office/2006/metadata/properties" ma:root="true" ma:fieldsID="77ec458d17703c30df359f696731b919" ns2:_="" ns3:_="">
    <xsd:import namespace="73fc2aac-ad62-4690-badc-8efc4f9d67f6"/>
    <xsd:import namespace="4e49f5a6-3dcf-425f-ae7f-7ebb09bd4307"/>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Leaders" minOccurs="0"/>
                <xsd:element ref="ns2:Members" minOccurs="0"/>
                <xsd:element ref="ns2:Member_Groups" minOccurs="0"/>
                <xsd:element ref="ns2:Distribution_Groups" minOccurs="0"/>
                <xsd:element ref="ns2:LMS_Mappings" minOccurs="0"/>
                <xsd:element ref="ns2:Invited_Leaders" minOccurs="0"/>
                <xsd:element ref="ns2:Invited_Members" minOccurs="0"/>
                <xsd:element ref="ns2:Self_Registration_Enabled" minOccurs="0"/>
                <xsd:element ref="ns2:Has_Leaders_Only_SectionGroup" minOccurs="0"/>
                <xsd:element ref="ns2:Is_Collaboration_Space_Locked" minOccurs="0"/>
                <xsd:element ref="ns2:IsNotebookLocked" minOccurs="0"/>
                <xsd:element ref="ns2:MediaServiceMetadata" minOccurs="0"/>
                <xsd:element ref="ns2:MediaServiceFastMetadata" minOccurs="0"/>
                <xsd:element ref="ns2:MediaServiceAutoTags"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OCR" minOccurs="0"/>
                <xsd:element ref="ns2:MediaServiceLocation"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fc2aac-ad62-4690-badc-8efc4f9d67f6"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Leaders" ma:index="17" nillable="true" ma:displayName="Leaders" ma:internalName="Lead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mbers" ma:index="18" nillable="true" ma:displayName="Members" ma:internalName="Memb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mber_Groups" ma:index="19" nillable="true" ma:displayName="Member Groups" ma:internalName="Member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Leaders" ma:index="22" nillable="true" ma:displayName="Invited Leaders" ma:internalName="Invited_Leaders">
      <xsd:simpleType>
        <xsd:restriction base="dms:Note">
          <xsd:maxLength value="255"/>
        </xsd:restriction>
      </xsd:simpleType>
    </xsd:element>
    <xsd:element name="Invited_Members" ma:index="23" nillable="true" ma:displayName="Invited Members" ma:internalName="Invited_Member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Leaders_Only_SectionGroup" ma:index="25" nillable="true" ma:displayName="Has Leaders Only SectionGroup" ma:internalName="Has_Leaders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MediaServiceMetadata" ma:index="28" nillable="true" ma:displayName="MediaServiceMetadata" ma:hidden="true" ma:internalName="MediaServiceMetadata" ma:readOnly="true">
      <xsd:simpleType>
        <xsd:restriction base="dms:Note"/>
      </xsd:simpleType>
    </xsd:element>
    <xsd:element name="MediaServiceFastMetadata" ma:index="29" nillable="true" ma:displayName="MediaServiceFastMetadata" ma:hidden="true" ma:internalName="MediaServiceFastMetadata" ma:readOnly="true">
      <xsd:simpleType>
        <xsd:restriction base="dms:Note"/>
      </xsd:simpleType>
    </xsd:element>
    <xsd:element name="MediaServiceAutoTags" ma:index="30" nillable="true" ma:displayName="Tags" ma:internalName="MediaServiceAutoTags" ma:readOnly="true">
      <xsd:simpleType>
        <xsd:restriction base="dms:Text"/>
      </xsd:simpleType>
    </xsd:element>
    <xsd:element name="MediaServiceGenerationTime" ma:index="31" nillable="true" ma:displayName="MediaServiceGenerationTime" ma:hidden="true" ma:internalName="MediaServiceGenerationTime" ma:readOnly="true">
      <xsd:simpleType>
        <xsd:restriction base="dms:Text"/>
      </xsd:simpleType>
    </xsd:element>
    <xsd:element name="MediaServiceEventHashCode" ma:index="32" nillable="true" ma:displayName="MediaServiceEventHashCode" ma:hidden="true" ma:internalName="MediaServiceEventHashCode" ma:readOnly="true">
      <xsd:simpleType>
        <xsd:restriction base="dms:Text"/>
      </xsd:simpleType>
    </xsd:element>
    <xsd:element name="MediaServiceDateTaken" ma:index="35" nillable="true" ma:displayName="MediaServiceDateTaken" ma:hidden="true" ma:internalName="MediaServiceDateTaken" ma:readOnly="true">
      <xsd:simpleType>
        <xsd:restriction base="dms:Text"/>
      </xsd:simpleType>
    </xsd:element>
    <xsd:element name="MediaServiceOCR" ma:index="36" nillable="true" ma:displayName="Extracted Text" ma:internalName="MediaServiceOCR" ma:readOnly="true">
      <xsd:simpleType>
        <xsd:restriction base="dms:Note">
          <xsd:maxLength value="255"/>
        </xsd:restriction>
      </xsd:simpleType>
    </xsd:element>
    <xsd:element name="MediaServiceLocation" ma:index="37" nillable="true" ma:displayName="Location" ma:internalName="MediaServiceLocation" ma:readOnly="true">
      <xsd:simpleType>
        <xsd:restriction base="dms:Text"/>
      </xsd:simpleType>
    </xsd:element>
    <xsd:element name="MediaServiceAutoKeyPoints" ma:index="38" nillable="true" ma:displayName="MediaServiceAutoKeyPoints" ma:hidden="true" ma:internalName="MediaServiceAutoKeyPoints" ma:readOnly="true">
      <xsd:simpleType>
        <xsd:restriction base="dms:Note"/>
      </xsd:simpleType>
    </xsd:element>
    <xsd:element name="MediaServiceKeyPoints" ma:index="39"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49f5a6-3dcf-425f-ae7f-7ebb09bd4307" elementFormDefault="qualified">
    <xsd:import namespace="http://schemas.microsoft.com/office/2006/documentManagement/types"/>
    <xsd:import namespace="http://schemas.microsoft.com/office/infopath/2007/PartnerControls"/>
    <xsd:element name="SharedWithUsers" ma:index="33"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34" nillable="true" ma:displayName="Detalles de uso compartido"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21E8057-3505-4107-B6E9-A962F52A74A1}">
  <ds:schemaRefs>
    <ds:schemaRef ds:uri="http://schemas.microsoft.com/office/2006/metadata/properties"/>
    <ds:schemaRef ds:uri="http://purl.org/dc/elements/1.1/"/>
    <ds:schemaRef ds:uri="73fc2aac-ad62-4690-badc-8efc4f9d67f6"/>
    <ds:schemaRef ds:uri="http://www.w3.org/XML/1998/namespace"/>
    <ds:schemaRef ds:uri="http://purl.org/dc/dcmitype/"/>
    <ds:schemaRef ds:uri="http://schemas.microsoft.com/office/2006/documentManagement/types"/>
    <ds:schemaRef ds:uri="http://schemas.microsoft.com/office/infopath/2007/PartnerControls"/>
    <ds:schemaRef ds:uri="http://schemas.openxmlformats.org/package/2006/metadata/core-properties"/>
    <ds:schemaRef ds:uri="4e49f5a6-3dcf-425f-ae7f-7ebb09bd4307"/>
    <ds:schemaRef ds:uri="http://purl.org/dc/terms/"/>
  </ds:schemaRefs>
</ds:datastoreItem>
</file>

<file path=customXml/itemProps2.xml><?xml version="1.0" encoding="utf-8"?>
<ds:datastoreItem xmlns:ds="http://schemas.openxmlformats.org/officeDocument/2006/customXml" ds:itemID="{32581929-FB24-4CE6-BAF6-DFA8F77D3479}">
  <ds:schemaRefs>
    <ds:schemaRef ds:uri="http://schemas.microsoft.com/sharepoint/v3/contenttype/forms"/>
  </ds:schemaRefs>
</ds:datastoreItem>
</file>

<file path=customXml/itemProps3.xml><?xml version="1.0" encoding="utf-8"?>
<ds:datastoreItem xmlns:ds="http://schemas.openxmlformats.org/officeDocument/2006/customXml" ds:itemID="{041C4333-9BD8-4FCB-8F3D-1FAC2129FA2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3fc2aac-ad62-4690-badc-8efc4f9d67f6"/>
    <ds:schemaRef ds:uri="4e49f5a6-3dcf-425f-ae7f-7ebb09bd430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3992</TotalTime>
  <Words>1234</Words>
  <Application>Microsoft Office PowerPoint</Application>
  <PresentationFormat>Panorámica</PresentationFormat>
  <Paragraphs>175</Paragraphs>
  <Slides>10</Slides>
  <Notes>3</Notes>
  <HiddenSlides>0</HiddenSlides>
  <MMClips>0</MMClips>
  <ScaleCrop>false</ScaleCrop>
  <HeadingPairs>
    <vt:vector size="6" baseType="variant">
      <vt:variant>
        <vt:lpstr>Fuentes usadas</vt:lpstr>
      </vt:variant>
      <vt:variant>
        <vt:i4>6</vt:i4>
      </vt:variant>
      <vt:variant>
        <vt:lpstr>Tema</vt:lpstr>
      </vt:variant>
      <vt:variant>
        <vt:i4>5</vt:i4>
      </vt:variant>
      <vt:variant>
        <vt:lpstr>Títulos de diapositiva</vt:lpstr>
      </vt:variant>
      <vt:variant>
        <vt:i4>10</vt:i4>
      </vt:variant>
    </vt:vector>
  </HeadingPairs>
  <TitlesOfParts>
    <vt:vector size="21" baseType="lpstr">
      <vt:lpstr>Arial</vt:lpstr>
      <vt:lpstr>Calibri</vt:lpstr>
      <vt:lpstr>Calibri Light</vt:lpstr>
      <vt:lpstr>Cambria Math</vt:lpstr>
      <vt:lpstr>Georgia</vt:lpstr>
      <vt:lpstr>Wingdings</vt:lpstr>
      <vt:lpstr>UDEP Portada</vt:lpstr>
      <vt:lpstr>UDEP - Tonalidad clara</vt:lpstr>
      <vt:lpstr>UDEP - Tonalidad media</vt:lpstr>
      <vt:lpstr>UDEP - Tonalidad oscura</vt:lpstr>
      <vt:lpstr>UDEP - Pizarra</vt:lpstr>
      <vt:lpstr>Unidad 1: Fundamentos de los materiales</vt:lpstr>
      <vt:lpstr>Los tratamientos térmicos </vt:lpstr>
      <vt:lpstr>Presentación de PowerPoint</vt:lpstr>
      <vt:lpstr>Tipos de tratamientos térmicos de los aceros</vt:lpstr>
      <vt:lpstr>Diagrama Fe-C y microestructura de los aceros</vt:lpstr>
      <vt:lpstr>Microestructuras de equilibrio y no equilibrio en los aceros</vt:lpstr>
      <vt:lpstr>Tratamientos termoquímicos:</vt:lpstr>
      <vt:lpstr>Tratamiento termoquímico</vt:lpstr>
      <vt:lpstr>Tratamientos termoquímicos</vt:lpstr>
      <vt:lpstr>Exposiciones y evaluación oral</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UDEP</dc:creator>
  <cp:keywords/>
  <dc:description/>
  <cp:lastModifiedBy>Perla Siri Silva Ramos</cp:lastModifiedBy>
  <cp:revision>226</cp:revision>
  <dcterms:created xsi:type="dcterms:W3CDTF">2020-08-28T21:26:43Z</dcterms:created>
  <dcterms:modified xsi:type="dcterms:W3CDTF">2021-09-16T06:19:07Z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0x010100BB02BD22D4D828428BAA06EA1A84D8F6</vt:lpwstr>
  </property>
</Properties>
</file>