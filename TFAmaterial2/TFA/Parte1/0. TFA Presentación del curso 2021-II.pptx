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77" r:id="rId5"/>
    <p:sldMasterId id="2147483665" r:id="rId6"/>
    <p:sldMasterId id="2147483671" r:id="rId7"/>
    <p:sldMasterId id="2147483687" r:id="rId8"/>
  </p:sldMasterIdLst>
  <p:notesMasterIdLst>
    <p:notesMasterId r:id="rId16"/>
  </p:notesMasterIdLst>
  <p:handoutMasterIdLst>
    <p:handoutMasterId r:id="rId17"/>
  </p:handoutMasterIdLst>
  <p:sldIdLst>
    <p:sldId id="259" r:id="rId9"/>
    <p:sldId id="279" r:id="rId10"/>
    <p:sldId id="276" r:id="rId11"/>
    <p:sldId id="606" r:id="rId12"/>
    <p:sldId id="582" r:id="rId13"/>
    <p:sldId id="604" r:id="rId14"/>
    <p:sldId id="605" r:id="rId15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67A"/>
    <a:srgbClr val="49100F"/>
    <a:srgbClr val="8C1F1C"/>
    <a:srgbClr val="6B3F74"/>
    <a:srgbClr val="502F57"/>
    <a:srgbClr val="F5F5F5"/>
    <a:srgbClr val="071321"/>
    <a:srgbClr val="003863"/>
    <a:srgbClr val="2D2D2D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2" autoAdjust="0"/>
    <p:restoredTop sz="93809" autoAdjust="0"/>
  </p:normalViewPr>
  <p:slideViewPr>
    <p:cSldViewPr snapToGrid="0" snapToObjects="1">
      <p:cViewPr varScale="1">
        <p:scale>
          <a:sx n="52" d="100"/>
          <a:sy n="52" d="100"/>
        </p:scale>
        <p:origin x="60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35" d="100"/>
          <a:sy n="135" d="100"/>
        </p:scale>
        <p:origin x="4768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10" Type="http://schemas.openxmlformats.org/officeDocument/2006/relationships/slide" Target="slides/slide2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E8EB5-DE48-F24A-B215-EF730B6D3427}" type="datetimeFigureOut">
              <a:rPr lang="es-ES_tradnl" smtClean="0"/>
              <a:t>12/08/2021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S_tradnl"/>
              <a:t>NOMBRE DEL CURSO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E056A-1C47-B447-B8E2-AF77A5E3D29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728230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61A33-96CE-D140-AE12-CADEA53986D9}" type="datetimeFigureOut">
              <a:rPr lang="es-ES_tradnl" smtClean="0"/>
              <a:t>12/08/2021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S_tradnl"/>
              <a:t>NOMBRE DEL CURSO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BA044-50DB-F44C-B114-6D0E1C923AF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229038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Adecuada selección del material permite fabricar un componente de manera adecuada y que este tenga su tiempo de vista previsto.</a:t>
            </a:r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BA044-50DB-F44C-B114-6D0E1C923AFF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02598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BA044-50DB-F44C-B114-6D0E1C923AFF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43146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3" name="Título 1"/>
          <p:cNvSpPr>
            <a:spLocks noGrp="1"/>
          </p:cNvSpPr>
          <p:nvPr>
            <p:ph type="ctrTitle" hasCustomPrompt="1"/>
          </p:nvPr>
        </p:nvSpPr>
        <p:spPr>
          <a:xfrm>
            <a:off x="611974" y="2388977"/>
            <a:ext cx="8024025" cy="2338544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 de portada</a:t>
            </a:r>
          </a:p>
        </p:txBody>
      </p:sp>
      <p:pic>
        <p:nvPicPr>
          <p:cNvPr id="17" name="Imagen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87" y="527319"/>
            <a:ext cx="2051823" cy="738574"/>
          </a:xfrm>
          <a:prstGeom prst="rect">
            <a:avLst/>
          </a:prstGeom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BA89B800-8001-774E-957C-AC625B32D6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1975" y="4868652"/>
            <a:ext cx="6725171" cy="866465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2400">
                <a:solidFill>
                  <a:schemeClr val="bg1">
                    <a:lumMod val="85000"/>
                  </a:schemeClr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 dirty="0"/>
              <a:t>Subtítulo de portada</a:t>
            </a:r>
          </a:p>
          <a:p>
            <a:endParaRPr lang="es-ES_tradnl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C5C12C1-19D7-734A-8EC1-F26342F028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1974" y="6129862"/>
            <a:ext cx="6725171" cy="401637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rgbClr val="CFCFC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adicional</a:t>
            </a:r>
            <a:r>
              <a:rPr lang="en-US" dirty="0"/>
              <a:t> de </a:t>
            </a:r>
            <a:r>
              <a:rPr lang="en-US" dirty="0" err="1"/>
              <a:t>portada</a:t>
            </a:r>
            <a:endParaRPr lang="en-PE" dirty="0"/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5B98496C-96FD-CC47-9A44-3FA071B821A8}"/>
              </a:ext>
            </a:extLst>
          </p:cNvPr>
          <p:cNvSpPr/>
          <p:nvPr userDrawn="1"/>
        </p:nvSpPr>
        <p:spPr>
          <a:xfrm>
            <a:off x="8895908" y="0"/>
            <a:ext cx="3296091" cy="6858000"/>
          </a:xfrm>
          <a:prstGeom prst="triangle">
            <a:avLst>
              <a:gd name="adj" fmla="val 100000"/>
            </a:avLst>
          </a:prstGeom>
          <a:solidFill>
            <a:srgbClr val="8C1F1C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14" name="Paralelogramo 2">
            <a:extLst>
              <a:ext uri="{FF2B5EF4-FFF2-40B4-BE49-F238E27FC236}">
                <a16:creationId xmlns:a16="http://schemas.microsoft.com/office/drawing/2014/main" id="{D1B66DAF-BAB9-408F-978D-AC2DF62C28AE}"/>
              </a:ext>
            </a:extLst>
          </p:cNvPr>
          <p:cNvSpPr/>
          <p:nvPr userDrawn="1"/>
        </p:nvSpPr>
        <p:spPr>
          <a:xfrm flipV="1">
            <a:off x="8895908" y="6531492"/>
            <a:ext cx="3296093" cy="326491"/>
          </a:xfrm>
          <a:custGeom>
            <a:avLst/>
            <a:gdLst>
              <a:gd name="connsiteX0" fmla="*/ 0 w 3296093"/>
              <a:gd name="connsiteY0" fmla="*/ 613956 h 613956"/>
              <a:gd name="connsiteX1" fmla="*/ 153489 w 3296093"/>
              <a:gd name="connsiteY1" fmla="*/ 0 h 613956"/>
              <a:gd name="connsiteX2" fmla="*/ 3296093 w 3296093"/>
              <a:gd name="connsiteY2" fmla="*/ 0 h 613956"/>
              <a:gd name="connsiteX3" fmla="*/ 3142604 w 3296093"/>
              <a:gd name="connsiteY3" fmla="*/ 613956 h 613956"/>
              <a:gd name="connsiteX4" fmla="*/ 0 w 3296093"/>
              <a:gd name="connsiteY4" fmla="*/ 613956 h 613956"/>
              <a:gd name="connsiteX0" fmla="*/ 0 w 3296093"/>
              <a:gd name="connsiteY0" fmla="*/ 613956 h 623481"/>
              <a:gd name="connsiteX1" fmla="*/ 153489 w 3296093"/>
              <a:gd name="connsiteY1" fmla="*/ 0 h 623481"/>
              <a:gd name="connsiteX2" fmla="*/ 3296093 w 3296093"/>
              <a:gd name="connsiteY2" fmla="*/ 0 h 623481"/>
              <a:gd name="connsiteX3" fmla="*/ 3295004 w 3296093"/>
              <a:gd name="connsiteY3" fmla="*/ 623481 h 623481"/>
              <a:gd name="connsiteX4" fmla="*/ 0 w 3296093"/>
              <a:gd name="connsiteY4" fmla="*/ 613956 h 623481"/>
              <a:gd name="connsiteX0" fmla="*/ 0 w 3296093"/>
              <a:gd name="connsiteY0" fmla="*/ 613956 h 623481"/>
              <a:gd name="connsiteX1" fmla="*/ 296364 w 3296093"/>
              <a:gd name="connsiteY1" fmla="*/ 47625 h 623481"/>
              <a:gd name="connsiteX2" fmla="*/ 3296093 w 3296093"/>
              <a:gd name="connsiteY2" fmla="*/ 0 h 623481"/>
              <a:gd name="connsiteX3" fmla="*/ 3295004 w 3296093"/>
              <a:gd name="connsiteY3" fmla="*/ 623481 h 623481"/>
              <a:gd name="connsiteX4" fmla="*/ 0 w 3296093"/>
              <a:gd name="connsiteY4" fmla="*/ 613956 h 623481"/>
              <a:gd name="connsiteX0" fmla="*/ 0 w 3296093"/>
              <a:gd name="connsiteY0" fmla="*/ 613956 h 623481"/>
              <a:gd name="connsiteX1" fmla="*/ 258264 w 3296093"/>
              <a:gd name="connsiteY1" fmla="*/ 38100 h 623481"/>
              <a:gd name="connsiteX2" fmla="*/ 3296093 w 3296093"/>
              <a:gd name="connsiteY2" fmla="*/ 0 h 623481"/>
              <a:gd name="connsiteX3" fmla="*/ 3295004 w 3296093"/>
              <a:gd name="connsiteY3" fmla="*/ 623481 h 623481"/>
              <a:gd name="connsiteX4" fmla="*/ 0 w 3296093"/>
              <a:gd name="connsiteY4" fmla="*/ 613956 h 623481"/>
              <a:gd name="connsiteX0" fmla="*/ 0 w 3296093"/>
              <a:gd name="connsiteY0" fmla="*/ 613956 h 623481"/>
              <a:gd name="connsiteX1" fmla="*/ 267789 w 3296093"/>
              <a:gd name="connsiteY1" fmla="*/ 38100 h 623481"/>
              <a:gd name="connsiteX2" fmla="*/ 3296093 w 3296093"/>
              <a:gd name="connsiteY2" fmla="*/ 0 h 623481"/>
              <a:gd name="connsiteX3" fmla="*/ 3295004 w 3296093"/>
              <a:gd name="connsiteY3" fmla="*/ 623481 h 623481"/>
              <a:gd name="connsiteX4" fmla="*/ 0 w 3296093"/>
              <a:gd name="connsiteY4" fmla="*/ 613956 h 623481"/>
              <a:gd name="connsiteX0" fmla="*/ 0 w 3296093"/>
              <a:gd name="connsiteY0" fmla="*/ 613956 h 623481"/>
              <a:gd name="connsiteX1" fmla="*/ 296364 w 3296093"/>
              <a:gd name="connsiteY1" fmla="*/ 28575 h 623481"/>
              <a:gd name="connsiteX2" fmla="*/ 3296093 w 3296093"/>
              <a:gd name="connsiteY2" fmla="*/ 0 h 623481"/>
              <a:gd name="connsiteX3" fmla="*/ 3295004 w 3296093"/>
              <a:gd name="connsiteY3" fmla="*/ 623481 h 623481"/>
              <a:gd name="connsiteX4" fmla="*/ 0 w 3296093"/>
              <a:gd name="connsiteY4" fmla="*/ 613956 h 623481"/>
              <a:gd name="connsiteX0" fmla="*/ 0 w 3296093"/>
              <a:gd name="connsiteY0" fmla="*/ 633006 h 642531"/>
              <a:gd name="connsiteX1" fmla="*/ 124914 w 3296093"/>
              <a:gd name="connsiteY1" fmla="*/ 0 h 642531"/>
              <a:gd name="connsiteX2" fmla="*/ 3296093 w 3296093"/>
              <a:gd name="connsiteY2" fmla="*/ 19050 h 642531"/>
              <a:gd name="connsiteX3" fmla="*/ 3295004 w 3296093"/>
              <a:gd name="connsiteY3" fmla="*/ 642531 h 642531"/>
              <a:gd name="connsiteX4" fmla="*/ 0 w 3296093"/>
              <a:gd name="connsiteY4" fmla="*/ 633006 h 642531"/>
              <a:gd name="connsiteX0" fmla="*/ 113211 w 3171179"/>
              <a:gd name="connsiteY0" fmla="*/ 633006 h 642531"/>
              <a:gd name="connsiteX1" fmla="*/ 0 w 3171179"/>
              <a:gd name="connsiteY1" fmla="*/ 0 h 642531"/>
              <a:gd name="connsiteX2" fmla="*/ 3171179 w 3171179"/>
              <a:gd name="connsiteY2" fmla="*/ 19050 h 642531"/>
              <a:gd name="connsiteX3" fmla="*/ 3170090 w 3171179"/>
              <a:gd name="connsiteY3" fmla="*/ 642531 h 642531"/>
              <a:gd name="connsiteX4" fmla="*/ 113211 w 3171179"/>
              <a:gd name="connsiteY4" fmla="*/ 633006 h 642531"/>
              <a:gd name="connsiteX0" fmla="*/ 284661 w 3171179"/>
              <a:gd name="connsiteY0" fmla="*/ 623481 h 642531"/>
              <a:gd name="connsiteX1" fmla="*/ 0 w 3171179"/>
              <a:gd name="connsiteY1" fmla="*/ 0 h 642531"/>
              <a:gd name="connsiteX2" fmla="*/ 3171179 w 3171179"/>
              <a:gd name="connsiteY2" fmla="*/ 19050 h 642531"/>
              <a:gd name="connsiteX3" fmla="*/ 3170090 w 3171179"/>
              <a:gd name="connsiteY3" fmla="*/ 642531 h 642531"/>
              <a:gd name="connsiteX4" fmla="*/ 284661 w 3171179"/>
              <a:gd name="connsiteY4" fmla="*/ 623481 h 642531"/>
              <a:gd name="connsiteX0" fmla="*/ 466614 w 3353132"/>
              <a:gd name="connsiteY0" fmla="*/ 623481 h 642531"/>
              <a:gd name="connsiteX1" fmla="*/ 0 w 3353132"/>
              <a:gd name="connsiteY1" fmla="*/ 0 h 642531"/>
              <a:gd name="connsiteX2" fmla="*/ 3353132 w 3353132"/>
              <a:gd name="connsiteY2" fmla="*/ 19050 h 642531"/>
              <a:gd name="connsiteX3" fmla="*/ 3352043 w 3353132"/>
              <a:gd name="connsiteY3" fmla="*/ 642531 h 642531"/>
              <a:gd name="connsiteX4" fmla="*/ 466614 w 3353132"/>
              <a:gd name="connsiteY4" fmla="*/ 623481 h 642531"/>
              <a:gd name="connsiteX0" fmla="*/ 466614 w 3353132"/>
              <a:gd name="connsiteY0" fmla="*/ 623481 h 642531"/>
              <a:gd name="connsiteX1" fmla="*/ 0 w 3353132"/>
              <a:gd name="connsiteY1" fmla="*/ 0 h 642531"/>
              <a:gd name="connsiteX2" fmla="*/ 3353132 w 3353132"/>
              <a:gd name="connsiteY2" fmla="*/ 19050 h 642531"/>
              <a:gd name="connsiteX3" fmla="*/ 3352043 w 3353132"/>
              <a:gd name="connsiteY3" fmla="*/ 642531 h 642531"/>
              <a:gd name="connsiteX4" fmla="*/ 466614 w 3353132"/>
              <a:gd name="connsiteY4" fmla="*/ 623481 h 642531"/>
              <a:gd name="connsiteX0" fmla="*/ 509936 w 3353132"/>
              <a:gd name="connsiteY0" fmla="*/ 638719 h 642531"/>
              <a:gd name="connsiteX1" fmla="*/ 0 w 3353132"/>
              <a:gd name="connsiteY1" fmla="*/ 0 h 642531"/>
              <a:gd name="connsiteX2" fmla="*/ 3353132 w 3353132"/>
              <a:gd name="connsiteY2" fmla="*/ 19050 h 642531"/>
              <a:gd name="connsiteX3" fmla="*/ 3352043 w 3353132"/>
              <a:gd name="connsiteY3" fmla="*/ 642531 h 642531"/>
              <a:gd name="connsiteX4" fmla="*/ 509936 w 3353132"/>
              <a:gd name="connsiteY4" fmla="*/ 638719 h 642531"/>
              <a:gd name="connsiteX0" fmla="*/ 723113 w 3353132"/>
              <a:gd name="connsiteY0" fmla="*/ 638719 h 642531"/>
              <a:gd name="connsiteX1" fmla="*/ 0 w 3353132"/>
              <a:gd name="connsiteY1" fmla="*/ 0 h 642531"/>
              <a:gd name="connsiteX2" fmla="*/ 3353132 w 3353132"/>
              <a:gd name="connsiteY2" fmla="*/ 19050 h 642531"/>
              <a:gd name="connsiteX3" fmla="*/ 3352043 w 3353132"/>
              <a:gd name="connsiteY3" fmla="*/ 642531 h 642531"/>
              <a:gd name="connsiteX4" fmla="*/ 723113 w 3353132"/>
              <a:gd name="connsiteY4" fmla="*/ 638719 h 642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3132" h="642531">
                <a:moveTo>
                  <a:pt x="723113" y="638719"/>
                </a:moveTo>
                <a:lnTo>
                  <a:pt x="0" y="0"/>
                </a:lnTo>
                <a:lnTo>
                  <a:pt x="3353132" y="19050"/>
                </a:lnTo>
                <a:lnTo>
                  <a:pt x="3352043" y="642531"/>
                </a:lnTo>
                <a:lnTo>
                  <a:pt x="723113" y="638719"/>
                </a:lnTo>
                <a:close/>
              </a:path>
            </a:pathLst>
          </a:custGeom>
          <a:solidFill>
            <a:srgbClr val="8C1F1C"/>
          </a:solidFill>
          <a:ln>
            <a:noFill/>
          </a:ln>
          <a:effectLst>
            <a:outerShdw blurRad="304800" dist="50800" dir="15120000" algn="ctr" rotWithShape="0">
              <a:schemeClr val="tx1"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CuadroTexto 13">
            <a:extLst>
              <a:ext uri="{FF2B5EF4-FFF2-40B4-BE49-F238E27FC236}">
                <a16:creationId xmlns:a16="http://schemas.microsoft.com/office/drawing/2014/main" id="{666E9AA8-EDD6-45ED-9A04-8FFA465576E8}"/>
              </a:ext>
            </a:extLst>
          </p:cNvPr>
          <p:cNvSpPr txBox="1"/>
          <p:nvPr userDrawn="1"/>
        </p:nvSpPr>
        <p:spPr>
          <a:xfrm>
            <a:off x="9249508" y="6512705"/>
            <a:ext cx="32024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MX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Ingeniería Industrial y de Sistemas</a:t>
            </a:r>
            <a:endParaRPr lang="es-PE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991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037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BE1EA9-4E43-5048-806C-A530FF88898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07442" y="0"/>
            <a:ext cx="7584558" cy="67099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PE" dirty="0"/>
              <a:t>Imagen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6FB2F2C-340B-BB41-8807-1EBD1D0857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326" y="762074"/>
            <a:ext cx="4373525" cy="620159"/>
          </a:xfrm>
        </p:spPr>
        <p:txBody>
          <a:bodyPr/>
          <a:lstStyle>
            <a:lvl1pPr algn="ctr">
              <a:defRPr sz="3000">
                <a:solidFill>
                  <a:srgbClr val="003863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EC67945-2D2A-4049-B6EE-C5C1BC241B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6326" y="1609059"/>
            <a:ext cx="4373525" cy="4682203"/>
          </a:xfrm>
        </p:spPr>
        <p:txBody>
          <a:bodyPr/>
          <a:lstStyle>
            <a:lvl1pPr marL="457200" indent="-457200">
              <a:buClr>
                <a:srgbClr val="003863"/>
              </a:buClr>
              <a:buFont typeface="Wingdings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3153581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AB234F9-9B24-1348-A6E2-02133E57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62328"/>
            <a:ext cx="10515600" cy="1325563"/>
          </a:xfrm>
        </p:spPr>
        <p:txBody>
          <a:bodyPr/>
          <a:lstStyle>
            <a:lvl1pPr algn="ctr">
              <a:defRPr>
                <a:solidFill>
                  <a:srgbClr val="003863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 de sección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7DE41-49D2-3248-A4E2-68DDDC3818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5891" y="3611877"/>
            <a:ext cx="7840218" cy="924388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PE" dirty="0"/>
              <a:t>Subtítulo de sección</a:t>
            </a:r>
          </a:p>
        </p:txBody>
      </p:sp>
    </p:spTree>
    <p:extLst>
      <p:ext uri="{BB962C8B-B14F-4D97-AF65-F5344CB8AC3E}">
        <p14:creationId xmlns:p14="http://schemas.microsoft.com/office/powerpoint/2010/main" val="784481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863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7DE5B-B126-0B42-B728-A8650A460C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960563"/>
            <a:ext cx="10515600" cy="4330700"/>
          </a:xfrm>
        </p:spPr>
        <p:txBody>
          <a:bodyPr/>
          <a:lstStyle>
            <a:lvl1pPr marL="457200" indent="-457200">
              <a:buClr>
                <a:srgbClr val="003863"/>
              </a:buClr>
              <a:buFont typeface="Wingdings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999016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pequeñ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461493"/>
          </a:xfrm>
        </p:spPr>
        <p:txBody>
          <a:bodyPr/>
          <a:lstStyle>
            <a:lvl1pPr>
              <a:defRPr sz="3000">
                <a:solidFill>
                  <a:srgbClr val="003863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7DE5B-B126-0B42-B728-A8650A460C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53389"/>
            <a:ext cx="10515600" cy="5237874"/>
          </a:xfrm>
        </p:spPr>
        <p:txBody>
          <a:bodyPr/>
          <a:lstStyle>
            <a:lvl1pPr marL="457200" indent="-457200">
              <a:buClr>
                <a:srgbClr val="003863"/>
              </a:buClr>
              <a:buFont typeface="Wingdings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2223915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30701843"/>
      </p:ext>
    </p:extLst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6097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BE1EA9-4E43-5048-806C-A530FF88898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07442" y="0"/>
            <a:ext cx="7584558" cy="67099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PE" dirty="0"/>
              <a:t>Imagen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6FB2F2C-340B-BB41-8807-1EBD1D0857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326" y="762074"/>
            <a:ext cx="4373525" cy="620159"/>
          </a:xfrm>
        </p:spPr>
        <p:txBody>
          <a:bodyPr/>
          <a:lstStyle>
            <a:lvl1pPr algn="ctr">
              <a:defRPr sz="3000">
                <a:solidFill>
                  <a:srgbClr val="003863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EC67945-2D2A-4049-B6EE-C5C1BC241B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6326" y="1609059"/>
            <a:ext cx="4373525" cy="4682203"/>
          </a:xfrm>
        </p:spPr>
        <p:txBody>
          <a:bodyPr/>
          <a:lstStyle>
            <a:lvl1pPr marL="457200" indent="-457200">
              <a:buClr>
                <a:srgbClr val="003863"/>
              </a:buClr>
              <a:buFont typeface="Wingdings" pitchFamily="2" charset="2"/>
              <a:buChar char="§"/>
              <a:defRPr>
                <a:solidFill>
                  <a:srgbClr val="071321"/>
                </a:solidFill>
              </a:defRPr>
            </a:lvl1pPr>
            <a:lvl2pPr marL="6858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rgbClr val="071321"/>
                </a:solidFill>
              </a:defRPr>
            </a:lvl2pPr>
            <a:lvl3pPr marL="11430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rgbClr val="071321"/>
                </a:solidFill>
              </a:defRPr>
            </a:lvl3pPr>
            <a:lvl4pPr marL="16002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rgbClr val="071321"/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1332414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AB234F9-9B24-1348-A6E2-02133E57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62328"/>
            <a:ext cx="10515600" cy="1325563"/>
          </a:xfrm>
        </p:spPr>
        <p:txBody>
          <a:bodyPr/>
          <a:lstStyle>
            <a:lvl1pPr algn="ctr">
              <a:defRPr>
                <a:solidFill>
                  <a:srgbClr val="003863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 de sección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7DE41-49D2-3248-A4E2-68DDDC3818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5891" y="3611877"/>
            <a:ext cx="7840218" cy="924388"/>
          </a:xfrm>
        </p:spPr>
        <p:txBody>
          <a:bodyPr anchor="ctr"/>
          <a:lstStyle>
            <a:lvl1pPr marL="0" indent="0" algn="ctr">
              <a:buNone/>
              <a:defRPr>
                <a:solidFill>
                  <a:srgbClr val="07132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PE" dirty="0"/>
              <a:t>Subtítulo de sección</a:t>
            </a:r>
          </a:p>
        </p:txBody>
      </p:sp>
    </p:spTree>
    <p:extLst>
      <p:ext uri="{BB962C8B-B14F-4D97-AF65-F5344CB8AC3E}">
        <p14:creationId xmlns:p14="http://schemas.microsoft.com/office/powerpoint/2010/main" val="1954563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863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7DE5B-B126-0B42-B728-A8650A460C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960563"/>
            <a:ext cx="10515600" cy="4330700"/>
          </a:xfrm>
        </p:spPr>
        <p:txBody>
          <a:bodyPr/>
          <a:lstStyle>
            <a:lvl1pPr marL="457200" indent="-457200">
              <a:buClr>
                <a:srgbClr val="003863"/>
              </a:buClr>
              <a:buFont typeface="Wingdings" pitchFamily="2" charset="2"/>
              <a:buChar char="§"/>
              <a:defRPr>
                <a:solidFill>
                  <a:srgbClr val="071321"/>
                </a:solidFill>
              </a:defRPr>
            </a:lvl1pPr>
            <a:lvl2pPr marL="6858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rgbClr val="071321"/>
                </a:solidFill>
              </a:defRPr>
            </a:lvl2pPr>
            <a:lvl3pPr marL="11430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rgbClr val="071321"/>
                </a:solidFill>
              </a:defRPr>
            </a:lvl3pPr>
            <a:lvl4pPr marL="16002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rgbClr val="071321"/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1878312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pequeñ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461493"/>
          </a:xfrm>
        </p:spPr>
        <p:txBody>
          <a:bodyPr/>
          <a:lstStyle>
            <a:lvl1pPr>
              <a:defRPr sz="3000">
                <a:solidFill>
                  <a:srgbClr val="003863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7DE5B-B126-0B42-B728-A8650A460C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53389"/>
            <a:ext cx="10515600" cy="5237874"/>
          </a:xfrm>
        </p:spPr>
        <p:txBody>
          <a:bodyPr/>
          <a:lstStyle>
            <a:lvl1pPr marL="457200" indent="-457200">
              <a:buClr>
                <a:srgbClr val="003863"/>
              </a:buClr>
              <a:buFont typeface="Wingdings" pitchFamily="2" charset="2"/>
              <a:buChar char="§"/>
              <a:defRPr>
                <a:solidFill>
                  <a:srgbClr val="071321"/>
                </a:solidFill>
              </a:defRPr>
            </a:lvl1pPr>
            <a:lvl2pPr marL="6858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rgbClr val="071321"/>
                </a:solidFill>
              </a:defRPr>
            </a:lvl2pPr>
            <a:lvl3pPr marL="11430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rgbClr val="071321"/>
                </a:solidFill>
              </a:defRPr>
            </a:lvl3pPr>
            <a:lvl4pPr marL="16002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rgbClr val="071321"/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2012330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04194802"/>
      </p:ext>
    </p:extLst>
  </p:cSld>
  <p:clrMapOvr>
    <a:masterClrMapping/>
  </p:clrMapOvr>
  <p:transition spd="med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6448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BE1EA9-4E43-5048-806C-A530FF88898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07442" y="0"/>
            <a:ext cx="7584558" cy="67099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PE" dirty="0"/>
              <a:t>Imagen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6FB2F2C-340B-BB41-8807-1EBD1D0857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326" y="762074"/>
            <a:ext cx="4373525" cy="620159"/>
          </a:xfrm>
        </p:spPr>
        <p:txBody>
          <a:bodyPr/>
          <a:lstStyle>
            <a:lvl1pPr algn="ctr">
              <a:defRPr sz="3000"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D65F07F-1598-AA49-8D42-3B267202AE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6325" y="1609059"/>
            <a:ext cx="4373525" cy="4682203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rgbClr val="EAEAEA"/>
                </a:solidFill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4024585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AB234F9-9B24-1348-A6E2-02133E57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62328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 de sección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7DE41-49D2-3248-A4E2-68DDDC3818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5891" y="3611877"/>
            <a:ext cx="7840218" cy="924388"/>
          </a:xfrm>
        </p:spPr>
        <p:txBody>
          <a:bodyPr anchor="ctr"/>
          <a:lstStyle>
            <a:lvl1pPr marL="0" indent="0" algn="ctr">
              <a:buNone/>
              <a:defRPr>
                <a:solidFill>
                  <a:srgbClr val="EAEAEA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PE" dirty="0"/>
              <a:t>Subtítulo de sección</a:t>
            </a:r>
          </a:p>
        </p:txBody>
      </p:sp>
    </p:spTree>
    <p:extLst>
      <p:ext uri="{BB962C8B-B14F-4D97-AF65-F5344CB8AC3E}">
        <p14:creationId xmlns:p14="http://schemas.microsoft.com/office/powerpoint/2010/main" val="10155671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7DE5B-B126-0B42-B728-A8650A460C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960563"/>
            <a:ext cx="10515600" cy="4330700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rgbClr val="EAEAEA"/>
                </a:solidFill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12611653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pequeñ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461493"/>
          </a:xfrm>
        </p:spPr>
        <p:txBody>
          <a:bodyPr/>
          <a:lstStyle>
            <a:lvl1pPr>
              <a:defRPr sz="3000"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7DE5B-B126-0B42-B728-A8650A460C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53389"/>
            <a:ext cx="10515600" cy="5237874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rgbClr val="EAEAEA"/>
                </a:solidFill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38111573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55954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BE1EA9-4E43-5048-806C-A530FF88898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07442" y="0"/>
            <a:ext cx="7584558" cy="67099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PE" dirty="0"/>
              <a:t>Imagen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6FB2F2C-340B-BB41-8807-1EBD1D0857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326" y="762074"/>
            <a:ext cx="4373525" cy="620159"/>
          </a:xfrm>
        </p:spPr>
        <p:txBody>
          <a:bodyPr/>
          <a:lstStyle>
            <a:lvl1pPr algn="ctr">
              <a:defRPr sz="3000"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D65F07F-1598-AA49-8D42-3B267202AE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6325" y="1609059"/>
            <a:ext cx="4373525" cy="4682203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rgbClr val="EAEAEA"/>
                </a:solidFill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20111206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AB234F9-9B24-1348-A6E2-02133E57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62328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 de sección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7DE41-49D2-3248-A4E2-68DDDC3818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5891" y="3611877"/>
            <a:ext cx="7840218" cy="924388"/>
          </a:xfrm>
        </p:spPr>
        <p:txBody>
          <a:bodyPr anchor="ctr"/>
          <a:lstStyle>
            <a:lvl1pPr marL="0" indent="0" algn="ctr">
              <a:buNone/>
              <a:defRPr>
                <a:solidFill>
                  <a:srgbClr val="EAEAEA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PE" dirty="0"/>
              <a:t>Subtítulo de sección</a:t>
            </a:r>
          </a:p>
        </p:txBody>
      </p:sp>
    </p:spTree>
    <p:extLst>
      <p:ext uri="{BB962C8B-B14F-4D97-AF65-F5344CB8AC3E}">
        <p14:creationId xmlns:p14="http://schemas.microsoft.com/office/powerpoint/2010/main" val="36324035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7DE5B-B126-0B42-B728-A8650A460C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960563"/>
            <a:ext cx="10515600" cy="4330700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rgbClr val="EAEAEA"/>
                </a:solidFill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28970488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pequeñ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461493"/>
          </a:xfrm>
        </p:spPr>
        <p:txBody>
          <a:bodyPr/>
          <a:lstStyle>
            <a:lvl1pPr>
              <a:defRPr sz="3000"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7DE5B-B126-0B42-B728-A8650A460C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53389"/>
            <a:ext cx="10515600" cy="5237874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rgbClr val="EAEAEA"/>
                </a:solidFill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4201130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_tradnl"/>
              <a:t>FACULTAD DE CIENCIAS ECONÓMICAS Y EMPRESARIALES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5E03E-A335-694B-A2BE-C56FC448550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14784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_tradnl"/>
              <a:t>FACULTAD DE CIENCIAS ECONÓMICAS Y EMPRESARIALES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5E03E-A335-694B-A2BE-C56FC4485501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11" name="Triángulo isósceles 11">
            <a:extLst>
              <a:ext uri="{FF2B5EF4-FFF2-40B4-BE49-F238E27FC236}">
                <a16:creationId xmlns:a16="http://schemas.microsoft.com/office/drawing/2014/main" id="{BCFBDACA-FF37-441C-BCA2-F698176ECD6F}"/>
              </a:ext>
            </a:extLst>
          </p:cNvPr>
          <p:cNvSpPr/>
          <p:nvPr userDrawn="1"/>
        </p:nvSpPr>
        <p:spPr>
          <a:xfrm>
            <a:off x="11827751" y="6681004"/>
            <a:ext cx="93528" cy="92142"/>
          </a:xfrm>
          <a:custGeom>
            <a:avLst/>
            <a:gdLst>
              <a:gd name="connsiteX0" fmla="*/ 0 w 389220"/>
              <a:gd name="connsiteY0" fmla="*/ 326109 h 326109"/>
              <a:gd name="connsiteX1" fmla="*/ 194610 w 389220"/>
              <a:gd name="connsiteY1" fmla="*/ 0 h 326109"/>
              <a:gd name="connsiteX2" fmla="*/ 389220 w 389220"/>
              <a:gd name="connsiteY2" fmla="*/ 326109 h 326109"/>
              <a:gd name="connsiteX3" fmla="*/ 0 w 389220"/>
              <a:gd name="connsiteY3" fmla="*/ 326109 h 326109"/>
              <a:gd name="connsiteX0" fmla="*/ 0 w 389220"/>
              <a:gd name="connsiteY0" fmla="*/ 0 h 217732"/>
              <a:gd name="connsiteX1" fmla="*/ 13329 w 389220"/>
              <a:gd name="connsiteY1" fmla="*/ 217732 h 217732"/>
              <a:gd name="connsiteX2" fmla="*/ 389220 w 389220"/>
              <a:gd name="connsiteY2" fmla="*/ 0 h 217732"/>
              <a:gd name="connsiteX3" fmla="*/ 0 w 389220"/>
              <a:gd name="connsiteY3" fmla="*/ 0 h 217732"/>
              <a:gd name="connsiteX0" fmla="*/ 0 w 389220"/>
              <a:gd name="connsiteY0" fmla="*/ 0 h 212400"/>
              <a:gd name="connsiteX1" fmla="*/ 2666 w 389220"/>
              <a:gd name="connsiteY1" fmla="*/ 212400 h 212400"/>
              <a:gd name="connsiteX2" fmla="*/ 389220 w 389220"/>
              <a:gd name="connsiteY2" fmla="*/ 0 h 212400"/>
              <a:gd name="connsiteX3" fmla="*/ 0 w 389220"/>
              <a:gd name="connsiteY3" fmla="*/ 0 h 2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220" h="212400">
                <a:moveTo>
                  <a:pt x="0" y="0"/>
                </a:moveTo>
                <a:cubicBezTo>
                  <a:pt x="889" y="70800"/>
                  <a:pt x="1777" y="141600"/>
                  <a:pt x="2666" y="212400"/>
                </a:cubicBezTo>
                <a:lnTo>
                  <a:pt x="389220" y="0"/>
                </a:lnTo>
                <a:lnTo>
                  <a:pt x="0" y="0"/>
                </a:lnTo>
                <a:close/>
              </a:path>
            </a:pathLst>
          </a:custGeom>
          <a:solidFill>
            <a:srgbClr val="491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299EC40-71AD-4A69-8ACD-75BE2DB449D2}"/>
              </a:ext>
            </a:extLst>
          </p:cNvPr>
          <p:cNvSpPr/>
          <p:nvPr userDrawn="1"/>
        </p:nvSpPr>
        <p:spPr>
          <a:xfrm>
            <a:off x="0" y="6721200"/>
            <a:ext cx="12192000" cy="136800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D312A0A2-FEF0-4040-951C-30E5E1ABC731}"/>
              </a:ext>
            </a:extLst>
          </p:cNvPr>
          <p:cNvSpPr txBox="1">
            <a:spLocks/>
          </p:cNvSpPr>
          <p:nvPr userDrawn="1"/>
        </p:nvSpPr>
        <p:spPr>
          <a:xfrm>
            <a:off x="6096000" y="6715571"/>
            <a:ext cx="6096000" cy="136800"/>
          </a:xfrm>
          <a:prstGeom prst="rect">
            <a:avLst/>
          </a:prstGeom>
        </p:spPr>
        <p:txBody>
          <a:bodyPr vert="horz" lIns="91440" tIns="0" rIns="50399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es-ES_tradnl" sz="900" dirty="0">
                <a:solidFill>
                  <a:schemeClr val="bg1"/>
                </a:solidFill>
                <a:latin typeface="Arial" panose="020B0604020202020204" pitchFamily="34" charset="0"/>
                <a:ea typeface="Georgia" charset="0"/>
                <a:cs typeface="Arial" panose="020B0604020202020204" pitchFamily="34" charset="0"/>
              </a:rPr>
              <a:t>Universidad de Piura</a:t>
            </a:r>
          </a:p>
        </p:txBody>
      </p:sp>
      <p:sp>
        <p:nvSpPr>
          <p:cNvPr id="16" name="Rectángulo 6">
            <a:extLst>
              <a:ext uri="{FF2B5EF4-FFF2-40B4-BE49-F238E27FC236}">
                <a16:creationId xmlns:a16="http://schemas.microsoft.com/office/drawing/2014/main" id="{32994FAF-F5C6-49E8-BF44-FC4A064FDEA0}"/>
              </a:ext>
            </a:extLst>
          </p:cNvPr>
          <p:cNvSpPr/>
          <p:nvPr userDrawn="1"/>
        </p:nvSpPr>
        <p:spPr>
          <a:xfrm>
            <a:off x="11827749" y="6678853"/>
            <a:ext cx="364251" cy="179147"/>
          </a:xfrm>
          <a:custGeom>
            <a:avLst/>
            <a:gdLst>
              <a:gd name="connsiteX0" fmla="*/ 0 w 364251"/>
              <a:gd name="connsiteY0" fmla="*/ 0 h 176765"/>
              <a:gd name="connsiteX1" fmla="*/ 364251 w 364251"/>
              <a:gd name="connsiteY1" fmla="*/ 0 h 176765"/>
              <a:gd name="connsiteX2" fmla="*/ 364251 w 364251"/>
              <a:gd name="connsiteY2" fmla="*/ 176765 h 176765"/>
              <a:gd name="connsiteX3" fmla="*/ 0 w 364251"/>
              <a:gd name="connsiteY3" fmla="*/ 176765 h 176765"/>
              <a:gd name="connsiteX4" fmla="*/ 0 w 364251"/>
              <a:gd name="connsiteY4" fmla="*/ 0 h 176765"/>
              <a:gd name="connsiteX0" fmla="*/ 0 w 364251"/>
              <a:gd name="connsiteY0" fmla="*/ 0 h 176765"/>
              <a:gd name="connsiteX1" fmla="*/ 364251 w 364251"/>
              <a:gd name="connsiteY1" fmla="*/ 0 h 176765"/>
              <a:gd name="connsiteX2" fmla="*/ 364251 w 364251"/>
              <a:gd name="connsiteY2" fmla="*/ 176765 h 176765"/>
              <a:gd name="connsiteX3" fmla="*/ 111919 w 364251"/>
              <a:gd name="connsiteY3" fmla="*/ 176765 h 176765"/>
              <a:gd name="connsiteX4" fmla="*/ 0 w 364251"/>
              <a:gd name="connsiteY4" fmla="*/ 0 h 176765"/>
              <a:gd name="connsiteX0" fmla="*/ 0 w 364251"/>
              <a:gd name="connsiteY0" fmla="*/ 0 h 179147"/>
              <a:gd name="connsiteX1" fmla="*/ 364251 w 364251"/>
              <a:gd name="connsiteY1" fmla="*/ 0 h 179147"/>
              <a:gd name="connsiteX2" fmla="*/ 364251 w 364251"/>
              <a:gd name="connsiteY2" fmla="*/ 176765 h 179147"/>
              <a:gd name="connsiteX3" fmla="*/ 102394 w 364251"/>
              <a:gd name="connsiteY3" fmla="*/ 179147 h 179147"/>
              <a:gd name="connsiteX4" fmla="*/ 0 w 364251"/>
              <a:gd name="connsiteY4" fmla="*/ 0 h 179147"/>
              <a:gd name="connsiteX0" fmla="*/ 0 w 364251"/>
              <a:gd name="connsiteY0" fmla="*/ 0 h 179147"/>
              <a:gd name="connsiteX1" fmla="*/ 364251 w 364251"/>
              <a:gd name="connsiteY1" fmla="*/ 0 h 179147"/>
              <a:gd name="connsiteX2" fmla="*/ 364251 w 364251"/>
              <a:gd name="connsiteY2" fmla="*/ 179147 h 179147"/>
              <a:gd name="connsiteX3" fmla="*/ 102394 w 364251"/>
              <a:gd name="connsiteY3" fmla="*/ 179147 h 179147"/>
              <a:gd name="connsiteX4" fmla="*/ 0 w 364251"/>
              <a:gd name="connsiteY4" fmla="*/ 0 h 179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4251" h="179147">
                <a:moveTo>
                  <a:pt x="0" y="0"/>
                </a:moveTo>
                <a:lnTo>
                  <a:pt x="364251" y="0"/>
                </a:lnTo>
                <a:lnTo>
                  <a:pt x="364251" y="179147"/>
                </a:lnTo>
                <a:lnTo>
                  <a:pt x="102394" y="179147"/>
                </a:lnTo>
                <a:lnTo>
                  <a:pt x="0" y="0"/>
                </a:lnTo>
                <a:close/>
              </a:path>
            </a:pathLst>
          </a:custGeom>
          <a:solidFill>
            <a:srgbClr val="8C1F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7062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4" r:id="rId2"/>
    <p:sldLayoutId id="2147483680" r:id="rId3"/>
    <p:sldLayoutId id="2147483681" r:id="rId4"/>
    <p:sldLayoutId id="2147483682" r:id="rId5"/>
    <p:sldLayoutId id="2147483695" r:id="rId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_tradnl"/>
              <a:t>FACULTAD DE CIENCIAS ECONÓMICAS Y EMPRESARIALES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5E03E-A335-694B-A2BE-C56FC4485501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11" name="Triángulo isósceles 11">
            <a:extLst>
              <a:ext uri="{FF2B5EF4-FFF2-40B4-BE49-F238E27FC236}">
                <a16:creationId xmlns:a16="http://schemas.microsoft.com/office/drawing/2014/main" id="{47735557-F7C4-498D-AE82-C7F37A83EA5A}"/>
              </a:ext>
            </a:extLst>
          </p:cNvPr>
          <p:cNvSpPr/>
          <p:nvPr userDrawn="1"/>
        </p:nvSpPr>
        <p:spPr>
          <a:xfrm>
            <a:off x="11827751" y="6681004"/>
            <a:ext cx="93528" cy="92142"/>
          </a:xfrm>
          <a:custGeom>
            <a:avLst/>
            <a:gdLst>
              <a:gd name="connsiteX0" fmla="*/ 0 w 389220"/>
              <a:gd name="connsiteY0" fmla="*/ 326109 h 326109"/>
              <a:gd name="connsiteX1" fmla="*/ 194610 w 389220"/>
              <a:gd name="connsiteY1" fmla="*/ 0 h 326109"/>
              <a:gd name="connsiteX2" fmla="*/ 389220 w 389220"/>
              <a:gd name="connsiteY2" fmla="*/ 326109 h 326109"/>
              <a:gd name="connsiteX3" fmla="*/ 0 w 389220"/>
              <a:gd name="connsiteY3" fmla="*/ 326109 h 326109"/>
              <a:gd name="connsiteX0" fmla="*/ 0 w 389220"/>
              <a:gd name="connsiteY0" fmla="*/ 0 h 217732"/>
              <a:gd name="connsiteX1" fmla="*/ 13329 w 389220"/>
              <a:gd name="connsiteY1" fmla="*/ 217732 h 217732"/>
              <a:gd name="connsiteX2" fmla="*/ 389220 w 389220"/>
              <a:gd name="connsiteY2" fmla="*/ 0 h 217732"/>
              <a:gd name="connsiteX3" fmla="*/ 0 w 389220"/>
              <a:gd name="connsiteY3" fmla="*/ 0 h 217732"/>
              <a:gd name="connsiteX0" fmla="*/ 0 w 389220"/>
              <a:gd name="connsiteY0" fmla="*/ 0 h 212400"/>
              <a:gd name="connsiteX1" fmla="*/ 2666 w 389220"/>
              <a:gd name="connsiteY1" fmla="*/ 212400 h 212400"/>
              <a:gd name="connsiteX2" fmla="*/ 389220 w 389220"/>
              <a:gd name="connsiteY2" fmla="*/ 0 h 212400"/>
              <a:gd name="connsiteX3" fmla="*/ 0 w 389220"/>
              <a:gd name="connsiteY3" fmla="*/ 0 h 2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220" h="212400">
                <a:moveTo>
                  <a:pt x="0" y="0"/>
                </a:moveTo>
                <a:cubicBezTo>
                  <a:pt x="889" y="70800"/>
                  <a:pt x="1777" y="141600"/>
                  <a:pt x="2666" y="212400"/>
                </a:cubicBezTo>
                <a:lnTo>
                  <a:pt x="389220" y="0"/>
                </a:lnTo>
                <a:lnTo>
                  <a:pt x="0" y="0"/>
                </a:lnTo>
                <a:close/>
              </a:path>
            </a:pathLst>
          </a:custGeom>
          <a:solidFill>
            <a:srgbClr val="491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38E5C20-3D83-47A6-9025-BCD93CA4C3AA}"/>
              </a:ext>
            </a:extLst>
          </p:cNvPr>
          <p:cNvSpPr/>
          <p:nvPr userDrawn="1"/>
        </p:nvSpPr>
        <p:spPr>
          <a:xfrm>
            <a:off x="0" y="6721200"/>
            <a:ext cx="12192000" cy="136800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5C32F732-43A0-4D96-89A3-45C4CE01CD38}"/>
              </a:ext>
            </a:extLst>
          </p:cNvPr>
          <p:cNvSpPr txBox="1">
            <a:spLocks/>
          </p:cNvSpPr>
          <p:nvPr userDrawn="1"/>
        </p:nvSpPr>
        <p:spPr>
          <a:xfrm>
            <a:off x="6096000" y="6715571"/>
            <a:ext cx="6096000" cy="136800"/>
          </a:xfrm>
          <a:prstGeom prst="rect">
            <a:avLst/>
          </a:prstGeom>
        </p:spPr>
        <p:txBody>
          <a:bodyPr vert="horz" lIns="91440" tIns="0" rIns="50399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es-ES_tradnl" sz="900" dirty="0">
                <a:solidFill>
                  <a:schemeClr val="bg1"/>
                </a:solidFill>
                <a:latin typeface="Arial" panose="020B0604020202020204" pitchFamily="34" charset="0"/>
                <a:ea typeface="Georgia" charset="0"/>
                <a:cs typeface="Arial" panose="020B0604020202020204" pitchFamily="34" charset="0"/>
              </a:rPr>
              <a:t>Universidad de Piura</a:t>
            </a:r>
          </a:p>
        </p:txBody>
      </p:sp>
      <p:sp>
        <p:nvSpPr>
          <p:cNvPr id="16" name="Rectángulo 6">
            <a:extLst>
              <a:ext uri="{FF2B5EF4-FFF2-40B4-BE49-F238E27FC236}">
                <a16:creationId xmlns:a16="http://schemas.microsoft.com/office/drawing/2014/main" id="{125E8DDA-FDD5-44C0-A389-8212F84298A2}"/>
              </a:ext>
            </a:extLst>
          </p:cNvPr>
          <p:cNvSpPr/>
          <p:nvPr userDrawn="1"/>
        </p:nvSpPr>
        <p:spPr>
          <a:xfrm>
            <a:off x="11827749" y="6678853"/>
            <a:ext cx="364251" cy="179147"/>
          </a:xfrm>
          <a:custGeom>
            <a:avLst/>
            <a:gdLst>
              <a:gd name="connsiteX0" fmla="*/ 0 w 364251"/>
              <a:gd name="connsiteY0" fmla="*/ 0 h 176765"/>
              <a:gd name="connsiteX1" fmla="*/ 364251 w 364251"/>
              <a:gd name="connsiteY1" fmla="*/ 0 h 176765"/>
              <a:gd name="connsiteX2" fmla="*/ 364251 w 364251"/>
              <a:gd name="connsiteY2" fmla="*/ 176765 h 176765"/>
              <a:gd name="connsiteX3" fmla="*/ 0 w 364251"/>
              <a:gd name="connsiteY3" fmla="*/ 176765 h 176765"/>
              <a:gd name="connsiteX4" fmla="*/ 0 w 364251"/>
              <a:gd name="connsiteY4" fmla="*/ 0 h 176765"/>
              <a:gd name="connsiteX0" fmla="*/ 0 w 364251"/>
              <a:gd name="connsiteY0" fmla="*/ 0 h 176765"/>
              <a:gd name="connsiteX1" fmla="*/ 364251 w 364251"/>
              <a:gd name="connsiteY1" fmla="*/ 0 h 176765"/>
              <a:gd name="connsiteX2" fmla="*/ 364251 w 364251"/>
              <a:gd name="connsiteY2" fmla="*/ 176765 h 176765"/>
              <a:gd name="connsiteX3" fmla="*/ 111919 w 364251"/>
              <a:gd name="connsiteY3" fmla="*/ 176765 h 176765"/>
              <a:gd name="connsiteX4" fmla="*/ 0 w 364251"/>
              <a:gd name="connsiteY4" fmla="*/ 0 h 176765"/>
              <a:gd name="connsiteX0" fmla="*/ 0 w 364251"/>
              <a:gd name="connsiteY0" fmla="*/ 0 h 179147"/>
              <a:gd name="connsiteX1" fmla="*/ 364251 w 364251"/>
              <a:gd name="connsiteY1" fmla="*/ 0 h 179147"/>
              <a:gd name="connsiteX2" fmla="*/ 364251 w 364251"/>
              <a:gd name="connsiteY2" fmla="*/ 176765 h 179147"/>
              <a:gd name="connsiteX3" fmla="*/ 102394 w 364251"/>
              <a:gd name="connsiteY3" fmla="*/ 179147 h 179147"/>
              <a:gd name="connsiteX4" fmla="*/ 0 w 364251"/>
              <a:gd name="connsiteY4" fmla="*/ 0 h 179147"/>
              <a:gd name="connsiteX0" fmla="*/ 0 w 364251"/>
              <a:gd name="connsiteY0" fmla="*/ 0 h 179147"/>
              <a:gd name="connsiteX1" fmla="*/ 364251 w 364251"/>
              <a:gd name="connsiteY1" fmla="*/ 0 h 179147"/>
              <a:gd name="connsiteX2" fmla="*/ 364251 w 364251"/>
              <a:gd name="connsiteY2" fmla="*/ 179147 h 179147"/>
              <a:gd name="connsiteX3" fmla="*/ 102394 w 364251"/>
              <a:gd name="connsiteY3" fmla="*/ 179147 h 179147"/>
              <a:gd name="connsiteX4" fmla="*/ 0 w 364251"/>
              <a:gd name="connsiteY4" fmla="*/ 0 h 179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4251" h="179147">
                <a:moveTo>
                  <a:pt x="0" y="0"/>
                </a:moveTo>
                <a:lnTo>
                  <a:pt x="364251" y="0"/>
                </a:lnTo>
                <a:lnTo>
                  <a:pt x="364251" y="179147"/>
                </a:lnTo>
                <a:lnTo>
                  <a:pt x="102394" y="179147"/>
                </a:lnTo>
                <a:lnTo>
                  <a:pt x="0" y="0"/>
                </a:lnTo>
                <a:close/>
              </a:path>
            </a:pathLst>
          </a:custGeom>
          <a:solidFill>
            <a:srgbClr val="8C1F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5193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85" r:id="rId2"/>
    <p:sldLayoutId id="2147483668" r:id="rId3"/>
    <p:sldLayoutId id="2147483669" r:id="rId4"/>
    <p:sldLayoutId id="2147483670" r:id="rId5"/>
    <p:sldLayoutId id="2147483694" r:id="rId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4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_tradnl"/>
              <a:t>FACULTAD DE CIENCIAS ECONÓMICAS Y EMPRESARIALES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5E03E-A335-694B-A2BE-C56FC4485501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11" name="Triángulo isósceles 11">
            <a:extLst>
              <a:ext uri="{FF2B5EF4-FFF2-40B4-BE49-F238E27FC236}">
                <a16:creationId xmlns:a16="http://schemas.microsoft.com/office/drawing/2014/main" id="{830B16EE-6BB5-47C4-91BA-BE0340D716B8}"/>
              </a:ext>
            </a:extLst>
          </p:cNvPr>
          <p:cNvSpPr/>
          <p:nvPr userDrawn="1"/>
        </p:nvSpPr>
        <p:spPr>
          <a:xfrm>
            <a:off x="11827751" y="6681004"/>
            <a:ext cx="93528" cy="92142"/>
          </a:xfrm>
          <a:custGeom>
            <a:avLst/>
            <a:gdLst>
              <a:gd name="connsiteX0" fmla="*/ 0 w 389220"/>
              <a:gd name="connsiteY0" fmla="*/ 326109 h 326109"/>
              <a:gd name="connsiteX1" fmla="*/ 194610 w 389220"/>
              <a:gd name="connsiteY1" fmla="*/ 0 h 326109"/>
              <a:gd name="connsiteX2" fmla="*/ 389220 w 389220"/>
              <a:gd name="connsiteY2" fmla="*/ 326109 h 326109"/>
              <a:gd name="connsiteX3" fmla="*/ 0 w 389220"/>
              <a:gd name="connsiteY3" fmla="*/ 326109 h 326109"/>
              <a:gd name="connsiteX0" fmla="*/ 0 w 389220"/>
              <a:gd name="connsiteY0" fmla="*/ 0 h 217732"/>
              <a:gd name="connsiteX1" fmla="*/ 13329 w 389220"/>
              <a:gd name="connsiteY1" fmla="*/ 217732 h 217732"/>
              <a:gd name="connsiteX2" fmla="*/ 389220 w 389220"/>
              <a:gd name="connsiteY2" fmla="*/ 0 h 217732"/>
              <a:gd name="connsiteX3" fmla="*/ 0 w 389220"/>
              <a:gd name="connsiteY3" fmla="*/ 0 h 217732"/>
              <a:gd name="connsiteX0" fmla="*/ 0 w 389220"/>
              <a:gd name="connsiteY0" fmla="*/ 0 h 212400"/>
              <a:gd name="connsiteX1" fmla="*/ 2666 w 389220"/>
              <a:gd name="connsiteY1" fmla="*/ 212400 h 212400"/>
              <a:gd name="connsiteX2" fmla="*/ 389220 w 389220"/>
              <a:gd name="connsiteY2" fmla="*/ 0 h 212400"/>
              <a:gd name="connsiteX3" fmla="*/ 0 w 389220"/>
              <a:gd name="connsiteY3" fmla="*/ 0 h 2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220" h="212400">
                <a:moveTo>
                  <a:pt x="0" y="0"/>
                </a:moveTo>
                <a:cubicBezTo>
                  <a:pt x="889" y="70800"/>
                  <a:pt x="1777" y="141600"/>
                  <a:pt x="2666" y="212400"/>
                </a:cubicBezTo>
                <a:lnTo>
                  <a:pt x="389220" y="0"/>
                </a:lnTo>
                <a:lnTo>
                  <a:pt x="0" y="0"/>
                </a:lnTo>
                <a:close/>
              </a:path>
            </a:pathLst>
          </a:custGeom>
          <a:solidFill>
            <a:srgbClr val="491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266D848-88FA-4442-A0D4-C4E74F9C8178}"/>
              </a:ext>
            </a:extLst>
          </p:cNvPr>
          <p:cNvSpPr/>
          <p:nvPr userDrawn="1"/>
        </p:nvSpPr>
        <p:spPr>
          <a:xfrm>
            <a:off x="0" y="6721200"/>
            <a:ext cx="12192000" cy="13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5632C20E-C7FA-4AD0-A019-B72792281560}"/>
              </a:ext>
            </a:extLst>
          </p:cNvPr>
          <p:cNvSpPr txBox="1">
            <a:spLocks/>
          </p:cNvSpPr>
          <p:nvPr userDrawn="1"/>
        </p:nvSpPr>
        <p:spPr>
          <a:xfrm>
            <a:off x="6096000" y="6715571"/>
            <a:ext cx="6096000" cy="136800"/>
          </a:xfrm>
          <a:prstGeom prst="rect">
            <a:avLst/>
          </a:prstGeom>
          <a:noFill/>
        </p:spPr>
        <p:txBody>
          <a:bodyPr vert="horz" lIns="91440" tIns="0" rIns="50399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es-ES_tradnl" sz="900" dirty="0">
                <a:solidFill>
                  <a:srgbClr val="00467A"/>
                </a:solidFill>
                <a:latin typeface="Arial" panose="020B0604020202020204" pitchFamily="34" charset="0"/>
                <a:ea typeface="Georgia" charset="0"/>
                <a:cs typeface="Arial" panose="020B0604020202020204" pitchFamily="34" charset="0"/>
              </a:rPr>
              <a:t>Universidad de Piura</a:t>
            </a:r>
          </a:p>
        </p:txBody>
      </p:sp>
      <p:sp>
        <p:nvSpPr>
          <p:cNvPr id="16" name="Rectángulo 6">
            <a:extLst>
              <a:ext uri="{FF2B5EF4-FFF2-40B4-BE49-F238E27FC236}">
                <a16:creationId xmlns:a16="http://schemas.microsoft.com/office/drawing/2014/main" id="{88A87789-B72E-4D2F-8070-D82EE2CA8CBA}"/>
              </a:ext>
            </a:extLst>
          </p:cNvPr>
          <p:cNvSpPr/>
          <p:nvPr userDrawn="1"/>
        </p:nvSpPr>
        <p:spPr>
          <a:xfrm>
            <a:off x="11827749" y="6678853"/>
            <a:ext cx="364251" cy="179147"/>
          </a:xfrm>
          <a:custGeom>
            <a:avLst/>
            <a:gdLst>
              <a:gd name="connsiteX0" fmla="*/ 0 w 364251"/>
              <a:gd name="connsiteY0" fmla="*/ 0 h 176765"/>
              <a:gd name="connsiteX1" fmla="*/ 364251 w 364251"/>
              <a:gd name="connsiteY1" fmla="*/ 0 h 176765"/>
              <a:gd name="connsiteX2" fmla="*/ 364251 w 364251"/>
              <a:gd name="connsiteY2" fmla="*/ 176765 h 176765"/>
              <a:gd name="connsiteX3" fmla="*/ 0 w 364251"/>
              <a:gd name="connsiteY3" fmla="*/ 176765 h 176765"/>
              <a:gd name="connsiteX4" fmla="*/ 0 w 364251"/>
              <a:gd name="connsiteY4" fmla="*/ 0 h 176765"/>
              <a:gd name="connsiteX0" fmla="*/ 0 w 364251"/>
              <a:gd name="connsiteY0" fmla="*/ 0 h 176765"/>
              <a:gd name="connsiteX1" fmla="*/ 364251 w 364251"/>
              <a:gd name="connsiteY1" fmla="*/ 0 h 176765"/>
              <a:gd name="connsiteX2" fmla="*/ 364251 w 364251"/>
              <a:gd name="connsiteY2" fmla="*/ 176765 h 176765"/>
              <a:gd name="connsiteX3" fmla="*/ 111919 w 364251"/>
              <a:gd name="connsiteY3" fmla="*/ 176765 h 176765"/>
              <a:gd name="connsiteX4" fmla="*/ 0 w 364251"/>
              <a:gd name="connsiteY4" fmla="*/ 0 h 176765"/>
              <a:gd name="connsiteX0" fmla="*/ 0 w 364251"/>
              <a:gd name="connsiteY0" fmla="*/ 0 h 179147"/>
              <a:gd name="connsiteX1" fmla="*/ 364251 w 364251"/>
              <a:gd name="connsiteY1" fmla="*/ 0 h 179147"/>
              <a:gd name="connsiteX2" fmla="*/ 364251 w 364251"/>
              <a:gd name="connsiteY2" fmla="*/ 176765 h 179147"/>
              <a:gd name="connsiteX3" fmla="*/ 102394 w 364251"/>
              <a:gd name="connsiteY3" fmla="*/ 179147 h 179147"/>
              <a:gd name="connsiteX4" fmla="*/ 0 w 364251"/>
              <a:gd name="connsiteY4" fmla="*/ 0 h 179147"/>
              <a:gd name="connsiteX0" fmla="*/ 0 w 364251"/>
              <a:gd name="connsiteY0" fmla="*/ 0 h 179147"/>
              <a:gd name="connsiteX1" fmla="*/ 364251 w 364251"/>
              <a:gd name="connsiteY1" fmla="*/ 0 h 179147"/>
              <a:gd name="connsiteX2" fmla="*/ 364251 w 364251"/>
              <a:gd name="connsiteY2" fmla="*/ 179147 h 179147"/>
              <a:gd name="connsiteX3" fmla="*/ 102394 w 364251"/>
              <a:gd name="connsiteY3" fmla="*/ 179147 h 179147"/>
              <a:gd name="connsiteX4" fmla="*/ 0 w 364251"/>
              <a:gd name="connsiteY4" fmla="*/ 0 h 179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4251" h="179147">
                <a:moveTo>
                  <a:pt x="0" y="0"/>
                </a:moveTo>
                <a:lnTo>
                  <a:pt x="364251" y="0"/>
                </a:lnTo>
                <a:lnTo>
                  <a:pt x="364251" y="179147"/>
                </a:lnTo>
                <a:lnTo>
                  <a:pt x="102394" y="179147"/>
                </a:lnTo>
                <a:lnTo>
                  <a:pt x="0" y="0"/>
                </a:lnTo>
                <a:close/>
              </a:path>
            </a:pathLst>
          </a:custGeom>
          <a:solidFill>
            <a:srgbClr val="8C1F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222931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86" r:id="rId2"/>
    <p:sldLayoutId id="2147483674" r:id="rId3"/>
    <p:sldLayoutId id="2147483675" r:id="rId4"/>
    <p:sldLayoutId id="2147483676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_tradnl"/>
              <a:t>FACULTAD DE CIENCIAS ECONÓMICAS Y EMPRESARIALES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5E03E-A335-694B-A2BE-C56FC4485501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11" name="Triángulo isósceles 11">
            <a:extLst>
              <a:ext uri="{FF2B5EF4-FFF2-40B4-BE49-F238E27FC236}">
                <a16:creationId xmlns:a16="http://schemas.microsoft.com/office/drawing/2014/main" id="{35E87525-EEC6-4F94-A306-ED003C2CF282}"/>
              </a:ext>
            </a:extLst>
          </p:cNvPr>
          <p:cNvSpPr/>
          <p:nvPr userDrawn="1"/>
        </p:nvSpPr>
        <p:spPr>
          <a:xfrm>
            <a:off x="11827751" y="6681004"/>
            <a:ext cx="93528" cy="92142"/>
          </a:xfrm>
          <a:custGeom>
            <a:avLst/>
            <a:gdLst>
              <a:gd name="connsiteX0" fmla="*/ 0 w 389220"/>
              <a:gd name="connsiteY0" fmla="*/ 326109 h 326109"/>
              <a:gd name="connsiteX1" fmla="*/ 194610 w 389220"/>
              <a:gd name="connsiteY1" fmla="*/ 0 h 326109"/>
              <a:gd name="connsiteX2" fmla="*/ 389220 w 389220"/>
              <a:gd name="connsiteY2" fmla="*/ 326109 h 326109"/>
              <a:gd name="connsiteX3" fmla="*/ 0 w 389220"/>
              <a:gd name="connsiteY3" fmla="*/ 326109 h 326109"/>
              <a:gd name="connsiteX0" fmla="*/ 0 w 389220"/>
              <a:gd name="connsiteY0" fmla="*/ 0 h 217732"/>
              <a:gd name="connsiteX1" fmla="*/ 13329 w 389220"/>
              <a:gd name="connsiteY1" fmla="*/ 217732 h 217732"/>
              <a:gd name="connsiteX2" fmla="*/ 389220 w 389220"/>
              <a:gd name="connsiteY2" fmla="*/ 0 h 217732"/>
              <a:gd name="connsiteX3" fmla="*/ 0 w 389220"/>
              <a:gd name="connsiteY3" fmla="*/ 0 h 217732"/>
              <a:gd name="connsiteX0" fmla="*/ 0 w 389220"/>
              <a:gd name="connsiteY0" fmla="*/ 0 h 212400"/>
              <a:gd name="connsiteX1" fmla="*/ 2666 w 389220"/>
              <a:gd name="connsiteY1" fmla="*/ 212400 h 212400"/>
              <a:gd name="connsiteX2" fmla="*/ 389220 w 389220"/>
              <a:gd name="connsiteY2" fmla="*/ 0 h 212400"/>
              <a:gd name="connsiteX3" fmla="*/ 0 w 389220"/>
              <a:gd name="connsiteY3" fmla="*/ 0 h 2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220" h="212400">
                <a:moveTo>
                  <a:pt x="0" y="0"/>
                </a:moveTo>
                <a:cubicBezTo>
                  <a:pt x="889" y="70800"/>
                  <a:pt x="1777" y="141600"/>
                  <a:pt x="2666" y="212400"/>
                </a:cubicBezTo>
                <a:lnTo>
                  <a:pt x="389220" y="0"/>
                </a:lnTo>
                <a:lnTo>
                  <a:pt x="0" y="0"/>
                </a:lnTo>
                <a:close/>
              </a:path>
            </a:pathLst>
          </a:custGeom>
          <a:solidFill>
            <a:srgbClr val="491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CD3012A-0F9C-4F6E-B089-0AEB39DCEFAE}"/>
              </a:ext>
            </a:extLst>
          </p:cNvPr>
          <p:cNvSpPr/>
          <p:nvPr userDrawn="1"/>
        </p:nvSpPr>
        <p:spPr>
          <a:xfrm>
            <a:off x="0" y="6721200"/>
            <a:ext cx="12192000" cy="13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54013010-7EC2-477A-9777-5F8D1C8C9819}"/>
              </a:ext>
            </a:extLst>
          </p:cNvPr>
          <p:cNvSpPr txBox="1">
            <a:spLocks/>
          </p:cNvSpPr>
          <p:nvPr userDrawn="1"/>
        </p:nvSpPr>
        <p:spPr>
          <a:xfrm>
            <a:off x="6096000" y="6715571"/>
            <a:ext cx="6096000" cy="136800"/>
          </a:xfrm>
          <a:prstGeom prst="rect">
            <a:avLst/>
          </a:prstGeom>
          <a:noFill/>
        </p:spPr>
        <p:txBody>
          <a:bodyPr vert="horz" lIns="91440" tIns="0" rIns="50399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es-ES_tradnl" sz="900" dirty="0">
                <a:solidFill>
                  <a:srgbClr val="00467A"/>
                </a:solidFill>
                <a:latin typeface="Arial" panose="020B0604020202020204" pitchFamily="34" charset="0"/>
                <a:ea typeface="Georgia" charset="0"/>
                <a:cs typeface="Arial" panose="020B0604020202020204" pitchFamily="34" charset="0"/>
              </a:rPr>
              <a:t>Universidad de Piura</a:t>
            </a:r>
          </a:p>
        </p:txBody>
      </p:sp>
      <p:sp>
        <p:nvSpPr>
          <p:cNvPr id="16" name="Rectángulo 6">
            <a:extLst>
              <a:ext uri="{FF2B5EF4-FFF2-40B4-BE49-F238E27FC236}">
                <a16:creationId xmlns:a16="http://schemas.microsoft.com/office/drawing/2014/main" id="{755C1C57-8C13-46AE-AF8C-50183E7C38EF}"/>
              </a:ext>
            </a:extLst>
          </p:cNvPr>
          <p:cNvSpPr/>
          <p:nvPr userDrawn="1"/>
        </p:nvSpPr>
        <p:spPr>
          <a:xfrm>
            <a:off x="11827749" y="6678853"/>
            <a:ext cx="364251" cy="179147"/>
          </a:xfrm>
          <a:custGeom>
            <a:avLst/>
            <a:gdLst>
              <a:gd name="connsiteX0" fmla="*/ 0 w 364251"/>
              <a:gd name="connsiteY0" fmla="*/ 0 h 176765"/>
              <a:gd name="connsiteX1" fmla="*/ 364251 w 364251"/>
              <a:gd name="connsiteY1" fmla="*/ 0 h 176765"/>
              <a:gd name="connsiteX2" fmla="*/ 364251 w 364251"/>
              <a:gd name="connsiteY2" fmla="*/ 176765 h 176765"/>
              <a:gd name="connsiteX3" fmla="*/ 0 w 364251"/>
              <a:gd name="connsiteY3" fmla="*/ 176765 h 176765"/>
              <a:gd name="connsiteX4" fmla="*/ 0 w 364251"/>
              <a:gd name="connsiteY4" fmla="*/ 0 h 176765"/>
              <a:gd name="connsiteX0" fmla="*/ 0 w 364251"/>
              <a:gd name="connsiteY0" fmla="*/ 0 h 176765"/>
              <a:gd name="connsiteX1" fmla="*/ 364251 w 364251"/>
              <a:gd name="connsiteY1" fmla="*/ 0 h 176765"/>
              <a:gd name="connsiteX2" fmla="*/ 364251 w 364251"/>
              <a:gd name="connsiteY2" fmla="*/ 176765 h 176765"/>
              <a:gd name="connsiteX3" fmla="*/ 111919 w 364251"/>
              <a:gd name="connsiteY3" fmla="*/ 176765 h 176765"/>
              <a:gd name="connsiteX4" fmla="*/ 0 w 364251"/>
              <a:gd name="connsiteY4" fmla="*/ 0 h 176765"/>
              <a:gd name="connsiteX0" fmla="*/ 0 w 364251"/>
              <a:gd name="connsiteY0" fmla="*/ 0 h 179147"/>
              <a:gd name="connsiteX1" fmla="*/ 364251 w 364251"/>
              <a:gd name="connsiteY1" fmla="*/ 0 h 179147"/>
              <a:gd name="connsiteX2" fmla="*/ 364251 w 364251"/>
              <a:gd name="connsiteY2" fmla="*/ 176765 h 179147"/>
              <a:gd name="connsiteX3" fmla="*/ 102394 w 364251"/>
              <a:gd name="connsiteY3" fmla="*/ 179147 h 179147"/>
              <a:gd name="connsiteX4" fmla="*/ 0 w 364251"/>
              <a:gd name="connsiteY4" fmla="*/ 0 h 179147"/>
              <a:gd name="connsiteX0" fmla="*/ 0 w 364251"/>
              <a:gd name="connsiteY0" fmla="*/ 0 h 179147"/>
              <a:gd name="connsiteX1" fmla="*/ 364251 w 364251"/>
              <a:gd name="connsiteY1" fmla="*/ 0 h 179147"/>
              <a:gd name="connsiteX2" fmla="*/ 364251 w 364251"/>
              <a:gd name="connsiteY2" fmla="*/ 179147 h 179147"/>
              <a:gd name="connsiteX3" fmla="*/ 102394 w 364251"/>
              <a:gd name="connsiteY3" fmla="*/ 179147 h 179147"/>
              <a:gd name="connsiteX4" fmla="*/ 0 w 364251"/>
              <a:gd name="connsiteY4" fmla="*/ 0 h 179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4251" h="179147">
                <a:moveTo>
                  <a:pt x="0" y="0"/>
                </a:moveTo>
                <a:lnTo>
                  <a:pt x="364251" y="0"/>
                </a:lnTo>
                <a:lnTo>
                  <a:pt x="364251" y="179147"/>
                </a:lnTo>
                <a:lnTo>
                  <a:pt x="102394" y="179147"/>
                </a:lnTo>
                <a:lnTo>
                  <a:pt x="0" y="0"/>
                </a:lnTo>
                <a:close/>
              </a:path>
            </a:pathLst>
          </a:custGeom>
          <a:solidFill>
            <a:srgbClr val="8C1F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69154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935F1F-4182-8245-909C-88CA42DF74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it-IT" dirty="0"/>
              <a:t>Dra. Ing. Rosalba Guerrero A.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7C279E39-41B1-A248-BD5E-7FF39FCC9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974" y="2388977"/>
            <a:ext cx="8024025" cy="2338544"/>
          </a:xfrm>
        </p:spPr>
        <p:txBody>
          <a:bodyPr>
            <a:normAutofit/>
          </a:bodyPr>
          <a:lstStyle/>
          <a:p>
            <a:r>
              <a:rPr lang="es-ES" dirty="0"/>
              <a:t>Tecnologías de Fabricación</a:t>
            </a:r>
            <a:endParaRPr lang="es-PE" dirty="0"/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0AADBD63-BDF4-7A4A-A35D-19F17DA16F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975" y="4868652"/>
            <a:ext cx="6725171" cy="866465"/>
          </a:xfrm>
        </p:spPr>
        <p:txBody>
          <a:bodyPr/>
          <a:lstStyle/>
          <a:p>
            <a:r>
              <a:rPr lang="es-PE" dirty="0"/>
              <a:t>Presentación del curso </a:t>
            </a:r>
            <a:r>
              <a:rPr lang="es-PE"/>
              <a:t>(Unidad 1)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6496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ACBFC-34E9-467A-BCAB-24238E219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Objetivos generales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356849-EE2D-40D4-A709-D0C44FE3D6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endParaRPr lang="es-ES" dirty="0"/>
          </a:p>
          <a:p>
            <a:endParaRPr lang="es-PE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A0ED061-37B1-492A-9789-DAD6B14BBD36}"/>
              </a:ext>
            </a:extLst>
          </p:cNvPr>
          <p:cNvSpPr/>
          <p:nvPr/>
        </p:nvSpPr>
        <p:spPr>
          <a:xfrm>
            <a:off x="776056" y="1053389"/>
            <a:ext cx="10244831" cy="39497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262890" lvl="0" indent="-342900" algn="just">
              <a:spcBef>
                <a:spcPts val="400"/>
              </a:spcBef>
              <a:spcAft>
                <a:spcPts val="0"/>
              </a:spcAft>
              <a:buClr>
                <a:srgbClr val="003863"/>
              </a:buClr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Contribuir</a:t>
            </a:r>
            <a:r>
              <a:rPr lang="en-US" dirty="0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 al </a:t>
            </a:r>
            <a:r>
              <a:rPr lang="en-US" dirty="0" err="1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conocimiento</a:t>
            </a:r>
            <a:r>
              <a:rPr lang="en-US" dirty="0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 de los </a:t>
            </a:r>
            <a:r>
              <a:rPr lang="en-US" dirty="0" err="1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diferentes</a:t>
            </a:r>
            <a:r>
              <a:rPr lang="en-US" dirty="0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materiales</a:t>
            </a:r>
            <a:r>
              <a:rPr lang="en-US" dirty="0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, </a:t>
            </a:r>
            <a:r>
              <a:rPr lang="en-US" dirty="0" err="1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tecnologías</a:t>
            </a:r>
            <a:r>
              <a:rPr lang="en-US" dirty="0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 de </a:t>
            </a:r>
            <a:r>
              <a:rPr lang="en-US" dirty="0" err="1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fabricación</a:t>
            </a:r>
            <a:r>
              <a:rPr lang="en-US" dirty="0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 y </a:t>
            </a:r>
            <a:r>
              <a:rPr lang="en-US" dirty="0" err="1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procesos</a:t>
            </a:r>
            <a:r>
              <a:rPr lang="en-US" dirty="0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asociados</a:t>
            </a:r>
            <a:r>
              <a:rPr lang="en-US" dirty="0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,  </a:t>
            </a:r>
            <a:r>
              <a:rPr lang="en-US" dirty="0" err="1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utilizados</a:t>
            </a:r>
            <a:r>
              <a:rPr lang="en-US" dirty="0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 en la </a:t>
            </a:r>
            <a:r>
              <a:rPr lang="en-US" dirty="0" err="1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industria</a:t>
            </a:r>
            <a:r>
              <a:rPr lang="en-US" dirty="0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 para la </a:t>
            </a:r>
            <a:r>
              <a:rPr lang="en-US" dirty="0" err="1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transformación</a:t>
            </a:r>
            <a:r>
              <a:rPr lang="en-US" dirty="0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 de </a:t>
            </a:r>
            <a:r>
              <a:rPr lang="en-US" dirty="0" err="1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materia</a:t>
            </a:r>
            <a:r>
              <a:rPr lang="en-US" dirty="0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 prima en </a:t>
            </a:r>
            <a:r>
              <a:rPr lang="en-US" dirty="0" err="1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productos</a:t>
            </a:r>
            <a:r>
              <a:rPr lang="en-US" dirty="0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útiles</a:t>
            </a:r>
            <a:r>
              <a:rPr lang="en-US" dirty="0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 para la </a:t>
            </a:r>
            <a:r>
              <a:rPr lang="en-US" dirty="0" err="1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sociedad</a:t>
            </a:r>
            <a:r>
              <a:rPr lang="en-US" dirty="0"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.</a:t>
            </a:r>
            <a:endParaRPr lang="es-PE" sz="2400" dirty="0">
              <a:latin typeface="Garamond" panose="02020404030301010803" pitchFamily="18" charset="0"/>
              <a:ea typeface="Garamond" panose="02020404030301010803" pitchFamily="18" charset="0"/>
              <a:cs typeface="Garamond" panose="02020404030301010803" pitchFamily="18" charset="0"/>
            </a:endParaRPr>
          </a:p>
          <a:p>
            <a:pPr marL="342900" marR="262890" lvl="0" indent="-342900" algn="just">
              <a:spcBef>
                <a:spcPts val="400"/>
              </a:spcBef>
              <a:spcAft>
                <a:spcPts val="0"/>
              </a:spcAft>
              <a:buClr>
                <a:srgbClr val="003863"/>
              </a:buClr>
              <a:buFont typeface="+mj-lt"/>
              <a:buAutoNum type="arabicPeriod"/>
            </a:pPr>
            <a:r>
              <a:rPr lang="es-PE" dirty="0">
                <a:solidFill>
                  <a:srgbClr val="404040"/>
                </a:solidFill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Identificar las diversas tecnologías y procesos de fabricación así como sus principales características.</a:t>
            </a:r>
            <a:endParaRPr lang="es-PE" sz="2400" dirty="0">
              <a:latin typeface="Garamond" panose="02020404030301010803" pitchFamily="18" charset="0"/>
              <a:ea typeface="Garamond" panose="02020404030301010803" pitchFamily="18" charset="0"/>
              <a:cs typeface="Garamond" panose="02020404030301010803" pitchFamily="18" charset="0"/>
            </a:endParaRPr>
          </a:p>
          <a:p>
            <a:pPr marL="342900" marR="262890" lvl="0" indent="-342900" algn="just">
              <a:spcBef>
                <a:spcPts val="400"/>
              </a:spcBef>
              <a:spcAft>
                <a:spcPts val="0"/>
              </a:spcAft>
              <a:buClr>
                <a:srgbClr val="003863"/>
              </a:buClr>
              <a:buFont typeface="+mj-lt"/>
              <a:buAutoNum type="arabicPeriod"/>
            </a:pPr>
            <a:r>
              <a:rPr lang="es-PE" dirty="0">
                <a:solidFill>
                  <a:srgbClr val="404040"/>
                </a:solidFill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Contribuir al conocimiento de las principales, máquinas, herramientas, y dispositivos empleados en la transformación de los materiales en productos terminados.</a:t>
            </a:r>
            <a:endParaRPr lang="es-PE" sz="2400" dirty="0">
              <a:latin typeface="Garamond" panose="02020404030301010803" pitchFamily="18" charset="0"/>
              <a:ea typeface="Garamond" panose="02020404030301010803" pitchFamily="18" charset="0"/>
              <a:cs typeface="Garamond" panose="02020404030301010803" pitchFamily="18" charset="0"/>
            </a:endParaRPr>
          </a:p>
          <a:p>
            <a:pPr marL="342900" marR="262890" lvl="0" indent="-342900" algn="just">
              <a:spcBef>
                <a:spcPts val="400"/>
              </a:spcBef>
              <a:spcAft>
                <a:spcPts val="0"/>
              </a:spcAft>
              <a:buClr>
                <a:srgbClr val="003863"/>
              </a:buClr>
              <a:buFont typeface="+mj-lt"/>
              <a:buAutoNum type="arabicPeriod"/>
            </a:pPr>
            <a:r>
              <a:rPr lang="es-PE" dirty="0">
                <a:solidFill>
                  <a:srgbClr val="404040"/>
                </a:solidFill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Suministrar los fundamentos matemáticos de las tecnologías y procesos y de las variables que en ellos intervienen.</a:t>
            </a:r>
            <a:endParaRPr lang="es-PE" sz="2400" dirty="0">
              <a:latin typeface="Garamond" panose="02020404030301010803" pitchFamily="18" charset="0"/>
              <a:ea typeface="Garamond" panose="02020404030301010803" pitchFamily="18" charset="0"/>
              <a:cs typeface="Garamond" panose="02020404030301010803" pitchFamily="18" charset="0"/>
            </a:endParaRPr>
          </a:p>
          <a:p>
            <a:pPr marL="342900" marR="262890" lvl="0" indent="-342900" algn="just">
              <a:spcBef>
                <a:spcPts val="400"/>
              </a:spcBef>
              <a:spcAft>
                <a:spcPts val="0"/>
              </a:spcAft>
              <a:buClr>
                <a:srgbClr val="003863"/>
              </a:buClr>
              <a:buFont typeface="+mj-lt"/>
              <a:buAutoNum type="arabicPeriod"/>
            </a:pPr>
            <a:r>
              <a:rPr lang="es-PE" dirty="0">
                <a:solidFill>
                  <a:srgbClr val="404040"/>
                </a:solidFill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Brindar conocimiento acerca de los principios de la automatización en las tecnologías y procesos de fabricación como : el diseño asistido por computador (CAD) así como la manufactura asistida por computador (CAM) y el Control Numérico Computarizado (CNC).</a:t>
            </a:r>
            <a:endParaRPr lang="es-PE" sz="2400" dirty="0">
              <a:latin typeface="Garamond" panose="02020404030301010803" pitchFamily="18" charset="0"/>
              <a:ea typeface="Garamond" panose="02020404030301010803" pitchFamily="18" charset="0"/>
              <a:cs typeface="Garamond" panose="02020404030301010803" pitchFamily="18" charset="0"/>
            </a:endParaRPr>
          </a:p>
          <a:p>
            <a:pPr marL="342900" marR="262890" lvl="0" indent="-342900" algn="just">
              <a:spcBef>
                <a:spcPts val="400"/>
              </a:spcBef>
              <a:spcAft>
                <a:spcPts val="0"/>
              </a:spcAft>
              <a:buClr>
                <a:srgbClr val="003863"/>
              </a:buClr>
              <a:buFont typeface="+mj-lt"/>
              <a:buAutoNum type="arabicPeriod"/>
            </a:pPr>
            <a:r>
              <a:rPr lang="es-PE" dirty="0">
                <a:solidFill>
                  <a:srgbClr val="404040"/>
                </a:solidFill>
                <a:latin typeface="Arial" panose="020B0604020202020204" pitchFamily="34" charset="0"/>
                <a:ea typeface="Garamond" panose="02020404030301010803" pitchFamily="18" charset="0"/>
                <a:cs typeface="Garamond" panose="02020404030301010803" pitchFamily="18" charset="0"/>
              </a:rPr>
              <a:t>Proporcionar conocimiento de los sistemas avanzados de manufactura (manufactura aditiva) </a:t>
            </a:r>
            <a:endParaRPr lang="es-PE" sz="2400" dirty="0">
              <a:effectLst/>
              <a:latin typeface="Garamond" panose="02020404030301010803" pitchFamily="18" charset="0"/>
              <a:ea typeface="Garamond" panose="02020404030301010803" pitchFamily="18" charset="0"/>
              <a:cs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559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D3CEBB-F6E4-4E25-817D-DF7D6F12B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Descripción Unidad 1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108EC8-0157-4440-B2DF-0AF7070031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6157" y="1680408"/>
            <a:ext cx="10515600" cy="4330700"/>
          </a:xfrm>
        </p:spPr>
        <p:txBody>
          <a:bodyPr>
            <a:normAutofit/>
          </a:bodyPr>
          <a:lstStyle/>
          <a:p>
            <a:r>
              <a:rPr lang="es-ES" sz="1600" b="1" dirty="0"/>
              <a:t>Unidad 1: Fundamentos de materiales</a:t>
            </a:r>
          </a:p>
          <a:p>
            <a:pPr lvl="1"/>
            <a:r>
              <a:rPr lang="es-419" sz="1600" dirty="0"/>
              <a:t>Factores que influyen en el comportamiento y selección de los materiales (propiedades, diseño y procesos de fabricación)</a:t>
            </a:r>
          </a:p>
          <a:p>
            <a:pPr lvl="1"/>
            <a:r>
              <a:rPr lang="es-419" sz="1600" dirty="0"/>
              <a:t>Naturaleza de los materiales y propiedades genéricas: Tipos de enlace, influencias del tipo de enlace en las propiedades genéricas de los materiales (metales, cerámicos, polímeros)</a:t>
            </a:r>
          </a:p>
          <a:p>
            <a:pPr lvl="1"/>
            <a:r>
              <a:rPr lang="es-419" sz="1600" dirty="0"/>
              <a:t>Estructura interna de los materiales: Cristalinidad metales, polímeros, cerámicos), Defectos cristalinos: impurezas, grano cristalino, dislocaciones, influencia de los defectos cristalinos en el uso de los materiales. Microestructura, fases, análisis microscópico de metales, cerámicos, polímeros y composites.</a:t>
            </a:r>
          </a:p>
          <a:p>
            <a:pPr lvl="1"/>
            <a:r>
              <a:rPr lang="es-419" sz="1600" dirty="0"/>
              <a:t>Propiedades y ensayos mecánicos, propiedades de deformabilidad, propiedades funcionales</a:t>
            </a:r>
          </a:p>
          <a:p>
            <a:pPr lvl="1"/>
            <a:r>
              <a:rPr lang="es-419" sz="1600" dirty="0"/>
              <a:t>Factores que influyen en la solidificación y conformado mecánico de los metales, deformación en frío y en caliente. Recristalización.</a:t>
            </a:r>
          </a:p>
          <a:p>
            <a:pPr lvl="1"/>
            <a:r>
              <a:rPr lang="es-419" sz="1600" dirty="0"/>
              <a:t>Tratamientos térmicos</a:t>
            </a:r>
          </a:p>
          <a:p>
            <a:pPr lvl="1"/>
            <a:r>
              <a:rPr lang="es-419" sz="1600" dirty="0"/>
              <a:t>Aceros y fundiciones. Soldabilidad metalúrgica</a:t>
            </a:r>
          </a:p>
          <a:p>
            <a:pPr lvl="1"/>
            <a:r>
              <a:rPr lang="es-419" sz="1600" dirty="0"/>
              <a:t>Aleaciones no férreas para moldeo y conformado mecánico</a:t>
            </a:r>
          </a:p>
          <a:p>
            <a:pPr lvl="1"/>
            <a:r>
              <a:rPr lang="es-419" sz="1600" dirty="0"/>
              <a:t>Cerámicos y polímeros</a:t>
            </a:r>
            <a:endParaRPr lang="es-PE" sz="1600" dirty="0"/>
          </a:p>
        </p:txBody>
      </p:sp>
    </p:spTree>
    <p:extLst>
      <p:ext uri="{BB962C8B-B14F-4D97-AF65-F5344CB8AC3E}">
        <p14:creationId xmlns:p14="http://schemas.microsoft.com/office/powerpoint/2010/main" val="3656615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CCF134-2E0E-4C30-8DFD-1E88B7D40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altLang="es-PE" dirty="0"/>
              <a:t>Contenido del Curso</a:t>
            </a:r>
            <a:endParaRPr lang="es-PE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83C2B84F-AD41-46D9-B2BB-A3E766C15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620625"/>
              </p:ext>
            </p:extLst>
          </p:nvPr>
        </p:nvGraphicFramePr>
        <p:xfrm>
          <a:off x="1252728" y="1203593"/>
          <a:ext cx="9217151" cy="47119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7127">
                  <a:extLst>
                    <a:ext uri="{9D8B030D-6E8A-4147-A177-3AD203B41FA5}">
                      <a16:colId xmlns:a16="http://schemas.microsoft.com/office/drawing/2014/main" val="343160698"/>
                    </a:ext>
                  </a:extLst>
                </a:gridCol>
                <a:gridCol w="5219656">
                  <a:extLst>
                    <a:ext uri="{9D8B030D-6E8A-4147-A177-3AD203B41FA5}">
                      <a16:colId xmlns:a16="http://schemas.microsoft.com/office/drawing/2014/main" val="1758705579"/>
                    </a:ext>
                  </a:extLst>
                </a:gridCol>
                <a:gridCol w="893119">
                  <a:extLst>
                    <a:ext uri="{9D8B030D-6E8A-4147-A177-3AD203B41FA5}">
                      <a16:colId xmlns:a16="http://schemas.microsoft.com/office/drawing/2014/main" val="3796291873"/>
                    </a:ext>
                  </a:extLst>
                </a:gridCol>
                <a:gridCol w="1249585">
                  <a:extLst>
                    <a:ext uri="{9D8B030D-6E8A-4147-A177-3AD203B41FA5}">
                      <a16:colId xmlns:a16="http://schemas.microsoft.com/office/drawing/2014/main" val="1632651497"/>
                    </a:ext>
                  </a:extLst>
                </a:gridCol>
                <a:gridCol w="1387664">
                  <a:extLst>
                    <a:ext uri="{9D8B030D-6E8A-4147-A177-3AD203B41FA5}">
                      <a16:colId xmlns:a16="http://schemas.microsoft.com/office/drawing/2014/main" val="1138494729"/>
                    </a:ext>
                  </a:extLst>
                </a:gridCol>
              </a:tblGrid>
              <a:tr h="572544"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N°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Tema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Semana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Horas de sesiones teóricas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Horas de sesiones prácticas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 anchor="ctr"/>
                </a:tc>
                <a:extLst>
                  <a:ext uri="{0D108BD9-81ED-4DB2-BD59-A6C34878D82A}">
                    <a16:rowId xmlns:a16="http://schemas.microsoft.com/office/drawing/2014/main" val="384413903"/>
                  </a:ext>
                </a:extLst>
              </a:tr>
              <a:tr h="503839"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1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Explicación Syllabus, Factores que influyen en el comportamiento de los materiales (propiedades, diseño y procesos de fabricación)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1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2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 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extLst>
                  <a:ext uri="{0D108BD9-81ED-4DB2-BD59-A6C34878D82A}">
                    <a16:rowId xmlns:a16="http://schemas.microsoft.com/office/drawing/2014/main" val="1672341936"/>
                  </a:ext>
                </a:extLst>
              </a:tr>
              <a:tr h="629799"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2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Naturaleza de los materiales y propiedades genéricas: Tipos de enlace, influencias del tipo de enlace en las propiedades genéricas de los materiales (metales, cerámicos, polímeros)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1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2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 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extLst>
                  <a:ext uri="{0D108BD9-81ED-4DB2-BD59-A6C34878D82A}">
                    <a16:rowId xmlns:a16="http://schemas.microsoft.com/office/drawing/2014/main" val="3087990089"/>
                  </a:ext>
                </a:extLst>
              </a:tr>
              <a:tr h="1007678"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3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Estructura interna de los materiales: Cristalinidad metales, polímeros, cerámicos), Defectos cristalinos: impurezas, grano cristalino, dislocaciones, influencia de los defectos cristalinos en el uso de los materiales. Microestructura, fases, análisis microscópico de metales, cerámicos, polímeros y composites. 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2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2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 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extLst>
                  <a:ext uri="{0D108BD9-81ED-4DB2-BD59-A6C34878D82A}">
                    <a16:rowId xmlns:a16="http://schemas.microsoft.com/office/drawing/2014/main" val="3509109582"/>
                  </a:ext>
                </a:extLst>
              </a:tr>
              <a:tr h="377879"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4.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Propiedades y ensayos mecánicos, propiedades de deformabilidad, propiedades funcionales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2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2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 dirty="0">
                          <a:effectLst/>
                        </a:rPr>
                        <a:t> </a:t>
                      </a:r>
                      <a:endParaRPr lang="es-PE" sz="14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extLst>
                  <a:ext uri="{0D108BD9-81ED-4DB2-BD59-A6C34878D82A}">
                    <a16:rowId xmlns:a16="http://schemas.microsoft.com/office/drawing/2014/main" val="251930616"/>
                  </a:ext>
                </a:extLst>
              </a:tr>
              <a:tr h="503839"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5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Factores que influyen en la solidificación y conformado mecánico de los metales, deformación en frío y en caliente. Recristalización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3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2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 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extLst>
                  <a:ext uri="{0D108BD9-81ED-4DB2-BD59-A6C34878D82A}">
                    <a16:rowId xmlns:a16="http://schemas.microsoft.com/office/drawing/2014/main" val="3915812350"/>
                  </a:ext>
                </a:extLst>
              </a:tr>
              <a:tr h="125960"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6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Tratamientos térmicos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3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2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 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extLst>
                  <a:ext uri="{0D108BD9-81ED-4DB2-BD59-A6C34878D82A}">
                    <a16:rowId xmlns:a16="http://schemas.microsoft.com/office/drawing/2014/main" val="227258627"/>
                  </a:ext>
                </a:extLst>
              </a:tr>
              <a:tr h="251920"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7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Aceros y fundiciones. Soldabilidad metalúrgica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4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2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 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extLst>
                  <a:ext uri="{0D108BD9-81ED-4DB2-BD59-A6C34878D82A}">
                    <a16:rowId xmlns:a16="http://schemas.microsoft.com/office/drawing/2014/main" val="3131689432"/>
                  </a:ext>
                </a:extLst>
              </a:tr>
              <a:tr h="251920"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8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Aleaciones no férreas para moldeo y conformado mecánico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4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2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 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extLst>
                  <a:ext uri="{0D108BD9-81ED-4DB2-BD59-A6C34878D82A}">
                    <a16:rowId xmlns:a16="http://schemas.microsoft.com/office/drawing/2014/main" val="522217361"/>
                  </a:ext>
                </a:extLst>
              </a:tr>
              <a:tr h="125960"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9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Cerámicos y polímeros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5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4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 dirty="0">
                          <a:effectLst/>
                        </a:rPr>
                        <a:t> </a:t>
                      </a:r>
                      <a:endParaRPr lang="es-PE" sz="14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529" marR="51529" marT="0" marB="0"/>
                </a:tc>
                <a:extLst>
                  <a:ext uri="{0D108BD9-81ED-4DB2-BD59-A6C34878D82A}">
                    <a16:rowId xmlns:a16="http://schemas.microsoft.com/office/drawing/2014/main" val="185215260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97329E7B-4838-4AC7-ABE8-144EF6013939}"/>
              </a:ext>
            </a:extLst>
          </p:cNvPr>
          <p:cNvSpPr/>
          <p:nvPr/>
        </p:nvSpPr>
        <p:spPr>
          <a:xfrm>
            <a:off x="1079435" y="823331"/>
            <a:ext cx="45833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3500" algn="just">
              <a:spcBef>
                <a:spcPts val="125"/>
              </a:spcBef>
              <a:spcAft>
                <a:spcPts val="0"/>
              </a:spcAft>
            </a:pPr>
            <a:r>
              <a:rPr lang="es-419" b="1" i="1" kern="0" dirty="0">
                <a:solidFill>
                  <a:srgbClr val="002856"/>
                </a:solidFill>
                <a:latin typeface="Arial" panose="020B0604020202020204" pitchFamily="34" charset="0"/>
                <a:ea typeface="Gill Sans MT" panose="020B0502020104020203" pitchFamily="34" charset="0"/>
                <a:cs typeface="Gill Sans MT" panose="020B0502020104020203" pitchFamily="34" charset="0"/>
              </a:rPr>
              <a:t>Unidad 1:</a:t>
            </a:r>
            <a:r>
              <a:rPr lang="es-419" i="1" kern="0" dirty="0">
                <a:solidFill>
                  <a:srgbClr val="002856"/>
                </a:solidFill>
                <a:latin typeface="Arial" panose="020B0604020202020204" pitchFamily="34" charset="0"/>
                <a:ea typeface="Gill Sans MT" panose="020B0502020104020203" pitchFamily="34" charset="0"/>
                <a:cs typeface="Gill Sans MT" panose="020B0502020104020203" pitchFamily="34" charset="0"/>
              </a:rPr>
              <a:t> Fundamentos de los materiales</a:t>
            </a:r>
            <a:endParaRPr lang="es-PE" sz="2400" b="1" kern="0" dirty="0">
              <a:effectLst/>
              <a:latin typeface="Gill Sans MT" panose="020B0502020104020203" pitchFamily="34" charset="0"/>
              <a:ea typeface="Gill Sans MT" panose="020B0502020104020203" pitchFamily="34" charset="0"/>
              <a:cs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685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" altLang="es-PE" dirty="0"/>
              <a:t>Contenido del Curso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B7610595-41A5-41E6-9CBE-0ABF711A1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965106"/>
              </p:ext>
            </p:extLst>
          </p:nvPr>
        </p:nvGraphicFramePr>
        <p:xfrm>
          <a:off x="1216152" y="1084961"/>
          <a:ext cx="10232136" cy="5120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8565">
                  <a:extLst>
                    <a:ext uri="{9D8B030D-6E8A-4147-A177-3AD203B41FA5}">
                      <a16:colId xmlns:a16="http://schemas.microsoft.com/office/drawing/2014/main" val="1470572759"/>
                    </a:ext>
                  </a:extLst>
                </a:gridCol>
                <a:gridCol w="5794441">
                  <a:extLst>
                    <a:ext uri="{9D8B030D-6E8A-4147-A177-3AD203B41FA5}">
                      <a16:colId xmlns:a16="http://schemas.microsoft.com/office/drawing/2014/main" val="2119007251"/>
                    </a:ext>
                  </a:extLst>
                </a:gridCol>
                <a:gridCol w="991470">
                  <a:extLst>
                    <a:ext uri="{9D8B030D-6E8A-4147-A177-3AD203B41FA5}">
                      <a16:colId xmlns:a16="http://schemas.microsoft.com/office/drawing/2014/main" val="2329095583"/>
                    </a:ext>
                  </a:extLst>
                </a:gridCol>
                <a:gridCol w="1387187">
                  <a:extLst>
                    <a:ext uri="{9D8B030D-6E8A-4147-A177-3AD203B41FA5}">
                      <a16:colId xmlns:a16="http://schemas.microsoft.com/office/drawing/2014/main" val="1213271538"/>
                    </a:ext>
                  </a:extLst>
                </a:gridCol>
                <a:gridCol w="1540473">
                  <a:extLst>
                    <a:ext uri="{9D8B030D-6E8A-4147-A177-3AD203B41FA5}">
                      <a16:colId xmlns:a16="http://schemas.microsoft.com/office/drawing/2014/main" val="4205400096"/>
                    </a:ext>
                  </a:extLst>
                </a:gridCol>
              </a:tblGrid>
              <a:tr h="341728"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N°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Tema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Semana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Horas de sesiones teóricas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Horas de sesiones prácticas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 anchor="ctr"/>
                </a:tc>
                <a:extLst>
                  <a:ext uri="{0D108BD9-81ED-4DB2-BD59-A6C34878D82A}">
                    <a16:rowId xmlns:a16="http://schemas.microsoft.com/office/drawing/2014/main" val="1037822993"/>
                  </a:ext>
                </a:extLst>
              </a:tr>
              <a:tr h="751802"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 dirty="0">
                          <a:effectLst/>
                        </a:rPr>
                        <a:t>10</a:t>
                      </a:r>
                      <a:endParaRPr lang="es-PE" sz="14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Fundición: Fundamentos, Operaciones que intervienen en el proceso, Fundición por gravedad (en tierra de moldeo, en coquilla), Sistemas de distribución y alimentación, Fundición a presión (Fundición inyectada, centrífuga). Consideraciones económicas 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6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4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 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extLst>
                  <a:ext uri="{0D108BD9-81ED-4DB2-BD59-A6C34878D82A}">
                    <a16:rowId xmlns:a16="http://schemas.microsoft.com/office/drawing/2014/main" val="3798928731"/>
                  </a:ext>
                </a:extLst>
              </a:tr>
              <a:tr h="1002402"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11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Deformación Plástica: Forja: Operación de forja, Aplicaciones, Forja en frío, Forja en caliente, Cálculo de la fuerza de forja, Defectos de forja. Laminación: Operación de laminación (LAF, LAC), Aplicaciones, Defectos de laminación, Cálculo de la fuerza y potencia de laminación, Extrusión: Operación de extrusion, Aplicaciones, Cálculo de la fuerza de extrusión.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7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4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 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extLst>
                  <a:ext uri="{0D108BD9-81ED-4DB2-BD59-A6C34878D82A}">
                    <a16:rowId xmlns:a16="http://schemas.microsoft.com/office/drawing/2014/main" val="2670184148"/>
                  </a:ext>
                </a:extLst>
              </a:tr>
              <a:tr h="501201"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12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Soldadura: Fundamentos, Física de la soldadura, Tipos de soldaduras: Por gases, Por arco eléctrico(SMAW, GMAW, GTAW, PAW, SAW…), Soldaduras especiales.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8, 10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 dirty="0">
                          <a:effectLst/>
                        </a:rPr>
                        <a:t>8</a:t>
                      </a:r>
                      <a:endParaRPr lang="es-PE" sz="14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 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extLst>
                  <a:ext uri="{0D108BD9-81ED-4DB2-BD59-A6C34878D82A}">
                    <a16:rowId xmlns:a16="http://schemas.microsoft.com/office/drawing/2014/main" val="239200486"/>
                  </a:ext>
                </a:extLst>
              </a:tr>
              <a:tr h="501201"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13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Mecanizado.- Operaciones de mecanizado, familias de mecanizados, Fuerzas de corte. Parámetros de mecanizado. Máquinas-Herramienta (Torno, Taladro, Fresa, Rectificadora y sus mecanismos), 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11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4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 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extLst>
                  <a:ext uri="{0D108BD9-81ED-4DB2-BD59-A6C34878D82A}">
                    <a16:rowId xmlns:a16="http://schemas.microsoft.com/office/drawing/2014/main" val="1308698765"/>
                  </a:ext>
                </a:extLst>
              </a:tr>
              <a:tr h="626502"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14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Control Numérico Computarizado(CNC) y CAD/CAM: Arquitectura de un CNC, Tipos de Control, Sistemas de ejes, Programación manual de un control numérico, Interpolación lineal, Circular, Ciclos fijos de programación. Solidwork y CAD/CAM/CNC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12, 13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8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 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extLst>
                  <a:ext uri="{0D108BD9-81ED-4DB2-BD59-A6C34878D82A}">
                    <a16:rowId xmlns:a16="http://schemas.microsoft.com/office/drawing/2014/main" val="791588836"/>
                  </a:ext>
                </a:extLst>
              </a:tr>
              <a:tr h="626502"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15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Manufactura aditiva (Impresión 3D): Fundamentos. Dispositivos para relaizar manufactura aditiva, Impresión con líquidos, polvos, laminas, Tecnologías, Materiales de impresión, Tipos de impresoras.Solidwork y Manufactura Aditiva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14, 15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>
                          <a:effectLst/>
                        </a:rPr>
                        <a:t>8</a:t>
                      </a:r>
                      <a:endParaRPr lang="es-PE" sz="14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s-419" sz="1400" dirty="0">
                          <a:effectLst/>
                        </a:rPr>
                        <a:t> </a:t>
                      </a:r>
                      <a:endParaRPr lang="es-PE" sz="14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51259" marR="51259" marT="0" marB="0"/>
                </a:tc>
                <a:extLst>
                  <a:ext uri="{0D108BD9-81ED-4DB2-BD59-A6C34878D82A}">
                    <a16:rowId xmlns:a16="http://schemas.microsoft.com/office/drawing/2014/main" val="1372305255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440B4AE8-B28E-4435-951B-4BA8E3ACAB3F}"/>
              </a:ext>
            </a:extLst>
          </p:cNvPr>
          <p:cNvSpPr txBox="1"/>
          <p:nvPr/>
        </p:nvSpPr>
        <p:spPr>
          <a:xfrm>
            <a:off x="1554480" y="780537"/>
            <a:ext cx="6099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i="1" dirty="0"/>
              <a:t>Unidad 2:</a:t>
            </a:r>
            <a:r>
              <a:rPr lang="es-419" i="1" dirty="0"/>
              <a:t> Tecnologías de Fabricación</a:t>
            </a:r>
            <a:endParaRPr lang="es-PE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45529"/>
            <a:ext cx="10515600" cy="461493"/>
          </a:xfrm>
        </p:spPr>
        <p:txBody>
          <a:bodyPr>
            <a:normAutofit fontScale="90000"/>
          </a:bodyPr>
          <a:lstStyle/>
          <a:p>
            <a:pPr algn="ctr"/>
            <a:r>
              <a:rPr lang="es-PE" dirty="0">
                <a:solidFill>
                  <a:srgbClr val="002060"/>
                </a:solidFill>
              </a:rPr>
              <a:t>Resumen de  fechas de actividades </a:t>
            </a:r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302462"/>
              </p:ext>
            </p:extLst>
          </p:nvPr>
        </p:nvGraphicFramePr>
        <p:xfrm>
          <a:off x="2394214" y="613554"/>
          <a:ext cx="6657108" cy="31903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16941">
                  <a:extLst>
                    <a:ext uri="{9D8B030D-6E8A-4147-A177-3AD203B41FA5}">
                      <a16:colId xmlns:a16="http://schemas.microsoft.com/office/drawing/2014/main" val="782605165"/>
                    </a:ext>
                  </a:extLst>
                </a:gridCol>
                <a:gridCol w="884628">
                  <a:extLst>
                    <a:ext uri="{9D8B030D-6E8A-4147-A177-3AD203B41FA5}">
                      <a16:colId xmlns:a16="http://schemas.microsoft.com/office/drawing/2014/main" val="2918274822"/>
                    </a:ext>
                  </a:extLst>
                </a:gridCol>
                <a:gridCol w="922575">
                  <a:extLst>
                    <a:ext uri="{9D8B030D-6E8A-4147-A177-3AD203B41FA5}">
                      <a16:colId xmlns:a16="http://schemas.microsoft.com/office/drawing/2014/main" val="2823080649"/>
                    </a:ext>
                  </a:extLst>
                </a:gridCol>
                <a:gridCol w="889681">
                  <a:extLst>
                    <a:ext uri="{9D8B030D-6E8A-4147-A177-3AD203B41FA5}">
                      <a16:colId xmlns:a16="http://schemas.microsoft.com/office/drawing/2014/main" val="3603364551"/>
                    </a:ext>
                  </a:extLst>
                </a:gridCol>
                <a:gridCol w="1046685">
                  <a:extLst>
                    <a:ext uri="{9D8B030D-6E8A-4147-A177-3AD203B41FA5}">
                      <a16:colId xmlns:a16="http://schemas.microsoft.com/office/drawing/2014/main" val="224649592"/>
                    </a:ext>
                  </a:extLst>
                </a:gridCol>
                <a:gridCol w="1096598">
                  <a:extLst>
                    <a:ext uri="{9D8B030D-6E8A-4147-A177-3AD203B41FA5}">
                      <a16:colId xmlns:a16="http://schemas.microsoft.com/office/drawing/2014/main" val="3055141198"/>
                    </a:ext>
                  </a:extLst>
                </a:gridCol>
              </a:tblGrid>
              <a:tr h="3919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>
                          <a:effectLst/>
                        </a:rPr>
                        <a:t> 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>
                          <a:effectLst/>
                        </a:rPr>
                        <a:t>AGOSTO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>
                          <a:effectLst/>
                        </a:rPr>
                        <a:t>SETIEMBRE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>
                          <a:effectLst/>
                        </a:rPr>
                        <a:t>OCTUBRE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>
                          <a:effectLst/>
                        </a:rPr>
                        <a:t>NOVIEMBRE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>
                          <a:effectLst/>
                        </a:rPr>
                        <a:t>DICIEMBRE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extLst>
                  <a:ext uri="{0D108BD9-81ED-4DB2-BD59-A6C34878D82A}">
                    <a16:rowId xmlns:a16="http://schemas.microsoft.com/office/drawing/2014/main" val="3589001186"/>
                  </a:ext>
                </a:extLst>
              </a:tr>
              <a:tr h="5878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Clases Unidad 1 (5 semanas)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12,17,19,24, 26, 31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2, 7, 9, 14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extLst>
                  <a:ext uri="{0D108BD9-81ED-4DB2-BD59-A6C34878D82A}">
                    <a16:rowId xmlns:a16="http://schemas.microsoft.com/office/drawing/2014/main" val="4015038816"/>
                  </a:ext>
                </a:extLst>
              </a:tr>
              <a:tr h="5878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s-PE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valuación oral del trabajo y del curso</a:t>
                      </a: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 dirty="0">
                          <a:effectLst/>
                        </a:rPr>
                        <a:t> 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 dirty="0">
                          <a:effectLst/>
                        </a:rPr>
                        <a:t>del 13/9 AL 23/09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 dirty="0">
                          <a:effectLst/>
                        </a:rPr>
                        <a:t> 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extLst>
                  <a:ext uri="{0D108BD9-81ED-4DB2-BD59-A6C34878D82A}">
                    <a16:rowId xmlns:a16="http://schemas.microsoft.com/office/drawing/2014/main" val="2358381014"/>
                  </a:ext>
                </a:extLst>
              </a:tr>
              <a:tr h="3919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 dirty="0">
                          <a:effectLst/>
                        </a:rPr>
                        <a:t>PROPUESTA DE TRABAJO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 dirty="0">
                          <a:effectLst/>
                        </a:rPr>
                        <a:t> 26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>
                          <a:effectLst/>
                        </a:rPr>
                        <a:t> 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>
                          <a:effectLst/>
                        </a:rPr>
                        <a:t> 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extLst>
                  <a:ext uri="{0D108BD9-81ED-4DB2-BD59-A6C34878D82A}">
                    <a16:rowId xmlns:a16="http://schemas.microsoft.com/office/drawing/2014/main" val="614606872"/>
                  </a:ext>
                </a:extLst>
              </a:tr>
              <a:tr h="3919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 dirty="0">
                          <a:effectLst/>
                        </a:rPr>
                        <a:t>ENTREGA INFORME FINAL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 dirty="0">
                          <a:effectLst/>
                        </a:rPr>
                        <a:t> 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 dirty="0">
                          <a:effectLst/>
                        </a:rPr>
                        <a:t> 11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 dirty="0">
                          <a:effectLst/>
                        </a:rPr>
                        <a:t> 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 dirty="0">
                          <a:effectLst/>
                        </a:rPr>
                        <a:t> 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extLst>
                  <a:ext uri="{0D108BD9-81ED-4DB2-BD59-A6C34878D82A}">
                    <a16:rowId xmlns:a16="http://schemas.microsoft.com/office/drawing/2014/main" val="311218726"/>
                  </a:ext>
                </a:extLst>
              </a:tr>
              <a:tr h="3954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>
                          <a:effectLst/>
                        </a:rPr>
                        <a:t>EXAMEN FINAL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>
                          <a:effectLst/>
                        </a:rPr>
                        <a:t> 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>
                          <a:effectLst/>
                        </a:rPr>
                        <a:t> 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 dirty="0">
                          <a:effectLst/>
                        </a:rPr>
                        <a:t> 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 dirty="0">
                          <a:effectLst/>
                        </a:rPr>
                        <a:t>25 al 30 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200" kern="1200" dirty="0">
                          <a:effectLst/>
                        </a:rPr>
                        <a:t>Del 3 al 4</a:t>
                      </a:r>
                      <a:endParaRPr lang="es-PE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extLst>
                  <a:ext uri="{0D108BD9-81ED-4DB2-BD59-A6C34878D82A}">
                    <a16:rowId xmlns:a16="http://schemas.microsoft.com/office/drawing/2014/main" val="2971052294"/>
                  </a:ext>
                </a:extLst>
              </a:tr>
              <a:tr h="4433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>
                          <a:effectLst/>
                        </a:rPr>
                        <a:t>EXAMEN DE APLAZADO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 dirty="0">
                          <a:effectLst/>
                        </a:rPr>
                        <a:t> 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>
                          <a:effectLst/>
                        </a:rPr>
                        <a:t> 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>
                          <a:effectLst/>
                        </a:rPr>
                        <a:t> 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200">
                          <a:effectLst/>
                        </a:rPr>
                        <a:t> 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200" kern="1200" dirty="0">
                          <a:effectLst/>
                        </a:rPr>
                        <a:t>Del 6 al 10</a:t>
                      </a:r>
                      <a:endParaRPr lang="es-PE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44197" marR="44197" marT="0" marB="0"/>
                </a:tc>
                <a:extLst>
                  <a:ext uri="{0D108BD9-81ED-4DB2-BD59-A6C34878D82A}">
                    <a16:rowId xmlns:a16="http://schemas.microsoft.com/office/drawing/2014/main" val="1980123792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2B2396B4-B0B9-46D6-A19F-73F3492A9D9D}"/>
              </a:ext>
            </a:extLst>
          </p:cNvPr>
          <p:cNvSpPr txBox="1"/>
          <p:nvPr/>
        </p:nvSpPr>
        <p:spPr>
          <a:xfrm>
            <a:off x="1597980" y="3857127"/>
            <a:ext cx="878001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Evaluación Unidad 1:</a:t>
            </a:r>
          </a:p>
          <a:p>
            <a:r>
              <a:rPr lang="es-ES" sz="1600" dirty="0"/>
              <a:t>Se desarrollará un trabajo grupal que será evaluado oralmente: exposición y preguntas a cada uno de los miembros del grupo.</a:t>
            </a:r>
          </a:p>
          <a:p>
            <a:r>
              <a:rPr lang="es-ES" sz="1600" b="1" dirty="0"/>
              <a:t>La nota de cada alumno será el promedio entre la nota del trabajo (informe y exposición) y la evaluación oral que se hará durante la exposición. </a:t>
            </a:r>
            <a:r>
              <a:rPr lang="es-ES" sz="1600" dirty="0"/>
              <a:t>Las preguntas de esa evaluación serán sobre el trabajo y sobre temas del curso según corresponda.</a:t>
            </a:r>
          </a:p>
          <a:p>
            <a:endParaRPr lang="es-ES" sz="1600" dirty="0"/>
          </a:p>
          <a:p>
            <a:r>
              <a:rPr lang="es-ES" sz="1600" b="1" dirty="0"/>
              <a:t>El peso de la nota del trabajo es 25% de la nota final del curso y no es anulable.</a:t>
            </a:r>
          </a:p>
          <a:p>
            <a:endParaRPr lang="es-PE" sz="1600" dirty="0"/>
          </a:p>
          <a:p>
            <a:r>
              <a:rPr lang="es-PE" sz="1600" dirty="0"/>
              <a:t>Para la evaluación del trabajo se propondrán diferentes horarios para que los grupos se inscriban en el que más les convenga.</a:t>
            </a:r>
          </a:p>
          <a:p>
            <a:endParaRPr lang="es-PE" sz="1600" b="1" dirty="0"/>
          </a:p>
        </p:txBody>
      </p:sp>
    </p:spTree>
    <p:extLst>
      <p:ext uri="{BB962C8B-B14F-4D97-AF65-F5344CB8AC3E}">
        <p14:creationId xmlns:p14="http://schemas.microsoft.com/office/powerpoint/2010/main" val="1884856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3BC729-AC46-4B77-9136-A3D601299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Bibliografía</a:t>
            </a:r>
            <a:br>
              <a:rPr lang="es-PE" b="1" dirty="0"/>
            </a:b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F46F86-1808-4E79-B42F-C2219D3554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053389"/>
            <a:ext cx="10515600" cy="452178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b="1" dirty="0"/>
              <a:t>Unidad 1:</a:t>
            </a:r>
          </a:p>
          <a:p>
            <a:pPr>
              <a:lnSpc>
                <a:spcPct val="80000"/>
              </a:lnSpc>
            </a:pPr>
            <a:r>
              <a:rPr lang="es-ES" altLang="es-PE" dirty="0"/>
              <a:t>William F. Smith, “Fundamentos de la Ciencia e Ingeniería de Materiales”, McGraw-Hill/Interamericana de España, Madrid, Tercera edición, 1998; 5ta edición 2014.</a:t>
            </a:r>
          </a:p>
          <a:p>
            <a:pPr>
              <a:lnSpc>
                <a:spcPct val="80000"/>
              </a:lnSpc>
            </a:pPr>
            <a:r>
              <a:rPr lang="es-ES" altLang="es-PE" dirty="0"/>
              <a:t>William D. Callister, “Introducción a la Ciencia e Ingeniería de los Materiales”, Editorial Reverté, S.A.; Barcelona, 1995.</a:t>
            </a:r>
          </a:p>
          <a:p>
            <a:pPr marL="0" indent="0">
              <a:buNone/>
            </a:pPr>
            <a:r>
              <a:rPr lang="es-ES" b="1"/>
              <a:t>Unidad </a:t>
            </a:r>
            <a:r>
              <a:rPr lang="es-ES" b="1" dirty="0"/>
              <a:t>2  </a:t>
            </a:r>
            <a:endParaRPr lang="es-PE" b="1" dirty="0"/>
          </a:p>
          <a:p>
            <a:pPr lvl="0"/>
            <a:r>
              <a:rPr lang="en-US" dirty="0" err="1"/>
              <a:t>Kalpakjan</a:t>
            </a:r>
            <a:r>
              <a:rPr lang="en-US" dirty="0"/>
              <a:t> S, Schmid, S. </a:t>
            </a:r>
            <a:r>
              <a:rPr lang="en-US" dirty="0" err="1"/>
              <a:t>Manufaxctura</a:t>
            </a:r>
            <a:r>
              <a:rPr lang="en-US" dirty="0"/>
              <a:t>, Ingeniería y </a:t>
            </a:r>
            <a:r>
              <a:rPr lang="en-US" dirty="0" err="1"/>
              <a:t>Tecnología</a:t>
            </a:r>
            <a:r>
              <a:rPr lang="en-US" dirty="0"/>
              <a:t>, </a:t>
            </a:r>
            <a:r>
              <a:rPr lang="en-US" dirty="0" err="1"/>
              <a:t>Edición</a:t>
            </a:r>
            <a:r>
              <a:rPr lang="en-US" dirty="0"/>
              <a:t> Pearson.</a:t>
            </a:r>
            <a:endParaRPr lang="es-PE" dirty="0"/>
          </a:p>
          <a:p>
            <a:pPr lvl="0"/>
            <a:r>
              <a:rPr lang="en-US" dirty="0"/>
              <a:t>Groover, Michell. </a:t>
            </a:r>
            <a:r>
              <a:rPr lang="en-US" dirty="0" err="1"/>
              <a:t>Fundamentos</a:t>
            </a:r>
            <a:r>
              <a:rPr lang="en-US" dirty="0"/>
              <a:t> de </a:t>
            </a:r>
            <a:r>
              <a:rPr lang="en-US" dirty="0" err="1"/>
              <a:t>Manufactura</a:t>
            </a:r>
            <a:r>
              <a:rPr lang="en-US" dirty="0"/>
              <a:t> </a:t>
            </a:r>
            <a:r>
              <a:rPr lang="en-US" dirty="0" err="1"/>
              <a:t>Moderna</a:t>
            </a:r>
            <a:endParaRPr lang="en-US" dirty="0"/>
          </a:p>
          <a:p>
            <a:pPr lvl="0"/>
            <a:endParaRPr lang="es-PE" dirty="0"/>
          </a:p>
          <a:p>
            <a:pPr marL="0" indent="0">
              <a:buNone/>
            </a:pPr>
            <a:r>
              <a:rPr lang="en-US" dirty="0"/>
              <a:t> </a:t>
            </a:r>
            <a:endParaRPr lang="es-PE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80587294"/>
      </p:ext>
    </p:extLst>
  </p:cSld>
  <p:clrMapOvr>
    <a:masterClrMapping/>
  </p:clrMapOvr>
</p:sld>
</file>

<file path=ppt/theme/theme1.xml><?xml version="1.0" encoding="utf-8"?>
<a:theme xmlns:a="http://schemas.openxmlformats.org/drawingml/2006/main" name="UDEP Portada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UDEP - Tonalidad clara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UDEP - Tonalidad media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UDEP - Tonalidad oscura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UDEP - Pizarra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ath_Settings xmlns="73fc2aac-ad62-4690-badc-8efc4f9d67f6" xsi:nil="true"/>
    <Templates xmlns="73fc2aac-ad62-4690-badc-8efc4f9d67f6" xsi:nil="true"/>
    <Members xmlns="73fc2aac-ad62-4690-badc-8efc4f9d67f6">
      <UserInfo>
        <DisplayName/>
        <AccountId xsi:nil="true"/>
        <AccountType/>
      </UserInfo>
    </Members>
    <Self_Registration_Enabled xmlns="73fc2aac-ad62-4690-badc-8efc4f9d67f6" xsi:nil="true"/>
    <Has_Leaders_Only_SectionGroup xmlns="73fc2aac-ad62-4690-badc-8efc4f9d67f6" xsi:nil="true"/>
    <Distribution_Groups xmlns="73fc2aac-ad62-4690-badc-8efc4f9d67f6" xsi:nil="true"/>
    <TeamsChannelId xmlns="73fc2aac-ad62-4690-badc-8efc4f9d67f6" xsi:nil="true"/>
    <Invited_Leaders xmlns="73fc2aac-ad62-4690-badc-8efc4f9d67f6" xsi:nil="true"/>
    <IsNotebookLocked xmlns="73fc2aac-ad62-4690-badc-8efc4f9d67f6" xsi:nil="true"/>
    <DefaultSectionNames xmlns="73fc2aac-ad62-4690-badc-8efc4f9d67f6" xsi:nil="true"/>
    <LMS_Mappings xmlns="73fc2aac-ad62-4690-badc-8efc4f9d67f6" xsi:nil="true"/>
    <Is_Collaboration_Space_Locked xmlns="73fc2aac-ad62-4690-badc-8efc4f9d67f6" xsi:nil="true"/>
    <NotebookType xmlns="73fc2aac-ad62-4690-badc-8efc4f9d67f6" xsi:nil="true"/>
    <Leaders xmlns="73fc2aac-ad62-4690-badc-8efc4f9d67f6">
      <UserInfo>
        <DisplayName/>
        <AccountId xsi:nil="true"/>
        <AccountType/>
      </UserInfo>
    </Leaders>
    <Member_Groups xmlns="73fc2aac-ad62-4690-badc-8efc4f9d67f6">
      <UserInfo>
        <DisplayName/>
        <AccountId xsi:nil="true"/>
        <AccountType/>
      </UserInfo>
    </Member_Groups>
    <Owner xmlns="73fc2aac-ad62-4690-badc-8efc4f9d67f6">
      <UserInfo>
        <DisplayName/>
        <AccountId xsi:nil="true"/>
        <AccountType/>
      </UserInfo>
    </Owner>
    <AppVersion xmlns="73fc2aac-ad62-4690-badc-8efc4f9d67f6" xsi:nil="true"/>
    <Invited_Members xmlns="73fc2aac-ad62-4690-badc-8efc4f9d67f6" xsi:nil="true"/>
    <FolderType xmlns="73fc2aac-ad62-4690-badc-8efc4f9d67f6" xsi:nil="true"/>
    <CultureName xmlns="73fc2aac-ad62-4690-badc-8efc4f9d67f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02BD22D4D828428BAA06EA1A84D8F6" ma:contentTypeVersion="32" ma:contentTypeDescription="Crear nuevo documento." ma:contentTypeScope="" ma:versionID="bfb47231ebf68423c78bcd6064d4933d">
  <xsd:schema xmlns:xsd="http://www.w3.org/2001/XMLSchema" xmlns:xs="http://www.w3.org/2001/XMLSchema" xmlns:p="http://schemas.microsoft.com/office/2006/metadata/properties" xmlns:ns2="73fc2aac-ad62-4690-badc-8efc4f9d67f6" xmlns:ns3="4e49f5a6-3dcf-425f-ae7f-7ebb09bd4307" targetNamespace="http://schemas.microsoft.com/office/2006/metadata/properties" ma:root="true" ma:fieldsID="77ec458d17703c30df359f696731b919" ns2:_="" ns3:_="">
    <xsd:import namespace="73fc2aac-ad62-4690-badc-8efc4f9d67f6"/>
    <xsd:import namespace="4e49f5a6-3dcf-425f-ae7f-7ebb09bd4307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CR" minOccurs="0"/>
                <xsd:element ref="ns2:MediaServiceLocation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fc2aac-ad62-4690-badc-8efc4f9d67f6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17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18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19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22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23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25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MediaServiceMetadata" ma:index="2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30" nillable="true" ma:displayName="Tags" ma:internalName="MediaServiceAutoTags" ma:readOnly="true">
      <xsd:simpleType>
        <xsd:restriction base="dms:Text"/>
      </xsd:simpleType>
    </xsd:element>
    <xsd:element name="MediaServiceGenerationTime" ma:index="3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3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37" nillable="true" ma:displayName="Location" ma:internalName="MediaServiceLocation" ma:readOnly="true">
      <xsd:simpleType>
        <xsd:restriction base="dms:Text"/>
      </xsd:simpleType>
    </xsd:element>
    <xsd:element name="MediaServiceAutoKeyPoints" ma:index="3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49f5a6-3dcf-425f-ae7f-7ebb09bd4307" elementFormDefault="qualified">
    <xsd:import namespace="http://schemas.microsoft.com/office/2006/documentManagement/types"/>
    <xsd:import namespace="http://schemas.microsoft.com/office/infopath/2007/PartnerControls"/>
    <xsd:element name="SharedWithUsers" ma:index="33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4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1E8057-3505-4107-B6E9-A962F52A74A1}">
  <ds:schemaRefs>
    <ds:schemaRef ds:uri="73fc2aac-ad62-4690-badc-8efc4f9d67f6"/>
    <ds:schemaRef ds:uri="http://purl.org/dc/terms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4e49f5a6-3dcf-425f-ae7f-7ebb09bd4307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41C4333-9BD8-4FCB-8F3D-1FAC2129FA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fc2aac-ad62-4690-badc-8efc4f9d67f6"/>
    <ds:schemaRef ds:uri="4e49f5a6-3dcf-425f-ae7f-7ebb09bd43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2581929-FB24-4CE6-BAF6-DFA8F77D347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2043</TotalTime>
  <Words>1159</Words>
  <Application>Microsoft Office PowerPoint</Application>
  <PresentationFormat>Panorámica</PresentationFormat>
  <Paragraphs>165</Paragraphs>
  <Slides>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7</vt:i4>
      </vt:variant>
    </vt:vector>
  </HeadingPairs>
  <TitlesOfParts>
    <vt:vector size="19" baseType="lpstr">
      <vt:lpstr>Arial</vt:lpstr>
      <vt:lpstr>Calibri</vt:lpstr>
      <vt:lpstr>Calibri Light</vt:lpstr>
      <vt:lpstr>Garamond</vt:lpstr>
      <vt:lpstr>Georgia</vt:lpstr>
      <vt:lpstr>Gill Sans MT</vt:lpstr>
      <vt:lpstr>Wingdings</vt:lpstr>
      <vt:lpstr>UDEP Portada</vt:lpstr>
      <vt:lpstr>UDEP - Tonalidad clara</vt:lpstr>
      <vt:lpstr>UDEP - Tonalidad media</vt:lpstr>
      <vt:lpstr>UDEP - Tonalidad oscura</vt:lpstr>
      <vt:lpstr>UDEP - Pizarra</vt:lpstr>
      <vt:lpstr>Tecnologías de Fabricación</vt:lpstr>
      <vt:lpstr>Objetivos generales</vt:lpstr>
      <vt:lpstr>Descripción Unidad 1 </vt:lpstr>
      <vt:lpstr>Contenido del Curso</vt:lpstr>
      <vt:lpstr>Contenido del Curso</vt:lpstr>
      <vt:lpstr>Resumen de  fechas de actividades </vt:lpstr>
      <vt:lpstr>Bibliografía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UDEP</dc:creator>
  <cp:keywords/>
  <dc:description/>
  <cp:lastModifiedBy>Perla Siri Silva Ramos</cp:lastModifiedBy>
  <cp:revision>124</cp:revision>
  <dcterms:created xsi:type="dcterms:W3CDTF">2020-08-28T21:26:43Z</dcterms:created>
  <dcterms:modified xsi:type="dcterms:W3CDTF">2021-08-12T21:29:03Z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0x010100BB02BD22D4D828428BAA06EA1A84D8F6</vt:lpwstr>
  </property>
</Properties>
</file>